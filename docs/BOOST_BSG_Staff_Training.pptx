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5C"/>
        </a:solidFill>
      </p:bgPr>
    </p:bg>
    <p:spTree>
      <p:nvGrpSpPr>
        <p:cNvPr id="1" name=""/>
        <p:cNvGrpSpPr/>
        <p:nvPr/>
      </p:nvGrpSpPr>
      <p:grpSpPr>
        <a:xfrm>
          <a:off x="0" y="0"/>
          <a:ext cx="0" cy="0"/>
          <a:chOff x="0" y="0"/>
          <a:chExt cx="0" cy="0"/>
        </a:xfrm>
      </p:grpSpPr>
      <p:sp>
        <p:nvSpPr>
          <p:cNvPr id="2" name="Shape 0"/>
          <p:cNvSpPr/>
          <p:nvPr/>
        </p:nvSpPr>
        <p:spPr>
          <a:xfrm>
            <a:off x="0" y="0"/>
            <a:ext cx="9144000" cy="201168"/>
          </a:xfrm>
          <a:prstGeom prst="rect">
            <a:avLst/>
          </a:prstGeom>
          <a:solidFill>
            <a:srgbClr val="F7941D"/>
          </a:solidFill>
          <a:ln w="12700">
            <a:solidFill>
              <a:srgbClr val="F7941D"/>
            </a:solidFill>
            <a:prstDash val="solid"/>
          </a:ln>
        </p:spPr>
      </p:sp>
      <p:sp>
        <p:nvSpPr>
          <p:cNvPr id="3" name="Shape 1"/>
          <p:cNvSpPr/>
          <p:nvPr/>
        </p:nvSpPr>
        <p:spPr>
          <a:xfrm>
            <a:off x="0" y="4942332"/>
            <a:ext cx="9144000" cy="201168"/>
          </a:xfrm>
          <a:prstGeom prst="rect">
            <a:avLst/>
          </a:prstGeom>
          <a:solidFill>
            <a:srgbClr val="F7941D"/>
          </a:solidFill>
          <a:ln w="12700">
            <a:solidFill>
              <a:srgbClr val="F7941D"/>
            </a:solidFill>
            <a:prstDash val="solid"/>
          </a:ln>
        </p:spPr>
      </p:sp>
      <p:sp>
        <p:nvSpPr>
          <p:cNvPr id="4" name="Text 2"/>
          <p:cNvSpPr/>
          <p:nvPr/>
        </p:nvSpPr>
        <p:spPr>
          <a:xfrm>
            <a:off x="548640" y="502920"/>
            <a:ext cx="8229600" cy="365760"/>
          </a:xfrm>
          <a:prstGeom prst="rect">
            <a:avLst/>
          </a:prstGeom>
          <a:noFill/>
          <a:ln/>
        </p:spPr>
        <p:txBody>
          <a:bodyPr wrap="square" rtlCol="0" anchor="ctr"/>
          <a:lstStyle/>
          <a:p>
            <a:pPr indent="0" marL="0">
              <a:buNone/>
            </a:pPr>
            <a:r>
              <a:rPr lang="en-US" sz="1300" b="1" spc="500" kern="0" dirty="0">
                <a:solidFill>
                  <a:srgbClr val="F7941D"/>
                </a:solidFill>
                <a:latin typeface="Calibri" pitchFamily="34" charset="0"/>
                <a:ea typeface="Calibri" pitchFamily="34" charset="-122"/>
                <a:cs typeface="Calibri" pitchFamily="34" charset="-120"/>
              </a:rPr>
              <a:t>BOOST STRATEGY GROUP</a:t>
            </a:r>
            <a:endParaRPr lang="en-US" sz="1300" dirty="0"/>
          </a:p>
        </p:txBody>
      </p:sp>
      <p:sp>
        <p:nvSpPr>
          <p:cNvPr id="5" name="Text 3"/>
          <p:cNvSpPr/>
          <p:nvPr/>
        </p:nvSpPr>
        <p:spPr>
          <a:xfrm>
            <a:off x="548640" y="914400"/>
            <a:ext cx="8229600" cy="1463040"/>
          </a:xfrm>
          <a:prstGeom prst="rect">
            <a:avLst/>
          </a:prstGeom>
          <a:noFill/>
          <a:ln/>
        </p:spPr>
        <p:txBody>
          <a:bodyPr wrap="square" rtlCol="0" anchor="ctr"/>
          <a:lstStyle/>
          <a:p>
            <a:pPr indent="0" marL="0">
              <a:buNone/>
            </a:pPr>
            <a:r>
              <a:rPr lang="en-US" sz="4800" b="1" dirty="0">
                <a:solidFill>
                  <a:srgbClr val="FFFFFF"/>
                </a:solidFill>
                <a:latin typeface="Trebuchet MS" pitchFamily="34" charset="0"/>
                <a:ea typeface="Trebuchet MS" pitchFamily="34" charset="-122"/>
                <a:cs typeface="Trebuchet MS" pitchFamily="34" charset="-120"/>
              </a:rPr>
              <a:t>BOOST!</a:t>
            </a:r>
            <a:endParaRPr lang="en-US" sz="4800" dirty="0"/>
          </a:p>
          <a:p>
            <a:pPr indent="0" marL="0">
              <a:buNone/>
            </a:pPr>
            <a:r>
              <a:rPr lang="en-US" sz="4800" b="1" dirty="0">
                <a:solidFill>
                  <a:srgbClr val="FFFFFF"/>
                </a:solidFill>
                <a:latin typeface="Trebuchet MS" pitchFamily="34" charset="0"/>
                <a:ea typeface="Trebuchet MS" pitchFamily="34" charset="-122"/>
                <a:cs typeface="Trebuchet MS" pitchFamily="34" charset="-120"/>
              </a:rPr>
              <a:t>My WorkForce Suite</a:t>
            </a:r>
            <a:endParaRPr lang="en-US" sz="4800" dirty="0"/>
          </a:p>
        </p:txBody>
      </p:sp>
      <p:sp>
        <p:nvSpPr>
          <p:cNvPr id="6" name="Text 4"/>
          <p:cNvSpPr/>
          <p:nvPr/>
        </p:nvSpPr>
        <p:spPr>
          <a:xfrm>
            <a:off x="548640" y="2468880"/>
            <a:ext cx="8229600" cy="594360"/>
          </a:xfrm>
          <a:prstGeom prst="rect">
            <a:avLst/>
          </a:prstGeom>
          <a:noFill/>
          <a:ln/>
        </p:spPr>
        <p:txBody>
          <a:bodyPr wrap="square" rtlCol="0" anchor="ctr"/>
          <a:lstStyle/>
          <a:p>
            <a:pPr indent="0" marL="0">
              <a:buNone/>
            </a:pPr>
            <a:r>
              <a:rPr lang="en-US" sz="2600" dirty="0">
                <a:solidFill>
                  <a:srgbClr val="CCCCEE"/>
                </a:solidFill>
                <a:latin typeface="Calibri" pitchFamily="34" charset="0"/>
                <a:ea typeface="Calibri" pitchFamily="34" charset="-122"/>
                <a:cs typeface="Calibri" pitchFamily="34" charset="-120"/>
              </a:rPr>
              <a:t>BSG Staff Training Guide</a:t>
            </a:r>
            <a:endParaRPr lang="en-US" sz="2600" dirty="0"/>
          </a:p>
        </p:txBody>
      </p:sp>
      <p:sp>
        <p:nvSpPr>
          <p:cNvPr id="7" name="Text 5"/>
          <p:cNvSpPr/>
          <p:nvPr/>
        </p:nvSpPr>
        <p:spPr>
          <a:xfrm>
            <a:off x="548640" y="3200400"/>
            <a:ext cx="8229600" cy="411480"/>
          </a:xfrm>
          <a:prstGeom prst="rect">
            <a:avLst/>
          </a:prstGeom>
          <a:noFill/>
          <a:ln/>
        </p:spPr>
        <p:txBody>
          <a:bodyPr wrap="square" rtlCol="0" anchor="ctr"/>
          <a:lstStyle/>
          <a:p>
            <a:pPr indent="0" marL="0">
              <a:buNone/>
            </a:pPr>
            <a:r>
              <a:rPr lang="en-US" sz="1500" i="1" dirty="0">
                <a:solidFill>
                  <a:srgbClr val="F7941D"/>
                </a:solidFill>
                <a:latin typeface="Calibri" pitchFamily="34" charset="0"/>
                <a:ea typeface="Calibri" pitchFamily="34" charset="-122"/>
                <a:cs typeface="Calibri" pitchFamily="34" charset="-120"/>
              </a:rPr>
              <a:t>Smart Tools. Stronger Teams. Better Results.</a:t>
            </a:r>
            <a:endParaRPr lang="en-US" sz="1500" dirty="0"/>
          </a:p>
        </p:txBody>
      </p:sp>
      <p:sp>
        <p:nvSpPr>
          <p:cNvPr id="8" name="Text 6"/>
          <p:cNvSpPr/>
          <p:nvPr/>
        </p:nvSpPr>
        <p:spPr>
          <a:xfrm>
            <a:off x="0" y="4942332"/>
            <a:ext cx="9144000" cy="201168"/>
          </a:xfrm>
          <a:prstGeom prst="rect">
            <a:avLst/>
          </a:prstGeom>
          <a:noFill/>
          <a:ln/>
        </p:spPr>
        <p:txBody>
          <a:bodyPr wrap="square" rtlCol="0" anchor="ctr"/>
          <a:lstStyle/>
          <a:p>
            <a:pPr algn="ctr" indent="0" marL="0">
              <a:buNone/>
            </a:pPr>
            <a:r>
              <a:rPr lang="en-US" sz="900" dirty="0">
                <a:solidFill>
                  <a:srgbClr val="0F1F5C"/>
                </a:solidFill>
                <a:latin typeface="Calibri" pitchFamily="34" charset="0"/>
                <a:ea typeface="Calibri" pitchFamily="34" charset="-122"/>
                <a:cs typeface="Calibri" pitchFamily="34" charset="-120"/>
              </a:rPr>
              <a:t>Internal Use Only — Confidential — Boost Strategy Group        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WELCOME FROM JACKIE TAYLOR, FOUNDER &amp; CEO</a:t>
            </a:r>
            <a:endParaRPr lang="en-US" sz="1400" dirty="0"/>
          </a:p>
        </p:txBody>
      </p:sp>
      <p:sp>
        <p:nvSpPr>
          <p:cNvPr id="5" name="Text 3"/>
          <p:cNvSpPr/>
          <p:nvPr/>
        </p:nvSpPr>
        <p:spPr>
          <a:xfrm>
            <a:off x="457200" y="594360"/>
            <a:ext cx="8229600" cy="411480"/>
          </a:xfrm>
          <a:prstGeom prst="rect">
            <a:avLst/>
          </a:prstGeom>
          <a:noFill/>
          <a:ln/>
        </p:spPr>
        <p:txBody>
          <a:bodyPr wrap="square" rtlCol="0" anchor="ctr"/>
          <a:lstStyle/>
          <a:p>
            <a:pPr indent="0" marL="0">
              <a:buNone/>
            </a:pPr>
            <a:r>
              <a:rPr lang="en-US" sz="2200" b="1" dirty="0">
                <a:solidFill>
                  <a:srgbClr val="0F1F5C"/>
                </a:solidFill>
                <a:latin typeface="Trebuchet MS" pitchFamily="34" charset="0"/>
                <a:ea typeface="Trebuchet MS" pitchFamily="34" charset="-122"/>
                <a:cs typeface="Trebuchet MS" pitchFamily="34" charset="-120"/>
              </a:rPr>
              <a:t>Why This Platform Matters</a:t>
            </a:r>
            <a:endParaRPr lang="en-US" sz="2200" dirty="0"/>
          </a:p>
        </p:txBody>
      </p:sp>
      <p:sp>
        <p:nvSpPr>
          <p:cNvPr id="6" name="Text 4"/>
          <p:cNvSpPr/>
          <p:nvPr/>
        </p:nvSpPr>
        <p:spPr>
          <a:xfrm>
            <a:off x="457200" y="1051560"/>
            <a:ext cx="8229600" cy="914400"/>
          </a:xfrm>
          <a:prstGeom prst="rect">
            <a:avLst/>
          </a:prstGeom>
          <a:noFill/>
          <a:ln/>
        </p:spPr>
        <p:txBody>
          <a:bodyPr wrap="square" rtlCol="0" anchor="t"/>
          <a:lstStyle/>
          <a:p>
            <a:pPr indent="0" marL="0">
              <a:spcAft>
                <a:spcPts val="1000"/>
              </a:spcAft>
              <a:buNone/>
            </a:pPr>
            <a:r>
              <a:rPr lang="en-US" sz="1400" dirty="0">
                <a:solidFill>
                  <a:srgbClr val="1E1E3A"/>
                </a:solidFill>
                <a:latin typeface="Calibri" pitchFamily="34" charset="0"/>
                <a:ea typeface="Calibri" pitchFamily="34" charset="-122"/>
                <a:cs typeface="Calibri" pitchFamily="34" charset="-120"/>
              </a:rPr>
              <a:t>BOOST! My WorkForce Suite was built to give small and mid-size employers — especially those with fewer than 100 employees — enterprise-grade HR tools at an accessible price point. Most HR platforms ignore this market or charge prices that only work for large companies. We are changing that.</a:t>
            </a:r>
            <a:endParaRPr lang="en-US" sz="1400" dirty="0"/>
          </a:p>
        </p:txBody>
      </p:sp>
      <p:sp>
        <p:nvSpPr>
          <p:cNvPr id="7" name="Text 5"/>
          <p:cNvSpPr/>
          <p:nvPr/>
        </p:nvSpPr>
        <p:spPr>
          <a:xfrm>
            <a:off x="457200" y="2011680"/>
            <a:ext cx="8229600" cy="365760"/>
          </a:xfrm>
          <a:prstGeom prst="rect">
            <a:avLst/>
          </a:prstGeom>
          <a:noFill/>
          <a:ln/>
        </p:spPr>
        <p:txBody>
          <a:bodyPr wrap="square" rtlCol="0" anchor="ctr"/>
          <a:lstStyle/>
          <a:p>
            <a:pPr indent="0" marL="0">
              <a:buNone/>
            </a:pPr>
            <a:r>
              <a:rPr lang="en-US" sz="1800" b="1" dirty="0">
                <a:solidFill>
                  <a:srgbClr val="0F1F5C"/>
                </a:solidFill>
                <a:latin typeface="Trebuchet MS" pitchFamily="34" charset="0"/>
                <a:ea typeface="Trebuchet MS" pitchFamily="34" charset="-122"/>
                <a:cs typeface="Trebuchet MS" pitchFamily="34" charset="-120"/>
              </a:rPr>
              <a:t>Your Role Makes the Difference</a:t>
            </a:r>
            <a:endParaRPr lang="en-US" sz="1800" dirty="0"/>
          </a:p>
        </p:txBody>
      </p:sp>
      <p:sp>
        <p:nvSpPr>
          <p:cNvPr id="8" name="Text 6"/>
          <p:cNvSpPr/>
          <p:nvPr/>
        </p:nvSpPr>
        <p:spPr>
          <a:xfrm>
            <a:off x="457200" y="2395728"/>
            <a:ext cx="8229600" cy="594360"/>
          </a:xfrm>
          <a:prstGeom prst="rect">
            <a:avLst/>
          </a:prstGeom>
          <a:noFill/>
          <a:ln/>
        </p:spPr>
        <p:txBody>
          <a:bodyPr wrap="square" rtlCol="0" anchor="t"/>
          <a:lstStyle/>
          <a:p>
            <a:pPr indent="0" marL="0">
              <a:buNone/>
            </a:pPr>
            <a:r>
              <a:rPr lang="en-US" sz="1400" dirty="0">
                <a:solidFill>
                  <a:srgbClr val="1E1E3A"/>
                </a:solidFill>
                <a:latin typeface="Calibri" pitchFamily="34" charset="0"/>
                <a:ea typeface="Calibri" pitchFamily="34" charset="-122"/>
                <a:cs typeface="Calibri" pitchFamily="34" charset="-120"/>
              </a:rPr>
              <a:t>Every BSG team member — Sales, Tech Support, and Admin — is a direct extension of this mission. How you present, support, and manage BOOST! defines the client experience.</a:t>
            </a:r>
            <a:endParaRPr lang="en-US" sz="1400" dirty="0"/>
          </a:p>
        </p:txBody>
      </p:sp>
      <p:sp>
        <p:nvSpPr>
          <p:cNvPr id="9" name="Shape 7"/>
          <p:cNvSpPr/>
          <p:nvPr/>
        </p:nvSpPr>
        <p:spPr>
          <a:xfrm>
            <a:off x="457200" y="3090672"/>
            <a:ext cx="2560320" cy="1280160"/>
          </a:xfrm>
          <a:prstGeom prst="rect">
            <a:avLst/>
          </a:prstGeom>
          <a:solidFill>
            <a:srgbClr val="F2F4FA"/>
          </a:solidFill>
          <a:ln w="12700">
            <a:solidFill>
              <a:srgbClr val="CCCCCC"/>
            </a:solidFill>
            <a:prstDash val="solid"/>
          </a:ln>
        </p:spPr>
      </p:sp>
      <p:sp>
        <p:nvSpPr>
          <p:cNvPr id="10" name="Text 8"/>
          <p:cNvSpPr/>
          <p:nvPr/>
        </p:nvSpPr>
        <p:spPr>
          <a:xfrm>
            <a:off x="457200" y="3154680"/>
            <a:ext cx="2560320" cy="640080"/>
          </a:xfrm>
          <a:prstGeom prst="rect">
            <a:avLst/>
          </a:prstGeom>
          <a:noFill/>
          <a:ln/>
        </p:spPr>
        <p:txBody>
          <a:bodyPr wrap="square" rtlCol="0" anchor="ctr"/>
          <a:lstStyle/>
          <a:p>
            <a:pPr algn="ctr" indent="0" marL="0">
              <a:buNone/>
            </a:pPr>
            <a:r>
              <a:rPr lang="en-US" sz="3400" b="1" dirty="0">
                <a:solidFill>
                  <a:srgbClr val="F7941D"/>
                </a:solidFill>
                <a:latin typeface="Trebuchet MS" pitchFamily="34" charset="0"/>
                <a:ea typeface="Trebuchet MS" pitchFamily="34" charset="-122"/>
                <a:cs typeface="Trebuchet MS" pitchFamily="34" charset="-120"/>
              </a:rPr>
              <a:t>95%+</a:t>
            </a:r>
            <a:endParaRPr lang="en-US" sz="3400" dirty="0"/>
          </a:p>
        </p:txBody>
      </p:sp>
      <p:sp>
        <p:nvSpPr>
          <p:cNvPr id="11" name="Text 9"/>
          <p:cNvSpPr/>
          <p:nvPr/>
        </p:nvSpPr>
        <p:spPr>
          <a:xfrm>
            <a:off x="457200" y="3794760"/>
            <a:ext cx="2560320" cy="502920"/>
          </a:xfrm>
          <a:prstGeom prst="rect">
            <a:avLst/>
          </a:prstGeom>
          <a:noFill/>
          <a:ln/>
        </p:spPr>
        <p:txBody>
          <a:bodyPr wrap="square" rtlCol="0" anchor="t"/>
          <a:lstStyle/>
          <a:p>
            <a:pPr algn="ctr" indent="0" marL="0">
              <a:buNone/>
            </a:pPr>
            <a:r>
              <a:rPr lang="en-US" sz="1200" dirty="0">
                <a:solidFill>
                  <a:srgbClr val="1E1E3A"/>
                </a:solidFill>
                <a:latin typeface="Calibri" pitchFamily="34" charset="0"/>
                <a:ea typeface="Calibri" pitchFamily="34" charset="-122"/>
                <a:cs typeface="Calibri" pitchFamily="34" charset="-120"/>
              </a:rPr>
              <a:t>Client Retention</a:t>
            </a:r>
            <a:endParaRPr lang="en-US" sz="1200" dirty="0"/>
          </a:p>
          <a:p>
            <a:pPr algn="ctr" indent="0" marL="0">
              <a:buNone/>
            </a:pPr>
            <a:r>
              <a:rPr lang="en-US" sz="1200" dirty="0">
                <a:solidFill>
                  <a:srgbClr val="1E1E3A"/>
                </a:solidFill>
                <a:latin typeface="Calibri" pitchFamily="34" charset="0"/>
                <a:ea typeface="Calibri" pitchFamily="34" charset="-122"/>
                <a:cs typeface="Calibri" pitchFamily="34" charset="-120"/>
              </a:rPr>
              <a:t>Target</a:t>
            </a:r>
            <a:endParaRPr lang="en-US" sz="1200" dirty="0"/>
          </a:p>
        </p:txBody>
      </p:sp>
      <p:sp>
        <p:nvSpPr>
          <p:cNvPr id="12" name="Shape 10"/>
          <p:cNvSpPr/>
          <p:nvPr/>
        </p:nvSpPr>
        <p:spPr>
          <a:xfrm>
            <a:off x="3291840" y="3090672"/>
            <a:ext cx="2560320" cy="1280160"/>
          </a:xfrm>
          <a:prstGeom prst="rect">
            <a:avLst/>
          </a:prstGeom>
          <a:solidFill>
            <a:srgbClr val="F2F4FA"/>
          </a:solidFill>
          <a:ln w="12700">
            <a:solidFill>
              <a:srgbClr val="CCCCCC"/>
            </a:solidFill>
            <a:prstDash val="solid"/>
          </a:ln>
        </p:spPr>
      </p:sp>
      <p:sp>
        <p:nvSpPr>
          <p:cNvPr id="13" name="Text 11"/>
          <p:cNvSpPr/>
          <p:nvPr/>
        </p:nvSpPr>
        <p:spPr>
          <a:xfrm>
            <a:off x="3291840" y="3154680"/>
            <a:ext cx="2560320" cy="640080"/>
          </a:xfrm>
          <a:prstGeom prst="rect">
            <a:avLst/>
          </a:prstGeom>
          <a:noFill/>
          <a:ln/>
        </p:spPr>
        <p:txBody>
          <a:bodyPr wrap="square" rtlCol="0" anchor="ctr"/>
          <a:lstStyle/>
          <a:p>
            <a:pPr algn="ctr" indent="0" marL="0">
              <a:buNone/>
            </a:pPr>
            <a:r>
              <a:rPr lang="en-US" sz="3400" b="1" dirty="0">
                <a:solidFill>
                  <a:srgbClr val="F7941D"/>
                </a:solidFill>
                <a:latin typeface="Trebuchet MS" pitchFamily="34" charset="0"/>
                <a:ea typeface="Trebuchet MS" pitchFamily="34" charset="-122"/>
                <a:cs typeface="Trebuchet MS" pitchFamily="34" charset="-120"/>
              </a:rPr>
              <a:t>&lt; 4h</a:t>
            </a:r>
            <a:endParaRPr lang="en-US" sz="3400" dirty="0"/>
          </a:p>
        </p:txBody>
      </p:sp>
      <p:sp>
        <p:nvSpPr>
          <p:cNvPr id="14" name="Text 12"/>
          <p:cNvSpPr/>
          <p:nvPr/>
        </p:nvSpPr>
        <p:spPr>
          <a:xfrm>
            <a:off x="3291840" y="3794760"/>
            <a:ext cx="2560320" cy="502920"/>
          </a:xfrm>
          <a:prstGeom prst="rect">
            <a:avLst/>
          </a:prstGeom>
          <a:noFill/>
          <a:ln/>
        </p:spPr>
        <p:txBody>
          <a:bodyPr wrap="square" rtlCol="0" anchor="t"/>
          <a:lstStyle/>
          <a:p>
            <a:pPr algn="ctr" indent="0" marL="0">
              <a:buNone/>
            </a:pPr>
            <a:r>
              <a:rPr lang="en-US" sz="1200" dirty="0">
                <a:solidFill>
                  <a:srgbClr val="1E1E3A"/>
                </a:solidFill>
                <a:latin typeface="Calibri" pitchFamily="34" charset="0"/>
                <a:ea typeface="Calibri" pitchFamily="34" charset="-122"/>
                <a:cs typeface="Calibri" pitchFamily="34" charset="-120"/>
              </a:rPr>
              <a:t>Inbound Lead</a:t>
            </a:r>
            <a:endParaRPr lang="en-US" sz="1200" dirty="0"/>
          </a:p>
          <a:p>
            <a:pPr algn="ctr" indent="0" marL="0">
              <a:buNone/>
            </a:pPr>
            <a:r>
              <a:rPr lang="en-US" sz="1200" dirty="0">
                <a:solidFill>
                  <a:srgbClr val="1E1E3A"/>
                </a:solidFill>
                <a:latin typeface="Calibri" pitchFamily="34" charset="0"/>
                <a:ea typeface="Calibri" pitchFamily="34" charset="-122"/>
                <a:cs typeface="Calibri" pitchFamily="34" charset="-120"/>
              </a:rPr>
              <a:t>Response SLA</a:t>
            </a:r>
            <a:endParaRPr lang="en-US" sz="1200" dirty="0"/>
          </a:p>
        </p:txBody>
      </p:sp>
      <p:sp>
        <p:nvSpPr>
          <p:cNvPr id="15" name="Shape 13"/>
          <p:cNvSpPr/>
          <p:nvPr/>
        </p:nvSpPr>
        <p:spPr>
          <a:xfrm>
            <a:off x="6126480" y="3090672"/>
            <a:ext cx="2560320" cy="1280160"/>
          </a:xfrm>
          <a:prstGeom prst="rect">
            <a:avLst/>
          </a:prstGeom>
          <a:solidFill>
            <a:srgbClr val="F2F4FA"/>
          </a:solidFill>
          <a:ln w="12700">
            <a:solidFill>
              <a:srgbClr val="CCCCCC"/>
            </a:solidFill>
            <a:prstDash val="solid"/>
          </a:ln>
        </p:spPr>
      </p:sp>
      <p:sp>
        <p:nvSpPr>
          <p:cNvPr id="16" name="Text 14"/>
          <p:cNvSpPr/>
          <p:nvPr/>
        </p:nvSpPr>
        <p:spPr>
          <a:xfrm>
            <a:off x="6126480" y="3154680"/>
            <a:ext cx="2560320" cy="640080"/>
          </a:xfrm>
          <a:prstGeom prst="rect">
            <a:avLst/>
          </a:prstGeom>
          <a:noFill/>
          <a:ln/>
        </p:spPr>
        <p:txBody>
          <a:bodyPr wrap="square" rtlCol="0" anchor="ctr"/>
          <a:lstStyle/>
          <a:p>
            <a:pPr algn="ctr" indent="0" marL="0">
              <a:buNone/>
            </a:pPr>
            <a:r>
              <a:rPr lang="en-US" sz="3400" b="1" dirty="0">
                <a:solidFill>
                  <a:srgbClr val="F7941D"/>
                </a:solidFill>
                <a:latin typeface="Trebuchet MS" pitchFamily="34" charset="0"/>
                <a:ea typeface="Trebuchet MS" pitchFamily="34" charset="-122"/>
                <a:cs typeface="Trebuchet MS" pitchFamily="34" charset="-120"/>
              </a:rPr>
              <a:t>100%</a:t>
            </a:r>
            <a:endParaRPr lang="en-US" sz="3400" dirty="0"/>
          </a:p>
        </p:txBody>
      </p:sp>
      <p:sp>
        <p:nvSpPr>
          <p:cNvPr id="17" name="Text 15"/>
          <p:cNvSpPr/>
          <p:nvPr/>
        </p:nvSpPr>
        <p:spPr>
          <a:xfrm>
            <a:off x="6126480" y="3794760"/>
            <a:ext cx="2560320" cy="502920"/>
          </a:xfrm>
          <a:prstGeom prst="rect">
            <a:avLst/>
          </a:prstGeom>
          <a:noFill/>
          <a:ln/>
        </p:spPr>
        <p:txBody>
          <a:bodyPr wrap="square" rtlCol="0" anchor="t"/>
          <a:lstStyle/>
          <a:p>
            <a:pPr algn="ctr" indent="0" marL="0">
              <a:buNone/>
            </a:pPr>
            <a:r>
              <a:rPr lang="en-US" sz="1200" dirty="0">
                <a:solidFill>
                  <a:srgbClr val="1E1E3A"/>
                </a:solidFill>
                <a:latin typeface="Calibri" pitchFamily="34" charset="0"/>
                <a:ea typeface="Calibri" pitchFamily="34" charset="-122"/>
                <a:cs typeface="Calibri" pitchFamily="34" charset="-120"/>
              </a:rPr>
              <a:t>Onboarding</a:t>
            </a:r>
            <a:endParaRPr lang="en-US" sz="1200" dirty="0"/>
          </a:p>
          <a:p>
            <a:pPr algn="ctr" indent="0" marL="0">
              <a:buNone/>
            </a:pPr>
            <a:r>
              <a:rPr lang="en-US" sz="1200" dirty="0">
                <a:solidFill>
                  <a:srgbClr val="1E1E3A"/>
                </a:solidFill>
                <a:latin typeface="Calibri" pitchFamily="34" charset="0"/>
                <a:ea typeface="Calibri" pitchFamily="34" charset="-122"/>
                <a:cs typeface="Calibri" pitchFamily="34" charset="-120"/>
              </a:rPr>
              <a:t>Completion Rate</a:t>
            </a:r>
            <a:endParaRPr lang="en-US" sz="1200" dirty="0"/>
          </a:p>
        </p:txBody>
      </p:sp>
      <p:sp>
        <p:nvSpPr>
          <p:cNvPr id="18" name="Shape 16"/>
          <p:cNvSpPr/>
          <p:nvPr/>
        </p:nvSpPr>
        <p:spPr>
          <a:xfrm>
            <a:off x="0" y="4887468"/>
            <a:ext cx="9144000" cy="256032"/>
          </a:xfrm>
          <a:prstGeom prst="rect">
            <a:avLst/>
          </a:prstGeom>
          <a:solidFill>
            <a:srgbClr val="0F1F5C"/>
          </a:solidFill>
          <a:ln w="12700">
            <a:solidFill>
              <a:srgbClr val="0F1F5C"/>
            </a:solidFill>
            <a:prstDash val="solid"/>
          </a:ln>
        </p:spPr>
      </p:sp>
      <p:sp>
        <p:nvSpPr>
          <p:cNvPr id="19" name="Text 17"/>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20" name="Text 18"/>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WHAT IS BOOST! MY WORKFORCE SUITE?</a:t>
            </a:r>
            <a:endParaRPr lang="en-US" sz="1400" dirty="0"/>
          </a:p>
        </p:txBody>
      </p:sp>
      <p:sp>
        <p:nvSpPr>
          <p:cNvPr id="5" name="Text 3"/>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F7941D"/>
                </a:solidFill>
                <a:latin typeface="Trebuchet MS" pitchFamily="34" charset="0"/>
                <a:ea typeface="Trebuchet MS" pitchFamily="34" charset="-122"/>
                <a:cs typeface="Trebuchet MS" pitchFamily="34" charset="-120"/>
              </a:rPr>
              <a:t>Smart Tools. Stronger Teams. Better Results.</a:t>
            </a:r>
            <a:endParaRPr lang="en-US" sz="2200" dirty="0"/>
          </a:p>
        </p:txBody>
      </p:sp>
      <p:sp>
        <p:nvSpPr>
          <p:cNvPr id="6" name="Text 4"/>
          <p:cNvSpPr/>
          <p:nvPr/>
        </p:nvSpPr>
        <p:spPr>
          <a:xfrm>
            <a:off x="457200" y="1005840"/>
            <a:ext cx="8229600" cy="777240"/>
          </a:xfrm>
          <a:prstGeom prst="rect">
            <a:avLst/>
          </a:prstGeom>
          <a:noFill/>
          <a:ln/>
        </p:spPr>
        <p:txBody>
          <a:bodyPr wrap="square" rtlCol="0" anchor="t"/>
          <a:lstStyle/>
          <a:p>
            <a:pPr indent="0" marL="0">
              <a:buNone/>
            </a:pPr>
            <a:r>
              <a:rPr lang="en-US" sz="1400" dirty="0">
                <a:solidFill>
                  <a:srgbClr val="1E1E3A"/>
                </a:solidFill>
                <a:latin typeface="Calibri" pitchFamily="34" charset="0"/>
                <a:ea typeface="Calibri" pitchFamily="34" charset="-122"/>
                <a:cs typeface="Calibri" pitchFamily="34" charset="-120"/>
              </a:rPr>
              <a:t>BOOST! My WorkForce Suite is a purpose-built HR platform designed exclusively for employers with up to 100 employees. It combines role management, performance reviews, employee engagement, and learning — all in one integrated suite.</a:t>
            </a:r>
            <a:endParaRPr lang="en-US" sz="1400" dirty="0"/>
          </a:p>
        </p:txBody>
      </p:sp>
      <p:sp>
        <p:nvSpPr>
          <p:cNvPr id="7" name="Text 5"/>
          <p:cNvSpPr/>
          <p:nvPr/>
        </p:nvSpPr>
        <p:spPr>
          <a:xfrm>
            <a:off x="457200" y="1874520"/>
            <a:ext cx="8229600" cy="2743200"/>
          </a:xfrm>
          <a:prstGeom prst="rect">
            <a:avLst/>
          </a:prstGeom>
          <a:noFill/>
          <a:ln/>
        </p:spPr>
        <p:txBody>
          <a:bodyPr wrap="square" rtlCol="0" anchor="t"/>
          <a:lstStyle/>
          <a:p>
            <a:pPr marL="342900" indent="-342900">
              <a:spcAft>
                <a:spcPts val="700"/>
              </a:spcAft>
              <a:buSzPct val="100000"/>
              <a:buChar char="•"/>
            </a:pPr>
            <a:r>
              <a:rPr lang="en-US" sz="1400" dirty="0">
                <a:solidFill>
                  <a:srgbClr val="1E1E3A"/>
                </a:solidFill>
                <a:latin typeface="Calibri" pitchFamily="34" charset="0"/>
                <a:ea typeface="Calibri" pitchFamily="34" charset="-122"/>
                <a:cs typeface="Calibri" pitchFamily="34" charset="-120"/>
              </a:rPr>
              <a:t>Built for small to mid-size businesses (≤ 100 employees)</a:t>
            </a:r>
            <a:endParaRPr lang="en-US" sz="1400" dirty="0"/>
          </a:p>
          <a:p>
            <a:pPr marL="342900" indent="-342900">
              <a:spcAft>
                <a:spcPts val="700"/>
              </a:spcAft>
              <a:buSzPct val="100000"/>
              <a:buChar char="•"/>
            </a:pPr>
            <a:r>
              <a:rPr lang="en-US" sz="1400" dirty="0">
                <a:solidFill>
                  <a:srgbClr val="1E1E3A"/>
                </a:solidFill>
                <a:latin typeface="Calibri" pitchFamily="34" charset="0"/>
                <a:ea typeface="Calibri" pitchFamily="34" charset="-122"/>
                <a:cs typeface="Calibri" pitchFamily="34" charset="-120"/>
              </a:rPr>
              <a:t>Four integrated modules covering the full employee lifecycle</a:t>
            </a:r>
            <a:endParaRPr lang="en-US" sz="1400" dirty="0"/>
          </a:p>
          <a:p>
            <a:pPr marL="342900" indent="-342900">
              <a:spcAft>
                <a:spcPts val="700"/>
              </a:spcAft>
              <a:buSzPct val="100000"/>
              <a:buChar char="•"/>
            </a:pPr>
            <a:r>
              <a:rPr lang="en-US" sz="1400" dirty="0">
                <a:solidFill>
                  <a:srgbClr val="1E1E3A"/>
                </a:solidFill>
                <a:latin typeface="Calibri" pitchFamily="34" charset="0"/>
                <a:ea typeface="Calibri" pitchFamily="34" charset="-122"/>
                <a:cs typeface="Calibri" pitchFamily="34" charset="-120"/>
              </a:rPr>
              <a:t>AI-powered tools embedded throughout for smarter decisions</a:t>
            </a:r>
            <a:endParaRPr lang="en-US" sz="1400" dirty="0"/>
          </a:p>
          <a:p>
            <a:pPr marL="342900" indent="-342900">
              <a:spcAft>
                <a:spcPts val="700"/>
              </a:spcAft>
              <a:buSzPct val="100000"/>
              <a:buChar char="•"/>
            </a:pPr>
            <a:r>
              <a:rPr lang="en-US" sz="1400" dirty="0">
                <a:solidFill>
                  <a:srgbClr val="1E1E3A"/>
                </a:solidFill>
                <a:latin typeface="Calibri" pitchFamily="34" charset="0"/>
                <a:ea typeface="Calibri" pitchFamily="34" charset="-122"/>
                <a:cs typeface="Calibri" pitchFamily="34" charset="-120"/>
              </a:rPr>
              <a:t>Tenant-isolated architecture — each client's data is fully private</a:t>
            </a:r>
            <a:endParaRPr lang="en-US" sz="1400" dirty="0"/>
          </a:p>
          <a:p>
            <a:pPr marL="342900" indent="-342900">
              <a:spcAft>
                <a:spcPts val="700"/>
              </a:spcAft>
              <a:buSzPct val="100000"/>
              <a:buChar char="•"/>
            </a:pPr>
            <a:r>
              <a:rPr lang="en-US" sz="1400" dirty="0">
                <a:solidFill>
                  <a:srgbClr val="1E1E3A"/>
                </a:solidFill>
                <a:latin typeface="Calibri" pitchFamily="34" charset="0"/>
                <a:ea typeface="Calibri" pitchFamily="34" charset="-122"/>
                <a:cs typeface="Calibri" pitchFamily="34" charset="-120"/>
              </a:rPr>
              <a:t>Flexible pricing tiers from Starter ($149/mo) to Enterprise ($699/mo)</a:t>
            </a:r>
            <a:endParaRPr lang="en-US" sz="1400" dirty="0"/>
          </a:p>
          <a:p>
            <a:pPr marL="342900" indent="-342900">
              <a:spcAft>
                <a:spcPts val="700"/>
              </a:spcAft>
              <a:buSzPct val="100000"/>
              <a:buChar char="•"/>
            </a:pPr>
            <a:r>
              <a:rPr lang="en-US" sz="1400" dirty="0">
                <a:solidFill>
                  <a:srgbClr val="1E1E3A"/>
                </a:solidFill>
                <a:latin typeface="Calibri" pitchFamily="34" charset="0"/>
                <a:ea typeface="Calibri" pitchFamily="34" charset="-122"/>
                <a:cs typeface="Calibri" pitchFamily="34" charset="-120"/>
              </a:rPr>
              <a:t>Founded and led by Jackie Taylor — HR practitioner turned tech innovator</a:t>
            </a:r>
            <a:endParaRPr lang="en-US" sz="1400" dirty="0"/>
          </a:p>
        </p:txBody>
      </p:sp>
      <p:sp>
        <p:nvSpPr>
          <p:cNvPr id="8" name="Shape 6"/>
          <p:cNvSpPr/>
          <p:nvPr/>
        </p:nvSpPr>
        <p:spPr>
          <a:xfrm>
            <a:off x="0" y="4887468"/>
            <a:ext cx="9144000" cy="256032"/>
          </a:xfrm>
          <a:prstGeom prst="rect">
            <a:avLst/>
          </a:prstGeom>
          <a:solidFill>
            <a:srgbClr val="0F1F5C"/>
          </a:solidFill>
          <a:ln w="12700">
            <a:solidFill>
              <a:srgbClr val="0F1F5C"/>
            </a:solidFill>
            <a:prstDash val="solid"/>
          </a:ln>
        </p:spPr>
      </p:sp>
      <p:sp>
        <p:nvSpPr>
          <p:cNvPr id="9" name="Text 7"/>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0" name="Text 8"/>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THE FOUR MODULES AT A GLANCE</a:t>
            </a:r>
            <a:endParaRPr lang="en-US" sz="1400" dirty="0"/>
          </a:p>
        </p:txBody>
      </p:sp>
      <p:sp>
        <p:nvSpPr>
          <p:cNvPr id="5" name="Shape 3"/>
          <p:cNvSpPr/>
          <p:nvPr/>
        </p:nvSpPr>
        <p:spPr>
          <a:xfrm>
            <a:off x="365760" y="621792"/>
            <a:ext cx="4023360" cy="2011680"/>
          </a:xfrm>
          <a:prstGeom prst="rect">
            <a:avLst/>
          </a:prstGeom>
          <a:solidFill>
            <a:srgbClr val="F8F9FD"/>
          </a:solidFill>
          <a:ln w="12700">
            <a:solidFill>
              <a:srgbClr val="CCCCCC"/>
            </a:solidFill>
            <a:prstDash val="solid"/>
          </a:ln>
        </p:spPr>
      </p:sp>
      <p:sp>
        <p:nvSpPr>
          <p:cNvPr id="6" name="Shape 4"/>
          <p:cNvSpPr/>
          <p:nvPr/>
        </p:nvSpPr>
        <p:spPr>
          <a:xfrm>
            <a:off x="365760" y="621792"/>
            <a:ext cx="4023360" cy="201168"/>
          </a:xfrm>
          <a:prstGeom prst="rect">
            <a:avLst/>
          </a:prstGeom>
          <a:solidFill>
            <a:srgbClr val="F7941D"/>
          </a:solidFill>
          <a:ln w="12700">
            <a:solidFill>
              <a:srgbClr val="F7941D"/>
            </a:solidFill>
            <a:prstDash val="solid"/>
          </a:ln>
        </p:spPr>
      </p:sp>
      <p:sp>
        <p:nvSpPr>
          <p:cNvPr id="7" name="Text 5"/>
          <p:cNvSpPr/>
          <p:nvPr/>
        </p:nvSpPr>
        <p:spPr>
          <a:xfrm>
            <a:off x="502920" y="868680"/>
            <a:ext cx="3749040" cy="365760"/>
          </a:xfrm>
          <a:prstGeom prst="rect">
            <a:avLst/>
          </a:prstGeom>
          <a:noFill/>
          <a:ln/>
        </p:spPr>
        <p:txBody>
          <a:bodyPr wrap="square" rtlCol="0" anchor="ctr"/>
          <a:lstStyle/>
          <a:p>
            <a:pPr indent="0" marL="0">
              <a:buNone/>
            </a:pPr>
            <a:r>
              <a:rPr lang="en-US" sz="1800" b="1" dirty="0">
                <a:solidFill>
                  <a:srgbClr val="F7941D"/>
                </a:solidFill>
                <a:latin typeface="Trebuchet MS" pitchFamily="34" charset="0"/>
                <a:ea typeface="Trebuchet MS" pitchFamily="34" charset="-122"/>
                <a:cs typeface="Trebuchet MS" pitchFamily="34" charset="-120"/>
              </a:rPr>
              <a:t>Boost!Roles</a:t>
            </a:r>
            <a:endParaRPr lang="en-US" sz="1800" dirty="0"/>
          </a:p>
        </p:txBody>
      </p:sp>
      <p:sp>
        <p:nvSpPr>
          <p:cNvPr id="8" name="Text 6"/>
          <p:cNvSpPr/>
          <p:nvPr/>
        </p:nvSpPr>
        <p:spPr>
          <a:xfrm>
            <a:off x="502920" y="1243584"/>
            <a:ext cx="3749040" cy="1280160"/>
          </a:xfrm>
          <a:prstGeom prst="rect">
            <a:avLst/>
          </a:prstGeom>
          <a:noFill/>
          <a:ln/>
        </p:spPr>
        <p:txBody>
          <a:bodyPr wrap="square" rtlCol="0" anchor="t"/>
          <a:lstStyle/>
          <a:p>
            <a:pPr indent="0" marL="0">
              <a:buNone/>
            </a:pPr>
            <a:r>
              <a:rPr lang="en-US" sz="1300" dirty="0">
                <a:solidFill>
                  <a:srgbClr val="1E1E3A"/>
                </a:solidFill>
                <a:latin typeface="Calibri" pitchFamily="34" charset="0"/>
                <a:ea typeface="Calibri" pitchFamily="34" charset="-122"/>
                <a:cs typeface="Calibri" pitchFamily="34" charset="-120"/>
              </a:rPr>
              <a:t>Job descriptions, pay bands,</a:t>
            </a:r>
            <a:endParaRPr lang="en-US" sz="1300" dirty="0"/>
          </a:p>
          <a:p>
            <a:pPr indent="0" marL="0">
              <a:buNone/>
            </a:pPr>
            <a:r>
              <a:rPr lang="en-US" sz="1300" dirty="0">
                <a:solidFill>
                  <a:srgbClr val="1E1E3A"/>
                </a:solidFill>
                <a:latin typeface="Calibri" pitchFamily="34" charset="0"/>
                <a:ea typeface="Calibri" pitchFamily="34" charset="-122"/>
                <a:cs typeface="Calibri" pitchFamily="34" charset="-120"/>
              </a:rPr>
              <a:t>career ladders, competency</a:t>
            </a:r>
            <a:endParaRPr lang="en-US" sz="1300" dirty="0"/>
          </a:p>
          <a:p>
            <a:pPr indent="0" marL="0">
              <a:buNone/>
            </a:pPr>
            <a:r>
              <a:rPr lang="en-US" sz="1300" dirty="0">
                <a:solidFill>
                  <a:srgbClr val="1E1E3A"/>
                </a:solidFill>
                <a:latin typeface="Calibri" pitchFamily="34" charset="0"/>
                <a:ea typeface="Calibri" pitchFamily="34" charset="-122"/>
                <a:cs typeface="Calibri" pitchFamily="34" charset="-120"/>
              </a:rPr>
              <a:t>frameworks, AI JD generator</a:t>
            </a:r>
            <a:endParaRPr lang="en-US" sz="1300" dirty="0"/>
          </a:p>
        </p:txBody>
      </p:sp>
      <p:sp>
        <p:nvSpPr>
          <p:cNvPr id="9" name="Shape 7"/>
          <p:cNvSpPr/>
          <p:nvPr/>
        </p:nvSpPr>
        <p:spPr>
          <a:xfrm>
            <a:off x="4754880" y="621792"/>
            <a:ext cx="4023360" cy="2011680"/>
          </a:xfrm>
          <a:prstGeom prst="rect">
            <a:avLst/>
          </a:prstGeom>
          <a:solidFill>
            <a:srgbClr val="F8F9FD"/>
          </a:solidFill>
          <a:ln w="12700">
            <a:solidFill>
              <a:srgbClr val="CCCCCC"/>
            </a:solidFill>
            <a:prstDash val="solid"/>
          </a:ln>
        </p:spPr>
      </p:sp>
      <p:sp>
        <p:nvSpPr>
          <p:cNvPr id="10" name="Shape 8"/>
          <p:cNvSpPr/>
          <p:nvPr/>
        </p:nvSpPr>
        <p:spPr>
          <a:xfrm>
            <a:off x="4754880" y="621792"/>
            <a:ext cx="4023360" cy="201168"/>
          </a:xfrm>
          <a:prstGeom prst="rect">
            <a:avLst/>
          </a:prstGeom>
          <a:solidFill>
            <a:srgbClr val="E8437A"/>
          </a:solidFill>
          <a:ln w="12700">
            <a:solidFill>
              <a:srgbClr val="E8437A"/>
            </a:solidFill>
            <a:prstDash val="solid"/>
          </a:ln>
        </p:spPr>
      </p:sp>
      <p:sp>
        <p:nvSpPr>
          <p:cNvPr id="11" name="Text 9"/>
          <p:cNvSpPr/>
          <p:nvPr/>
        </p:nvSpPr>
        <p:spPr>
          <a:xfrm>
            <a:off x="4892040" y="868680"/>
            <a:ext cx="3749040" cy="365760"/>
          </a:xfrm>
          <a:prstGeom prst="rect">
            <a:avLst/>
          </a:prstGeom>
          <a:noFill/>
          <a:ln/>
        </p:spPr>
        <p:txBody>
          <a:bodyPr wrap="square" rtlCol="0" anchor="ctr"/>
          <a:lstStyle/>
          <a:p>
            <a:pPr indent="0" marL="0">
              <a:buNone/>
            </a:pPr>
            <a:r>
              <a:rPr lang="en-US" sz="1800" b="1" dirty="0">
                <a:solidFill>
                  <a:srgbClr val="E8437A"/>
                </a:solidFill>
                <a:latin typeface="Trebuchet MS" pitchFamily="34" charset="0"/>
                <a:ea typeface="Trebuchet MS" pitchFamily="34" charset="-122"/>
                <a:cs typeface="Trebuchet MS" pitchFamily="34" charset="-120"/>
              </a:rPr>
              <a:t>Boost!Perform</a:t>
            </a:r>
            <a:endParaRPr lang="en-US" sz="1800" dirty="0"/>
          </a:p>
        </p:txBody>
      </p:sp>
      <p:sp>
        <p:nvSpPr>
          <p:cNvPr id="12" name="Text 10"/>
          <p:cNvSpPr/>
          <p:nvPr/>
        </p:nvSpPr>
        <p:spPr>
          <a:xfrm>
            <a:off x="4892040" y="1243584"/>
            <a:ext cx="3749040" cy="1280160"/>
          </a:xfrm>
          <a:prstGeom prst="rect">
            <a:avLst/>
          </a:prstGeom>
          <a:noFill/>
          <a:ln/>
        </p:spPr>
        <p:txBody>
          <a:bodyPr wrap="square" rtlCol="0" anchor="t"/>
          <a:lstStyle/>
          <a:p>
            <a:pPr indent="0" marL="0">
              <a:buNone/>
            </a:pPr>
            <a:r>
              <a:rPr lang="en-US" sz="1300" dirty="0">
                <a:solidFill>
                  <a:srgbClr val="1E1E3A"/>
                </a:solidFill>
                <a:latin typeface="Calibri" pitchFamily="34" charset="0"/>
                <a:ea typeface="Calibri" pitchFamily="34" charset="-122"/>
                <a:cs typeface="Calibri" pitchFamily="34" charset="-120"/>
              </a:rPr>
              <a:t>Performance reviews, 9-box</a:t>
            </a:r>
            <a:endParaRPr lang="en-US" sz="1300" dirty="0"/>
          </a:p>
          <a:p>
            <a:pPr indent="0" marL="0">
              <a:buNone/>
            </a:pPr>
            <a:r>
              <a:rPr lang="en-US" sz="1300" dirty="0">
                <a:solidFill>
                  <a:srgbClr val="1E1E3A"/>
                </a:solidFill>
                <a:latin typeface="Calibri" pitchFamily="34" charset="0"/>
                <a:ea typeface="Calibri" pitchFamily="34" charset="-122"/>
                <a:cs typeface="Calibri" pitchFamily="34" charset="-120"/>
              </a:rPr>
              <a:t>grid, targets &amp; OKRs,</a:t>
            </a:r>
            <a:endParaRPr lang="en-US" sz="1300" dirty="0"/>
          </a:p>
          <a:p>
            <a:pPr indent="0" marL="0">
              <a:buNone/>
            </a:pPr>
            <a:r>
              <a:rPr lang="en-US" sz="1300" dirty="0">
                <a:solidFill>
                  <a:srgbClr val="1E1E3A"/>
                </a:solidFill>
                <a:latin typeface="Calibri" pitchFamily="34" charset="0"/>
                <a:ea typeface="Calibri" pitchFamily="34" charset="-122"/>
                <a:cs typeface="Calibri" pitchFamily="34" charset="-120"/>
              </a:rPr>
              <a:t>AI conversation coach</a:t>
            </a:r>
            <a:endParaRPr lang="en-US" sz="1300" dirty="0"/>
          </a:p>
        </p:txBody>
      </p:sp>
      <p:sp>
        <p:nvSpPr>
          <p:cNvPr id="13" name="Shape 11"/>
          <p:cNvSpPr/>
          <p:nvPr/>
        </p:nvSpPr>
        <p:spPr>
          <a:xfrm>
            <a:off x="365760" y="2788920"/>
            <a:ext cx="4023360" cy="2011680"/>
          </a:xfrm>
          <a:prstGeom prst="rect">
            <a:avLst/>
          </a:prstGeom>
          <a:solidFill>
            <a:srgbClr val="F8F9FD"/>
          </a:solidFill>
          <a:ln w="12700">
            <a:solidFill>
              <a:srgbClr val="CCCCCC"/>
            </a:solidFill>
            <a:prstDash val="solid"/>
          </a:ln>
        </p:spPr>
      </p:sp>
      <p:sp>
        <p:nvSpPr>
          <p:cNvPr id="14" name="Shape 12"/>
          <p:cNvSpPr/>
          <p:nvPr/>
        </p:nvSpPr>
        <p:spPr>
          <a:xfrm>
            <a:off x="365760" y="2788920"/>
            <a:ext cx="4023360" cy="201168"/>
          </a:xfrm>
          <a:prstGeom prst="rect">
            <a:avLst/>
          </a:prstGeom>
          <a:solidFill>
            <a:srgbClr val="9B1FBF"/>
          </a:solidFill>
          <a:ln w="12700">
            <a:solidFill>
              <a:srgbClr val="9B1FBF"/>
            </a:solidFill>
            <a:prstDash val="solid"/>
          </a:ln>
        </p:spPr>
      </p:sp>
      <p:sp>
        <p:nvSpPr>
          <p:cNvPr id="15" name="Text 13"/>
          <p:cNvSpPr/>
          <p:nvPr/>
        </p:nvSpPr>
        <p:spPr>
          <a:xfrm>
            <a:off x="502920" y="3035808"/>
            <a:ext cx="3749040" cy="365760"/>
          </a:xfrm>
          <a:prstGeom prst="rect">
            <a:avLst/>
          </a:prstGeom>
          <a:noFill/>
          <a:ln/>
        </p:spPr>
        <p:txBody>
          <a:bodyPr wrap="square" rtlCol="0" anchor="ctr"/>
          <a:lstStyle/>
          <a:p>
            <a:pPr indent="0" marL="0">
              <a:buNone/>
            </a:pPr>
            <a:r>
              <a:rPr lang="en-US" sz="1800" b="1" dirty="0">
                <a:solidFill>
                  <a:srgbClr val="9B1FBF"/>
                </a:solidFill>
                <a:latin typeface="Trebuchet MS" pitchFamily="34" charset="0"/>
                <a:ea typeface="Trebuchet MS" pitchFamily="34" charset="-122"/>
                <a:cs typeface="Trebuchet MS" pitchFamily="34" charset="-120"/>
              </a:rPr>
              <a:t>Boost!Pulse</a:t>
            </a:r>
            <a:endParaRPr lang="en-US" sz="1800" dirty="0"/>
          </a:p>
        </p:txBody>
      </p:sp>
      <p:sp>
        <p:nvSpPr>
          <p:cNvPr id="16" name="Text 14"/>
          <p:cNvSpPr/>
          <p:nvPr/>
        </p:nvSpPr>
        <p:spPr>
          <a:xfrm>
            <a:off x="502920" y="3410712"/>
            <a:ext cx="3749040" cy="1280160"/>
          </a:xfrm>
          <a:prstGeom prst="rect">
            <a:avLst/>
          </a:prstGeom>
          <a:noFill/>
          <a:ln/>
        </p:spPr>
        <p:txBody>
          <a:bodyPr wrap="square" rtlCol="0" anchor="t"/>
          <a:lstStyle/>
          <a:p>
            <a:pPr indent="0" marL="0">
              <a:buNone/>
            </a:pPr>
            <a:r>
              <a:rPr lang="en-US" sz="1300" dirty="0">
                <a:solidFill>
                  <a:srgbClr val="1E1E3A"/>
                </a:solidFill>
                <a:latin typeface="Calibri" pitchFamily="34" charset="0"/>
                <a:ea typeface="Calibri" pitchFamily="34" charset="-122"/>
                <a:cs typeface="Calibri" pitchFamily="34" charset="-120"/>
              </a:rPr>
              <a:t>Employee surveys,</a:t>
            </a:r>
            <a:endParaRPr lang="en-US" sz="1300" dirty="0"/>
          </a:p>
          <a:p>
            <a:pPr indent="0" marL="0">
              <a:buNone/>
            </a:pPr>
            <a:r>
              <a:rPr lang="en-US" sz="1300" dirty="0">
                <a:solidFill>
                  <a:srgbClr val="1E1E3A"/>
                </a:solidFill>
                <a:latin typeface="Calibri" pitchFamily="34" charset="0"/>
                <a:ea typeface="Calibri" pitchFamily="34" charset="-122"/>
                <a:cs typeface="Calibri" pitchFamily="34" charset="-120"/>
              </a:rPr>
              <a:t>engagement analytics,</a:t>
            </a:r>
            <a:endParaRPr lang="en-US" sz="1300" dirty="0"/>
          </a:p>
          <a:p>
            <a:pPr indent="0" marL="0">
              <a:buNone/>
            </a:pPr>
            <a:r>
              <a:rPr lang="en-US" sz="1300" dirty="0">
                <a:solidFill>
                  <a:srgbClr val="1E1E3A"/>
                </a:solidFill>
                <a:latin typeface="Calibri" pitchFamily="34" charset="0"/>
                <a:ea typeface="Calibri" pitchFamily="34" charset="-122"/>
                <a:cs typeface="Calibri" pitchFamily="34" charset="-120"/>
              </a:rPr>
              <a:t>anonymity-protected results</a:t>
            </a:r>
            <a:endParaRPr lang="en-US" sz="1300" dirty="0"/>
          </a:p>
        </p:txBody>
      </p:sp>
      <p:sp>
        <p:nvSpPr>
          <p:cNvPr id="17" name="Shape 15"/>
          <p:cNvSpPr/>
          <p:nvPr/>
        </p:nvSpPr>
        <p:spPr>
          <a:xfrm>
            <a:off x="4754880" y="2788920"/>
            <a:ext cx="4023360" cy="2011680"/>
          </a:xfrm>
          <a:prstGeom prst="rect">
            <a:avLst/>
          </a:prstGeom>
          <a:solidFill>
            <a:srgbClr val="F8F9FD"/>
          </a:solidFill>
          <a:ln w="12700">
            <a:solidFill>
              <a:srgbClr val="CCCCCC"/>
            </a:solidFill>
            <a:prstDash val="solid"/>
          </a:ln>
        </p:spPr>
      </p:sp>
      <p:sp>
        <p:nvSpPr>
          <p:cNvPr id="18" name="Shape 16"/>
          <p:cNvSpPr/>
          <p:nvPr/>
        </p:nvSpPr>
        <p:spPr>
          <a:xfrm>
            <a:off x="4754880" y="2788920"/>
            <a:ext cx="4023360" cy="201168"/>
          </a:xfrm>
          <a:prstGeom prst="rect">
            <a:avLst/>
          </a:prstGeom>
          <a:solidFill>
            <a:srgbClr val="0F1F5C"/>
          </a:solidFill>
          <a:ln w="12700">
            <a:solidFill>
              <a:srgbClr val="0F1F5C"/>
            </a:solidFill>
            <a:prstDash val="solid"/>
          </a:ln>
        </p:spPr>
      </p:sp>
      <p:sp>
        <p:nvSpPr>
          <p:cNvPr id="19" name="Text 17"/>
          <p:cNvSpPr/>
          <p:nvPr/>
        </p:nvSpPr>
        <p:spPr>
          <a:xfrm>
            <a:off x="4892040" y="3035808"/>
            <a:ext cx="3749040" cy="365760"/>
          </a:xfrm>
          <a:prstGeom prst="rect">
            <a:avLst/>
          </a:prstGeom>
          <a:noFill/>
          <a:ln/>
        </p:spPr>
        <p:txBody>
          <a:bodyPr wrap="square" rtlCol="0" anchor="ctr"/>
          <a:lstStyle/>
          <a:p>
            <a:pPr indent="0" marL="0">
              <a:buNone/>
            </a:pPr>
            <a:r>
              <a:rPr lang="en-US" sz="1800" b="1" dirty="0">
                <a:solidFill>
                  <a:srgbClr val="0F1F5C"/>
                </a:solidFill>
                <a:latin typeface="Trebuchet MS" pitchFamily="34" charset="0"/>
                <a:ea typeface="Trebuchet MS" pitchFamily="34" charset="-122"/>
                <a:cs typeface="Trebuchet MS" pitchFamily="34" charset="-120"/>
              </a:rPr>
              <a:t>Boost!Learn</a:t>
            </a:r>
            <a:endParaRPr lang="en-US" sz="1800" dirty="0"/>
          </a:p>
        </p:txBody>
      </p:sp>
      <p:sp>
        <p:nvSpPr>
          <p:cNvPr id="20" name="Text 18"/>
          <p:cNvSpPr/>
          <p:nvPr/>
        </p:nvSpPr>
        <p:spPr>
          <a:xfrm>
            <a:off x="4892040" y="3410712"/>
            <a:ext cx="3749040" cy="1280160"/>
          </a:xfrm>
          <a:prstGeom prst="rect">
            <a:avLst/>
          </a:prstGeom>
          <a:noFill/>
          <a:ln/>
        </p:spPr>
        <p:txBody>
          <a:bodyPr wrap="square" rtlCol="0" anchor="t"/>
          <a:lstStyle/>
          <a:p>
            <a:pPr indent="0" marL="0">
              <a:buNone/>
            </a:pPr>
            <a:r>
              <a:rPr lang="en-US" sz="1300" dirty="0">
                <a:solidFill>
                  <a:srgbClr val="1E1E3A"/>
                </a:solidFill>
                <a:latin typeface="Calibri" pitchFamily="34" charset="0"/>
                <a:ea typeface="Calibri" pitchFamily="34" charset="-122"/>
                <a:cs typeface="Calibri" pitchFamily="34" charset="-120"/>
              </a:rPr>
              <a:t>Course catalog, certifications</a:t>
            </a:r>
            <a:endParaRPr lang="en-US" sz="1300" dirty="0"/>
          </a:p>
          <a:p>
            <a:pPr indent="0" marL="0">
              <a:buNone/>
            </a:pPr>
            <a:r>
              <a:rPr lang="en-US" sz="1300" dirty="0">
                <a:solidFill>
                  <a:srgbClr val="1E1E3A"/>
                </a:solidFill>
                <a:latin typeface="Calibri" pitchFamily="34" charset="0"/>
                <a:ea typeface="Calibri" pitchFamily="34" charset="-122"/>
                <a:cs typeface="Calibri" pitchFamily="34" charset="-120"/>
              </a:rPr>
              <a:t>via Certifiably, TalentLMS</a:t>
            </a:r>
            <a:endParaRPr lang="en-US" sz="1300" dirty="0"/>
          </a:p>
          <a:p>
            <a:pPr indent="0" marL="0">
              <a:buNone/>
            </a:pPr>
            <a:r>
              <a:rPr lang="en-US" sz="1300" dirty="0">
                <a:solidFill>
                  <a:srgbClr val="1E1E3A"/>
                </a:solidFill>
                <a:latin typeface="Calibri" pitchFamily="34" charset="0"/>
                <a:ea typeface="Calibri" pitchFamily="34" charset="-122"/>
                <a:cs typeface="Calibri" pitchFamily="34" charset="-120"/>
              </a:rPr>
              <a:t>integration, AI recommendations</a:t>
            </a:r>
            <a:endParaRPr lang="en-US" sz="1300" dirty="0"/>
          </a:p>
        </p:txBody>
      </p:sp>
      <p:sp>
        <p:nvSpPr>
          <p:cNvPr id="21" name="Shape 19"/>
          <p:cNvSpPr/>
          <p:nvPr/>
        </p:nvSpPr>
        <p:spPr>
          <a:xfrm>
            <a:off x="0" y="4887468"/>
            <a:ext cx="9144000" cy="256032"/>
          </a:xfrm>
          <a:prstGeom prst="rect">
            <a:avLst/>
          </a:prstGeom>
          <a:solidFill>
            <a:srgbClr val="0F1F5C"/>
          </a:solidFill>
          <a:ln w="12700">
            <a:solidFill>
              <a:srgbClr val="0F1F5C"/>
            </a:solidFill>
            <a:prstDash val="solid"/>
          </a:ln>
        </p:spPr>
      </p:sp>
      <p:sp>
        <p:nvSpPr>
          <p:cNvPr id="22" name="Text 20"/>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23" name="Text 21"/>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OUR CLIENTS</a:t>
            </a:r>
            <a:endParaRPr lang="en-US" sz="1400" dirty="0"/>
          </a:p>
        </p:txBody>
      </p:sp>
      <p:sp>
        <p:nvSpPr>
          <p:cNvPr id="5" name="Text 3"/>
          <p:cNvSpPr/>
          <p:nvPr/>
        </p:nvSpPr>
        <p:spPr>
          <a:xfrm>
            <a:off x="457200" y="576072"/>
            <a:ext cx="8229600" cy="365760"/>
          </a:xfrm>
          <a:prstGeom prst="rect">
            <a:avLst/>
          </a:prstGeom>
          <a:noFill/>
          <a:ln/>
        </p:spPr>
        <p:txBody>
          <a:bodyPr wrap="square" rtlCol="0" anchor="ctr"/>
          <a:lstStyle/>
          <a:p>
            <a:pPr indent="0" marL="0">
              <a:buNone/>
            </a:pPr>
            <a:r>
              <a:rPr lang="en-US" sz="2000" b="1" dirty="0">
                <a:solidFill>
                  <a:srgbClr val="0F1F5C"/>
                </a:solidFill>
                <a:latin typeface="Trebuchet MS" pitchFamily="34" charset="0"/>
                <a:ea typeface="Trebuchet MS" pitchFamily="34" charset="-122"/>
                <a:cs typeface="Trebuchet MS" pitchFamily="34" charset="-120"/>
              </a:rPr>
              <a:t>Target Market Profile</a:t>
            </a:r>
            <a:endParaRPr lang="en-US" sz="2000" dirty="0"/>
          </a:p>
        </p:txBody>
      </p:sp>
      <p:sp>
        <p:nvSpPr>
          <p:cNvPr id="6" name="Text 4"/>
          <p:cNvSpPr/>
          <p:nvPr/>
        </p:nvSpPr>
        <p:spPr>
          <a:xfrm>
            <a:off x="457200" y="987552"/>
            <a:ext cx="8229600" cy="640080"/>
          </a:xfrm>
          <a:prstGeom prst="rect">
            <a:avLst/>
          </a:prstGeom>
          <a:noFill/>
          <a:ln/>
        </p:spPr>
        <p:txBody>
          <a:bodyPr wrap="square" rtlCol="0" anchor="t"/>
          <a:lstStyle/>
          <a:p>
            <a:pPr indent="0" marL="0">
              <a:buNone/>
            </a:pPr>
            <a:r>
              <a:rPr lang="en-US" sz="1400" dirty="0">
                <a:solidFill>
                  <a:srgbClr val="1E1E3A"/>
                </a:solidFill>
                <a:latin typeface="Calibri" pitchFamily="34" charset="0"/>
                <a:ea typeface="Calibri" pitchFamily="34" charset="-122"/>
                <a:cs typeface="Calibri" pitchFamily="34" charset="-120"/>
              </a:rPr>
              <a:t>Employers with 10–100 employees across industries including nonprofit, healthcare, education, and consulting. Organizations with limited HR bandwidth that need enterprise tools at SMB price points.</a:t>
            </a:r>
            <a:endParaRPr lang="en-US" sz="1400" dirty="0"/>
          </a:p>
        </p:txBody>
      </p:sp>
      <p:sp>
        <p:nvSpPr>
          <p:cNvPr id="7" name="Text 5"/>
          <p:cNvSpPr/>
          <p:nvPr/>
        </p:nvSpPr>
        <p:spPr>
          <a:xfrm>
            <a:off x="457200" y="1691640"/>
            <a:ext cx="8229600" cy="347472"/>
          </a:xfrm>
          <a:prstGeom prst="rect">
            <a:avLst/>
          </a:prstGeom>
          <a:noFill/>
          <a:ln/>
        </p:spPr>
        <p:txBody>
          <a:bodyPr wrap="square" rtlCol="0" anchor="ctr"/>
          <a:lstStyle/>
          <a:p>
            <a:pPr indent="0" marL="0">
              <a:buNone/>
            </a:pPr>
            <a:r>
              <a:rPr lang="en-US" sz="1800" b="1" dirty="0">
                <a:solidFill>
                  <a:srgbClr val="0F1F5C"/>
                </a:solidFill>
                <a:latin typeface="Trebuchet MS" pitchFamily="34" charset="0"/>
                <a:ea typeface="Trebuchet MS" pitchFamily="34" charset="-122"/>
                <a:cs typeface="Trebuchet MS" pitchFamily="34" charset="-120"/>
              </a:rPr>
              <a:t>Founding Clients</a:t>
            </a:r>
            <a:endParaRPr lang="en-US" sz="1800" dirty="0"/>
          </a:p>
        </p:txBody>
      </p:sp>
      <p:sp>
        <p:nvSpPr>
          <p:cNvPr id="8" name="Shape 6"/>
          <p:cNvSpPr/>
          <p:nvPr/>
        </p:nvSpPr>
        <p:spPr>
          <a:xfrm>
            <a:off x="365760" y="2084832"/>
            <a:ext cx="2606040" cy="1508760"/>
          </a:xfrm>
          <a:prstGeom prst="rect">
            <a:avLst/>
          </a:prstGeom>
          <a:solidFill>
            <a:srgbClr val="F2F4FA"/>
          </a:solidFill>
          <a:ln w="12700">
            <a:solidFill>
              <a:srgbClr val="CCCCCC"/>
            </a:solidFill>
            <a:prstDash val="solid"/>
          </a:ln>
        </p:spPr>
      </p:sp>
      <p:sp>
        <p:nvSpPr>
          <p:cNvPr id="9" name="Shape 7"/>
          <p:cNvSpPr/>
          <p:nvPr/>
        </p:nvSpPr>
        <p:spPr>
          <a:xfrm>
            <a:off x="365760" y="2084832"/>
            <a:ext cx="2606040" cy="164592"/>
          </a:xfrm>
          <a:prstGeom prst="rect">
            <a:avLst/>
          </a:prstGeom>
          <a:solidFill>
            <a:srgbClr val="F7941D"/>
          </a:solidFill>
          <a:ln w="12700">
            <a:solidFill>
              <a:srgbClr val="F7941D"/>
            </a:solidFill>
            <a:prstDash val="solid"/>
          </a:ln>
        </p:spPr>
      </p:sp>
      <p:sp>
        <p:nvSpPr>
          <p:cNvPr id="10" name="Text 8"/>
          <p:cNvSpPr/>
          <p:nvPr/>
        </p:nvSpPr>
        <p:spPr>
          <a:xfrm>
            <a:off x="457200" y="2286000"/>
            <a:ext cx="2423160" cy="502920"/>
          </a:xfrm>
          <a:prstGeom prst="rect">
            <a:avLst/>
          </a:prstGeom>
          <a:noFill/>
          <a:ln/>
        </p:spPr>
        <p:txBody>
          <a:bodyPr wrap="square" rtlCol="0" anchor="t"/>
          <a:lstStyle/>
          <a:p>
            <a:pPr indent="0" marL="0">
              <a:buNone/>
            </a:pPr>
            <a:r>
              <a:rPr lang="en-US" sz="1400" b="1" dirty="0">
                <a:solidFill>
                  <a:srgbClr val="0F1F5C"/>
                </a:solidFill>
                <a:latin typeface="Trebuchet MS" pitchFamily="34" charset="0"/>
                <a:ea typeface="Trebuchet MS" pitchFamily="34" charset="-122"/>
                <a:cs typeface="Trebuchet MS" pitchFamily="34" charset="-120"/>
              </a:rPr>
              <a:t>CCCOEO</a:t>
            </a:r>
            <a:endParaRPr lang="en-US" sz="1400" dirty="0"/>
          </a:p>
        </p:txBody>
      </p:sp>
      <p:sp>
        <p:nvSpPr>
          <p:cNvPr id="11" name="Text 9"/>
          <p:cNvSpPr/>
          <p:nvPr/>
        </p:nvSpPr>
        <p:spPr>
          <a:xfrm>
            <a:off x="457200" y="2816352"/>
            <a:ext cx="2423160" cy="685800"/>
          </a:xfrm>
          <a:prstGeom prst="rect">
            <a:avLst/>
          </a:prstGeom>
          <a:noFill/>
          <a:ln/>
        </p:spPr>
        <p:txBody>
          <a:bodyPr wrap="square" rtlCol="0" anchor="t"/>
          <a:lstStyle/>
          <a:p>
            <a:pPr indent="0" marL="0">
              <a:buNone/>
            </a:pPr>
            <a:r>
              <a:rPr lang="en-US" sz="1200" dirty="0">
                <a:solidFill>
                  <a:srgbClr val="1E1E3A"/>
                </a:solidFill>
                <a:latin typeface="Calibri" pitchFamily="34" charset="0"/>
                <a:ea typeface="Calibri" pitchFamily="34" charset="-122"/>
                <a:cs typeface="Calibri" pitchFamily="34" charset="-120"/>
              </a:rPr>
              <a:t>Community college consortium</a:t>
            </a:r>
            <a:endParaRPr lang="en-US" sz="1200" dirty="0"/>
          </a:p>
          <a:p>
            <a:pPr indent="0" marL="0">
              <a:buNone/>
            </a:pPr>
            <a:r>
              <a:rPr lang="en-US" sz="1200" dirty="0">
                <a:solidFill>
                  <a:srgbClr val="1E1E3A"/>
                </a:solidFill>
                <a:latin typeface="Calibri" pitchFamily="34" charset="0"/>
                <a:ea typeface="Calibri" pitchFamily="34" charset="-122"/>
                <a:cs typeface="Calibri" pitchFamily="34" charset="-120"/>
              </a:rPr>
              <a:t>HR &amp; workforce development</a:t>
            </a:r>
            <a:endParaRPr lang="en-US" sz="1200" dirty="0"/>
          </a:p>
        </p:txBody>
      </p:sp>
      <p:sp>
        <p:nvSpPr>
          <p:cNvPr id="12" name="Shape 10"/>
          <p:cNvSpPr/>
          <p:nvPr/>
        </p:nvSpPr>
        <p:spPr>
          <a:xfrm>
            <a:off x="3200400" y="2084832"/>
            <a:ext cx="2606040" cy="1508760"/>
          </a:xfrm>
          <a:prstGeom prst="rect">
            <a:avLst/>
          </a:prstGeom>
          <a:solidFill>
            <a:srgbClr val="F2F4FA"/>
          </a:solidFill>
          <a:ln w="12700">
            <a:solidFill>
              <a:srgbClr val="CCCCCC"/>
            </a:solidFill>
            <a:prstDash val="solid"/>
          </a:ln>
        </p:spPr>
      </p:sp>
      <p:sp>
        <p:nvSpPr>
          <p:cNvPr id="13" name="Shape 11"/>
          <p:cNvSpPr/>
          <p:nvPr/>
        </p:nvSpPr>
        <p:spPr>
          <a:xfrm>
            <a:off x="3200400" y="2084832"/>
            <a:ext cx="2606040" cy="164592"/>
          </a:xfrm>
          <a:prstGeom prst="rect">
            <a:avLst/>
          </a:prstGeom>
          <a:solidFill>
            <a:srgbClr val="F7941D"/>
          </a:solidFill>
          <a:ln w="12700">
            <a:solidFill>
              <a:srgbClr val="F7941D"/>
            </a:solidFill>
            <a:prstDash val="solid"/>
          </a:ln>
        </p:spPr>
      </p:sp>
      <p:sp>
        <p:nvSpPr>
          <p:cNvPr id="14" name="Text 12"/>
          <p:cNvSpPr/>
          <p:nvPr/>
        </p:nvSpPr>
        <p:spPr>
          <a:xfrm>
            <a:off x="3291840" y="2286000"/>
            <a:ext cx="2423160" cy="502920"/>
          </a:xfrm>
          <a:prstGeom prst="rect">
            <a:avLst/>
          </a:prstGeom>
          <a:noFill/>
          <a:ln/>
        </p:spPr>
        <p:txBody>
          <a:bodyPr wrap="square" rtlCol="0" anchor="t"/>
          <a:lstStyle/>
          <a:p>
            <a:pPr indent="0" marL="0">
              <a:buNone/>
            </a:pPr>
            <a:r>
              <a:rPr lang="en-US" sz="1400" b="1" dirty="0">
                <a:solidFill>
                  <a:srgbClr val="0F1F5C"/>
                </a:solidFill>
                <a:latin typeface="Trebuchet MS" pitchFamily="34" charset="0"/>
                <a:ea typeface="Trebuchet MS" pitchFamily="34" charset="-122"/>
                <a:cs typeface="Trebuchet MS" pitchFamily="34" charset="-120"/>
              </a:rPr>
              <a:t>CCCC Mental Health</a:t>
            </a:r>
            <a:endParaRPr lang="en-US" sz="1400" dirty="0"/>
          </a:p>
          <a:p>
            <a:pPr indent="0" marL="0">
              <a:buNone/>
            </a:pPr>
            <a:r>
              <a:rPr lang="en-US" sz="1400" b="1" dirty="0">
                <a:solidFill>
                  <a:srgbClr val="0F1F5C"/>
                </a:solidFill>
                <a:latin typeface="Trebuchet MS" pitchFamily="34" charset="0"/>
                <a:ea typeface="Trebuchet MS" pitchFamily="34" charset="-122"/>
                <a:cs typeface="Trebuchet MS" pitchFamily="34" charset="-120"/>
              </a:rPr>
              <a:t>Consulting</a:t>
            </a:r>
            <a:endParaRPr lang="en-US" sz="1400" dirty="0"/>
          </a:p>
        </p:txBody>
      </p:sp>
      <p:sp>
        <p:nvSpPr>
          <p:cNvPr id="15" name="Text 13"/>
          <p:cNvSpPr/>
          <p:nvPr/>
        </p:nvSpPr>
        <p:spPr>
          <a:xfrm>
            <a:off x="3291840" y="2816352"/>
            <a:ext cx="2423160" cy="685800"/>
          </a:xfrm>
          <a:prstGeom prst="rect">
            <a:avLst/>
          </a:prstGeom>
          <a:noFill/>
          <a:ln/>
        </p:spPr>
        <p:txBody>
          <a:bodyPr wrap="square" rtlCol="0" anchor="t"/>
          <a:lstStyle/>
          <a:p>
            <a:pPr indent="0" marL="0">
              <a:buNone/>
            </a:pPr>
            <a:r>
              <a:rPr lang="en-US" sz="1200" dirty="0">
                <a:solidFill>
                  <a:srgbClr val="1E1E3A"/>
                </a:solidFill>
                <a:latin typeface="Calibri" pitchFamily="34" charset="0"/>
                <a:ea typeface="Calibri" pitchFamily="34" charset="-122"/>
                <a:cs typeface="Calibri" pitchFamily="34" charset="-120"/>
              </a:rPr>
              <a:t>Behavioral health organization</a:t>
            </a:r>
            <a:endParaRPr lang="en-US" sz="1200" dirty="0"/>
          </a:p>
          <a:p>
            <a:pPr indent="0" marL="0">
              <a:buNone/>
            </a:pPr>
            <a:r>
              <a:rPr lang="en-US" sz="1200" dirty="0">
                <a:solidFill>
                  <a:srgbClr val="1E1E3A"/>
                </a:solidFill>
                <a:latin typeface="Calibri" pitchFamily="34" charset="0"/>
                <a:ea typeface="Calibri" pitchFamily="34" charset="-122"/>
                <a:cs typeface="Calibri" pitchFamily="34" charset="-120"/>
              </a:rPr>
              <a:t>performance &amp; training focus</a:t>
            </a:r>
            <a:endParaRPr lang="en-US" sz="1200" dirty="0"/>
          </a:p>
        </p:txBody>
      </p:sp>
      <p:sp>
        <p:nvSpPr>
          <p:cNvPr id="16" name="Shape 14"/>
          <p:cNvSpPr/>
          <p:nvPr/>
        </p:nvSpPr>
        <p:spPr>
          <a:xfrm>
            <a:off x="6035040" y="2084832"/>
            <a:ext cx="2606040" cy="1508760"/>
          </a:xfrm>
          <a:prstGeom prst="rect">
            <a:avLst/>
          </a:prstGeom>
          <a:solidFill>
            <a:srgbClr val="F2F4FA"/>
          </a:solidFill>
          <a:ln w="12700">
            <a:solidFill>
              <a:srgbClr val="CCCCCC"/>
            </a:solidFill>
            <a:prstDash val="solid"/>
          </a:ln>
        </p:spPr>
      </p:sp>
      <p:sp>
        <p:nvSpPr>
          <p:cNvPr id="17" name="Shape 15"/>
          <p:cNvSpPr/>
          <p:nvPr/>
        </p:nvSpPr>
        <p:spPr>
          <a:xfrm>
            <a:off x="6035040" y="2084832"/>
            <a:ext cx="2606040" cy="164592"/>
          </a:xfrm>
          <a:prstGeom prst="rect">
            <a:avLst/>
          </a:prstGeom>
          <a:solidFill>
            <a:srgbClr val="F7941D"/>
          </a:solidFill>
          <a:ln w="12700">
            <a:solidFill>
              <a:srgbClr val="F7941D"/>
            </a:solidFill>
            <a:prstDash val="solid"/>
          </a:ln>
        </p:spPr>
      </p:sp>
      <p:sp>
        <p:nvSpPr>
          <p:cNvPr id="18" name="Text 16"/>
          <p:cNvSpPr/>
          <p:nvPr/>
        </p:nvSpPr>
        <p:spPr>
          <a:xfrm>
            <a:off x="6126480" y="2286000"/>
            <a:ext cx="2423160" cy="502920"/>
          </a:xfrm>
          <a:prstGeom prst="rect">
            <a:avLst/>
          </a:prstGeom>
          <a:noFill/>
          <a:ln/>
        </p:spPr>
        <p:txBody>
          <a:bodyPr wrap="square" rtlCol="0" anchor="t"/>
          <a:lstStyle/>
          <a:p>
            <a:pPr indent="0" marL="0">
              <a:buNone/>
            </a:pPr>
            <a:r>
              <a:rPr lang="en-US" sz="1400" b="1" dirty="0">
                <a:solidFill>
                  <a:srgbClr val="0F1F5C"/>
                </a:solidFill>
                <a:latin typeface="Trebuchet MS" pitchFamily="34" charset="0"/>
                <a:ea typeface="Trebuchet MS" pitchFamily="34" charset="-122"/>
                <a:cs typeface="Trebuchet MS" pitchFamily="34" charset="-120"/>
              </a:rPr>
              <a:t>Eskaton</a:t>
            </a:r>
            <a:endParaRPr lang="en-US" sz="1400" dirty="0"/>
          </a:p>
          <a:p>
            <a:pPr indent="0" marL="0">
              <a:buNone/>
            </a:pPr>
            <a:r>
              <a:rPr lang="en-US" sz="1400" b="1" dirty="0">
                <a:solidFill>
                  <a:srgbClr val="0F1F5C"/>
                </a:solidFill>
                <a:latin typeface="Trebuchet MS" pitchFamily="34" charset="0"/>
                <a:ea typeface="Trebuchet MS" pitchFamily="34" charset="-122"/>
                <a:cs typeface="Trebuchet MS" pitchFamily="34" charset="-120"/>
              </a:rPr>
              <a:t>Consulting</a:t>
            </a:r>
            <a:endParaRPr lang="en-US" sz="1400" dirty="0"/>
          </a:p>
        </p:txBody>
      </p:sp>
      <p:sp>
        <p:nvSpPr>
          <p:cNvPr id="19" name="Text 17"/>
          <p:cNvSpPr/>
          <p:nvPr/>
        </p:nvSpPr>
        <p:spPr>
          <a:xfrm>
            <a:off x="6126480" y="2816352"/>
            <a:ext cx="2423160" cy="685800"/>
          </a:xfrm>
          <a:prstGeom prst="rect">
            <a:avLst/>
          </a:prstGeom>
          <a:noFill/>
          <a:ln/>
        </p:spPr>
        <p:txBody>
          <a:bodyPr wrap="square" rtlCol="0" anchor="t"/>
          <a:lstStyle/>
          <a:p>
            <a:pPr indent="0" marL="0">
              <a:buNone/>
            </a:pPr>
            <a:r>
              <a:rPr lang="en-US" sz="1200" dirty="0">
                <a:solidFill>
                  <a:srgbClr val="1E1E3A"/>
                </a:solidFill>
                <a:latin typeface="Calibri" pitchFamily="34" charset="0"/>
                <a:ea typeface="Calibri" pitchFamily="34" charset="-122"/>
                <a:cs typeface="Calibri" pitchFamily="34" charset="-120"/>
              </a:rPr>
              <a:t>Senior services / aging</a:t>
            </a:r>
            <a:endParaRPr lang="en-US" sz="1200" dirty="0"/>
          </a:p>
          <a:p>
            <a:pPr indent="0" marL="0">
              <a:buNone/>
            </a:pPr>
            <a:r>
              <a:rPr lang="en-US" sz="1200" dirty="0">
                <a:solidFill>
                  <a:srgbClr val="1E1E3A"/>
                </a:solidFill>
                <a:latin typeface="Calibri" pitchFamily="34" charset="0"/>
                <a:ea typeface="Calibri" pitchFamily="34" charset="-122"/>
                <a:cs typeface="Calibri" pitchFamily="34" charset="-120"/>
              </a:rPr>
              <a:t>services HR operations</a:t>
            </a:r>
            <a:endParaRPr lang="en-US" sz="1200" dirty="0"/>
          </a:p>
        </p:txBody>
      </p:sp>
      <p:sp>
        <p:nvSpPr>
          <p:cNvPr id="20" name="Shape 18"/>
          <p:cNvSpPr/>
          <p:nvPr/>
        </p:nvSpPr>
        <p:spPr>
          <a:xfrm>
            <a:off x="365760" y="3657600"/>
            <a:ext cx="8412480" cy="594360"/>
          </a:xfrm>
          <a:prstGeom prst="rect">
            <a:avLst/>
          </a:prstGeom>
          <a:solidFill>
            <a:srgbClr val="FFF3E0"/>
          </a:solidFill>
          <a:ln w="12700">
            <a:solidFill>
              <a:srgbClr val="F7941D"/>
            </a:solidFill>
            <a:prstDash val="solid"/>
          </a:ln>
        </p:spPr>
      </p:sp>
      <p:sp>
        <p:nvSpPr>
          <p:cNvPr id="21" name="Text 19"/>
          <p:cNvSpPr/>
          <p:nvPr/>
        </p:nvSpPr>
        <p:spPr>
          <a:xfrm>
            <a:off x="502920" y="3703320"/>
            <a:ext cx="8229600" cy="502920"/>
          </a:xfrm>
          <a:prstGeom prst="rect">
            <a:avLst/>
          </a:prstGeom>
          <a:noFill/>
          <a:ln/>
        </p:spPr>
        <p:txBody>
          <a:bodyPr wrap="square" rtlCol="0" anchor="ctr"/>
          <a:lstStyle/>
          <a:p>
            <a:pPr indent="0" marL="0">
              <a:buNone/>
            </a:pPr>
            <a:r>
              <a:rPr lang="en-US" sz="1300" dirty="0">
                <a:solidFill>
                  <a:srgbClr val="6B3A00"/>
                </a:solidFill>
                <a:latin typeface="Calibri" pitchFamily="34" charset="0"/>
                <a:ea typeface="Calibri" pitchFamily="34" charset="-122"/>
                <a:cs typeface="Calibri" pitchFamily="34" charset="-120"/>
              </a:rPr>
              <a:t>Founding Client Offer: 40% off for 12 months — requires written testimonial upon completion. Applied by BSG Admin in the platform.</a:t>
            </a:r>
            <a:endParaRPr lang="en-US" sz="1300" dirty="0"/>
          </a:p>
        </p:txBody>
      </p:sp>
      <p:sp>
        <p:nvSpPr>
          <p:cNvPr id="22" name="Shape 20"/>
          <p:cNvSpPr/>
          <p:nvPr/>
        </p:nvSpPr>
        <p:spPr>
          <a:xfrm>
            <a:off x="0" y="4887468"/>
            <a:ext cx="9144000" cy="256032"/>
          </a:xfrm>
          <a:prstGeom prst="rect">
            <a:avLst/>
          </a:prstGeom>
          <a:solidFill>
            <a:srgbClr val="0F1F5C"/>
          </a:solidFill>
          <a:ln w="12700">
            <a:solidFill>
              <a:srgbClr val="0F1F5C"/>
            </a:solidFill>
            <a:prstDash val="solid"/>
          </a:ln>
        </p:spPr>
      </p:sp>
      <p:sp>
        <p:nvSpPr>
          <p:cNvPr id="23" name="Text 21"/>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24" name="Text 22"/>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BSG STAFF ROLES &amp; RESPONSIBILITIES</a:t>
            </a:r>
            <a:endParaRPr lang="en-US" sz="1400" dirty="0"/>
          </a:p>
        </p:txBody>
      </p:sp>
      <p:sp>
        <p:nvSpPr>
          <p:cNvPr id="5" name="Shape 3"/>
          <p:cNvSpPr/>
          <p:nvPr/>
        </p:nvSpPr>
        <p:spPr>
          <a:xfrm>
            <a:off x="320040" y="566928"/>
            <a:ext cx="2651760" cy="4206240"/>
          </a:xfrm>
          <a:prstGeom prst="rect">
            <a:avLst/>
          </a:prstGeom>
          <a:solidFill>
            <a:srgbClr val="F8F9FD"/>
          </a:solidFill>
          <a:ln w="12700">
            <a:solidFill>
              <a:srgbClr val="CCCCCC"/>
            </a:solidFill>
            <a:prstDash val="solid"/>
          </a:ln>
        </p:spPr>
      </p:sp>
      <p:sp>
        <p:nvSpPr>
          <p:cNvPr id="6" name="Shape 4"/>
          <p:cNvSpPr/>
          <p:nvPr/>
        </p:nvSpPr>
        <p:spPr>
          <a:xfrm>
            <a:off x="320040" y="566928"/>
            <a:ext cx="2651760" cy="475488"/>
          </a:xfrm>
          <a:prstGeom prst="rect">
            <a:avLst/>
          </a:prstGeom>
          <a:solidFill>
            <a:srgbClr val="F7941D"/>
          </a:solidFill>
          <a:ln w="12700">
            <a:solidFill>
              <a:srgbClr val="F7941D"/>
            </a:solidFill>
            <a:prstDash val="solid"/>
          </a:ln>
        </p:spPr>
      </p:sp>
      <p:sp>
        <p:nvSpPr>
          <p:cNvPr id="7" name="Text 5"/>
          <p:cNvSpPr/>
          <p:nvPr/>
        </p:nvSpPr>
        <p:spPr>
          <a:xfrm>
            <a:off x="411480" y="585216"/>
            <a:ext cx="2468880" cy="438912"/>
          </a:xfrm>
          <a:prstGeom prst="rect">
            <a:avLst/>
          </a:prstGeom>
          <a:noFill/>
          <a:ln/>
        </p:spPr>
        <p:txBody>
          <a:bodyPr wrap="square"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Sales</a:t>
            </a:r>
            <a:endParaRPr lang="en-US" sz="1700" dirty="0"/>
          </a:p>
        </p:txBody>
      </p:sp>
      <p:sp>
        <p:nvSpPr>
          <p:cNvPr id="8" name="Text 6"/>
          <p:cNvSpPr/>
          <p:nvPr/>
        </p:nvSpPr>
        <p:spPr>
          <a:xfrm>
            <a:off x="429768" y="1097280"/>
            <a:ext cx="2450592" cy="3474720"/>
          </a:xfrm>
          <a:prstGeom prst="rect">
            <a:avLst/>
          </a:prstGeom>
          <a:noFill/>
          <a:ln/>
        </p:spPr>
        <p:txBody>
          <a:bodyPr wrap="square" rtlCol="0" anchor="t"/>
          <a:lstStyle/>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Prospect &amp; qualify leads</a:t>
            </a:r>
            <a:endParaRPr lang="en-US" sz="1300" dirty="0"/>
          </a:p>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Conduct discovery calls</a:t>
            </a:r>
            <a:endParaRPr lang="en-US" sz="1300" dirty="0"/>
          </a:p>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Deliver platform demos</a:t>
            </a:r>
            <a:endParaRPr lang="en-US" sz="1300" dirty="0"/>
          </a:p>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Create &amp; present proposals</a:t>
            </a:r>
            <a:endParaRPr lang="en-US" sz="1300" dirty="0"/>
          </a:p>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Close the deal</a:t>
            </a:r>
            <a:endParaRPr lang="en-US" sz="1300" dirty="0"/>
          </a:p>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Hand off to Tech Support</a:t>
            </a:r>
            <a:endParaRPr lang="en-US" sz="1300" dirty="0"/>
          </a:p>
        </p:txBody>
      </p:sp>
      <p:sp>
        <p:nvSpPr>
          <p:cNvPr id="9" name="Shape 7"/>
          <p:cNvSpPr/>
          <p:nvPr/>
        </p:nvSpPr>
        <p:spPr>
          <a:xfrm>
            <a:off x="3172968" y="566928"/>
            <a:ext cx="2651760" cy="4206240"/>
          </a:xfrm>
          <a:prstGeom prst="rect">
            <a:avLst/>
          </a:prstGeom>
          <a:solidFill>
            <a:srgbClr val="F8F9FD"/>
          </a:solidFill>
          <a:ln w="12700">
            <a:solidFill>
              <a:srgbClr val="CCCCCC"/>
            </a:solidFill>
            <a:prstDash val="solid"/>
          </a:ln>
        </p:spPr>
      </p:sp>
      <p:sp>
        <p:nvSpPr>
          <p:cNvPr id="10" name="Shape 8"/>
          <p:cNvSpPr/>
          <p:nvPr/>
        </p:nvSpPr>
        <p:spPr>
          <a:xfrm>
            <a:off x="3172968" y="566928"/>
            <a:ext cx="2651760" cy="475488"/>
          </a:xfrm>
          <a:prstGeom prst="rect">
            <a:avLst/>
          </a:prstGeom>
          <a:solidFill>
            <a:srgbClr val="E8437A"/>
          </a:solidFill>
          <a:ln w="12700">
            <a:solidFill>
              <a:srgbClr val="E8437A"/>
            </a:solidFill>
            <a:prstDash val="solid"/>
          </a:ln>
        </p:spPr>
      </p:sp>
      <p:sp>
        <p:nvSpPr>
          <p:cNvPr id="11" name="Text 9"/>
          <p:cNvSpPr/>
          <p:nvPr/>
        </p:nvSpPr>
        <p:spPr>
          <a:xfrm>
            <a:off x="3264408" y="585216"/>
            <a:ext cx="2468880" cy="438912"/>
          </a:xfrm>
          <a:prstGeom prst="rect">
            <a:avLst/>
          </a:prstGeom>
          <a:noFill/>
          <a:ln/>
        </p:spPr>
        <p:txBody>
          <a:bodyPr wrap="square"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Tech Support</a:t>
            </a:r>
            <a:endParaRPr lang="en-US" sz="1700" dirty="0"/>
          </a:p>
        </p:txBody>
      </p:sp>
      <p:sp>
        <p:nvSpPr>
          <p:cNvPr id="12" name="Text 10"/>
          <p:cNvSpPr/>
          <p:nvPr/>
        </p:nvSpPr>
        <p:spPr>
          <a:xfrm>
            <a:off x="3282696" y="1097280"/>
            <a:ext cx="2450592" cy="3474720"/>
          </a:xfrm>
          <a:prstGeom prst="rect">
            <a:avLst/>
          </a:prstGeom>
          <a:noFill/>
          <a:ln/>
        </p:spPr>
        <p:txBody>
          <a:bodyPr wrap="square" rtlCol="0" anchor="t"/>
          <a:lstStyle/>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Onboard new clients</a:t>
            </a:r>
            <a:endParaRPr lang="en-US" sz="1300" dirty="0"/>
          </a:p>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Configure modules</a:t>
            </a:r>
            <a:endParaRPr lang="en-US" sz="1300" dirty="0"/>
          </a:p>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Train primary contacts</a:t>
            </a:r>
            <a:endParaRPr lang="en-US" sz="1300" dirty="0"/>
          </a:p>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Resolve support tickets</a:t>
            </a:r>
            <a:endParaRPr lang="en-US" sz="1300" dirty="0"/>
          </a:p>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Escalate complex issues</a:t>
            </a:r>
            <a:endParaRPr lang="en-US" sz="1300" dirty="0"/>
          </a:p>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Maintain knowledge base</a:t>
            </a:r>
            <a:endParaRPr lang="en-US" sz="1300" dirty="0"/>
          </a:p>
        </p:txBody>
      </p:sp>
      <p:sp>
        <p:nvSpPr>
          <p:cNvPr id="13" name="Shape 11"/>
          <p:cNvSpPr/>
          <p:nvPr/>
        </p:nvSpPr>
        <p:spPr>
          <a:xfrm>
            <a:off x="6025896" y="566928"/>
            <a:ext cx="2651760" cy="4206240"/>
          </a:xfrm>
          <a:prstGeom prst="rect">
            <a:avLst/>
          </a:prstGeom>
          <a:solidFill>
            <a:srgbClr val="F8F9FD"/>
          </a:solidFill>
          <a:ln w="12700">
            <a:solidFill>
              <a:srgbClr val="CCCCCC"/>
            </a:solidFill>
            <a:prstDash val="solid"/>
          </a:ln>
        </p:spPr>
      </p:sp>
      <p:sp>
        <p:nvSpPr>
          <p:cNvPr id="14" name="Shape 12"/>
          <p:cNvSpPr/>
          <p:nvPr/>
        </p:nvSpPr>
        <p:spPr>
          <a:xfrm>
            <a:off x="6025896" y="566928"/>
            <a:ext cx="2651760" cy="475488"/>
          </a:xfrm>
          <a:prstGeom prst="rect">
            <a:avLst/>
          </a:prstGeom>
          <a:solidFill>
            <a:srgbClr val="0F1F5C"/>
          </a:solidFill>
          <a:ln w="12700">
            <a:solidFill>
              <a:srgbClr val="0F1F5C"/>
            </a:solidFill>
            <a:prstDash val="solid"/>
          </a:ln>
        </p:spPr>
      </p:sp>
      <p:sp>
        <p:nvSpPr>
          <p:cNvPr id="15" name="Text 13"/>
          <p:cNvSpPr/>
          <p:nvPr/>
        </p:nvSpPr>
        <p:spPr>
          <a:xfrm>
            <a:off x="6117336" y="585216"/>
            <a:ext cx="2468880" cy="438912"/>
          </a:xfrm>
          <a:prstGeom prst="rect">
            <a:avLst/>
          </a:prstGeom>
          <a:noFill/>
          <a:ln/>
        </p:spPr>
        <p:txBody>
          <a:bodyPr wrap="square"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Admin</a:t>
            </a:r>
            <a:endParaRPr lang="en-US" sz="1700" dirty="0"/>
          </a:p>
        </p:txBody>
      </p:sp>
      <p:sp>
        <p:nvSpPr>
          <p:cNvPr id="16" name="Text 14"/>
          <p:cNvSpPr/>
          <p:nvPr/>
        </p:nvSpPr>
        <p:spPr>
          <a:xfrm>
            <a:off x="6135624" y="1097280"/>
            <a:ext cx="2450592" cy="3474720"/>
          </a:xfrm>
          <a:prstGeom prst="rect">
            <a:avLst/>
          </a:prstGeom>
          <a:noFill/>
          <a:ln/>
        </p:spPr>
        <p:txBody>
          <a:bodyPr wrap="square" rtlCol="0" anchor="t"/>
          <a:lstStyle/>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Manage Stripe subscriptions</a:t>
            </a:r>
            <a:endParaRPr lang="en-US" sz="1300" dirty="0"/>
          </a:p>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Apply discounts &amp; upgrades</a:t>
            </a:r>
            <a:endParaRPr lang="en-US" sz="1300" dirty="0"/>
          </a:p>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Prepare monthly reporting</a:t>
            </a:r>
            <a:endParaRPr lang="en-US" sz="1300" dirty="0"/>
          </a:p>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Route escalations</a:t>
            </a:r>
            <a:endParaRPr lang="en-US" sz="1300" dirty="0"/>
          </a:p>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Maintain client records</a:t>
            </a:r>
            <a:endParaRPr lang="en-US" sz="1300" dirty="0"/>
          </a:p>
          <a:p>
            <a:pPr marL="342900" indent="-342900">
              <a:spcAft>
                <a:spcPts val="800"/>
              </a:spcAft>
              <a:buSzPct val="100000"/>
              <a:buChar char="•"/>
            </a:pPr>
            <a:r>
              <a:rPr lang="en-US" sz="1300" dirty="0">
                <a:solidFill>
                  <a:srgbClr val="1E1E3A"/>
                </a:solidFill>
                <a:latin typeface="Calibri" pitchFamily="34" charset="0"/>
                <a:ea typeface="Calibri" pitchFamily="34" charset="-122"/>
                <a:cs typeface="Calibri" pitchFamily="34" charset="-120"/>
              </a:rPr>
              <a:t>Communicate platform updates</a:t>
            </a:r>
            <a:endParaRPr lang="en-US" sz="1300" dirty="0"/>
          </a:p>
        </p:txBody>
      </p:sp>
      <p:sp>
        <p:nvSpPr>
          <p:cNvPr id="17" name="Shape 15"/>
          <p:cNvSpPr/>
          <p:nvPr/>
        </p:nvSpPr>
        <p:spPr>
          <a:xfrm>
            <a:off x="0" y="4887468"/>
            <a:ext cx="9144000" cy="256032"/>
          </a:xfrm>
          <a:prstGeom prst="rect">
            <a:avLst/>
          </a:prstGeom>
          <a:solidFill>
            <a:srgbClr val="0F1F5C"/>
          </a:solidFill>
          <a:ln w="12700">
            <a:solidFill>
              <a:srgbClr val="0F1F5C"/>
            </a:solidFill>
            <a:prstDash val="solid"/>
          </a:ln>
        </p:spPr>
      </p:sp>
      <p:sp>
        <p:nvSpPr>
          <p:cNvPr id="18" name="Text 16"/>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9" name="Text 17"/>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F5C"/>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7941D"/>
          </a:solidFill>
          <a:ln w="12700">
            <a:solidFill>
              <a:srgbClr val="F7941D"/>
            </a:solidFill>
            <a:prstDash val="solid"/>
          </a:ln>
        </p:spPr>
      </p:sp>
      <p:sp>
        <p:nvSpPr>
          <p:cNvPr id="3" name="Shape 1"/>
          <p:cNvSpPr/>
          <p:nvPr/>
        </p:nvSpPr>
        <p:spPr>
          <a:xfrm>
            <a:off x="0" y="4722876"/>
            <a:ext cx="3200400" cy="164592"/>
          </a:xfrm>
          <a:prstGeom prst="rect">
            <a:avLst/>
          </a:prstGeom>
          <a:solidFill>
            <a:srgbClr val="F7941D"/>
          </a:solidFill>
          <a:ln w="12700">
            <a:solidFill>
              <a:srgbClr val="F7941D"/>
            </a:solidFill>
            <a:prstDash val="solid"/>
          </a:ln>
        </p:spPr>
      </p:sp>
      <p:sp>
        <p:nvSpPr>
          <p:cNvPr id="4" name="Text 2"/>
          <p:cNvSpPr/>
          <p:nvPr/>
        </p:nvSpPr>
        <p:spPr>
          <a:xfrm>
            <a:off x="640080" y="1280160"/>
            <a:ext cx="8229600" cy="365760"/>
          </a:xfrm>
          <a:prstGeom prst="rect">
            <a:avLst/>
          </a:prstGeom>
          <a:noFill/>
          <a:ln/>
        </p:spPr>
        <p:txBody>
          <a:bodyPr wrap="square" rtlCol="0" anchor="ctr"/>
          <a:lstStyle/>
          <a:p>
            <a:pPr indent="0" marL="0">
              <a:buNone/>
            </a:pPr>
            <a:r>
              <a:rPr lang="en-US" sz="1400" b="1" spc="400" kern="0" dirty="0">
                <a:solidFill>
                  <a:srgbClr val="F7941D"/>
                </a:solidFill>
                <a:latin typeface="Calibri" pitchFamily="34" charset="0"/>
                <a:ea typeface="Calibri" pitchFamily="34" charset="-122"/>
                <a:cs typeface="Calibri" pitchFamily="34" charset="-120"/>
              </a:rPr>
              <a:t>SECTION 2</a:t>
            </a:r>
            <a:endParaRPr lang="en-US" sz="1400" dirty="0"/>
          </a:p>
        </p:txBody>
      </p:sp>
      <p:sp>
        <p:nvSpPr>
          <p:cNvPr id="5" name="Text 3"/>
          <p:cNvSpPr/>
          <p:nvPr/>
        </p:nvSpPr>
        <p:spPr>
          <a:xfrm>
            <a:off x="640080" y="1691640"/>
            <a:ext cx="8229600" cy="1005840"/>
          </a:xfrm>
          <a:prstGeom prst="rect">
            <a:avLst/>
          </a:prstGeom>
          <a:noFill/>
          <a:ln/>
        </p:spPr>
        <p:txBody>
          <a:bodyPr wrap="square"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PLATFORM NAVIGATION</a:t>
            </a:r>
            <a:endParaRPr lang="en-US" sz="3800" dirty="0"/>
          </a:p>
        </p:txBody>
      </p:sp>
      <p:sp>
        <p:nvSpPr>
          <p:cNvPr id="6" name="Text 4"/>
          <p:cNvSpPr/>
          <p:nvPr/>
        </p:nvSpPr>
        <p:spPr>
          <a:xfrm>
            <a:off x="640080" y="2743200"/>
            <a:ext cx="8229600" cy="548640"/>
          </a:xfrm>
          <a:prstGeom prst="rect">
            <a:avLst/>
          </a:prstGeom>
          <a:noFill/>
          <a:ln/>
        </p:spPr>
        <p:txBody>
          <a:bodyPr wrap="square" rtlCol="0" anchor="ctr"/>
          <a:lstStyle/>
          <a:p>
            <a:pPr indent="0" marL="0">
              <a:buNone/>
            </a:pPr>
            <a:r>
              <a:rPr lang="en-US" sz="1800" dirty="0">
                <a:solidFill>
                  <a:srgbClr val="CCCCEE"/>
                </a:solidFill>
                <a:latin typeface="Calibri" pitchFamily="34" charset="0"/>
                <a:ea typeface="Calibri" pitchFamily="34" charset="-122"/>
                <a:cs typeface="Calibri" pitchFamily="34" charset="-120"/>
              </a:rPr>
              <a:t>Logins, Roles, Dashboards &amp; Security</a:t>
            </a:r>
            <a:endParaRPr lang="en-US" sz="1800" dirty="0"/>
          </a:p>
        </p:txBody>
      </p:sp>
      <p:sp>
        <p:nvSpPr>
          <p:cNvPr id="7" name="Shape 5"/>
          <p:cNvSpPr/>
          <p:nvPr/>
        </p:nvSpPr>
        <p:spPr>
          <a:xfrm>
            <a:off x="0" y="4887468"/>
            <a:ext cx="9144000" cy="256032"/>
          </a:xfrm>
          <a:prstGeom prst="rect">
            <a:avLst/>
          </a:prstGeom>
          <a:solidFill>
            <a:srgbClr val="0F1F5C"/>
          </a:solidFill>
          <a:ln w="12700">
            <a:solidFill>
              <a:srgbClr val="0F1F5C"/>
            </a:solidFill>
            <a:prstDash val="solid"/>
          </a:ln>
        </p:spPr>
      </p:sp>
      <p:sp>
        <p:nvSpPr>
          <p:cNvPr id="8" name="Text 6"/>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9" name="Text 7"/>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CLIENT LOGIN &amp; ACCESS</a:t>
            </a:r>
            <a:endParaRPr lang="en-US" sz="1400" dirty="0"/>
          </a:p>
        </p:txBody>
      </p:sp>
      <p:sp>
        <p:nvSpPr>
          <p:cNvPr id="5" name="Text 3"/>
          <p:cNvSpPr/>
          <p:nvPr/>
        </p:nvSpPr>
        <p:spPr>
          <a:xfrm>
            <a:off x="457200" y="576072"/>
            <a:ext cx="8229600" cy="365760"/>
          </a:xfrm>
          <a:prstGeom prst="rect">
            <a:avLst/>
          </a:prstGeom>
          <a:noFill/>
          <a:ln/>
        </p:spPr>
        <p:txBody>
          <a:bodyPr wrap="square" rtlCol="0" anchor="ctr"/>
          <a:lstStyle/>
          <a:p>
            <a:pPr indent="0" marL="0">
              <a:buNone/>
            </a:pPr>
            <a:r>
              <a:rPr lang="en-US" sz="2000" b="1" dirty="0">
                <a:solidFill>
                  <a:srgbClr val="0F1F5C"/>
                </a:solidFill>
                <a:latin typeface="Trebuchet MS" pitchFamily="34" charset="0"/>
                <a:ea typeface="Trebuchet MS" pitchFamily="34" charset="-122"/>
                <a:cs typeface="Trebuchet MS" pitchFamily="34" charset="-120"/>
              </a:rPr>
              <a:t>How Clients Log In</a:t>
            </a:r>
            <a:endParaRPr lang="en-US" sz="2000" dirty="0"/>
          </a:p>
        </p:txBody>
      </p:sp>
      <p:sp>
        <p:nvSpPr>
          <p:cNvPr id="6" name="Text 4"/>
          <p:cNvSpPr/>
          <p:nvPr/>
        </p:nvSpPr>
        <p:spPr>
          <a:xfrm>
            <a:off x="457200" y="1005840"/>
            <a:ext cx="8229600" cy="1645920"/>
          </a:xfrm>
          <a:prstGeom prst="rect">
            <a:avLst/>
          </a:prstGeom>
          <a:noFill/>
          <a:ln/>
        </p:spPr>
        <p:txBody>
          <a:bodyPr wrap="square" rtlCol="0" anchor="t"/>
          <a:lstStyle/>
          <a:p>
            <a:pPr marL="342900" indent="-342900">
              <a:spcAft>
                <a:spcPts val="600"/>
              </a:spcAft>
              <a:buSzPct val="100000"/>
              <a:buChar char="•"/>
            </a:pPr>
            <a:r>
              <a:rPr lang="en-US" sz="1400" dirty="0">
                <a:solidFill>
                  <a:srgbClr val="1E1E3A"/>
                </a:solidFill>
                <a:latin typeface="Calibri" pitchFamily="34" charset="0"/>
                <a:ea typeface="Calibri" pitchFamily="34" charset="-122"/>
                <a:cs typeface="Calibri" pitchFamily="34" charset="-120"/>
              </a:rPr>
              <a:t>Tenant-based URL: each org has a unique subdomain or login path</a:t>
            </a:r>
            <a:endParaRPr lang="en-US" sz="1400" dirty="0"/>
          </a:p>
          <a:p>
            <a:pPr marL="342900" indent="-342900">
              <a:spcAft>
                <a:spcPts val="600"/>
              </a:spcAft>
              <a:buSzPct val="100000"/>
              <a:buChar char="•"/>
            </a:pPr>
            <a:r>
              <a:rPr lang="en-US" sz="1400" dirty="0">
                <a:solidFill>
                  <a:srgbClr val="1E1E3A"/>
                </a:solidFill>
                <a:latin typeface="Calibri" pitchFamily="34" charset="0"/>
                <a:ea typeface="Calibri" pitchFamily="34" charset="-122"/>
                <a:cs typeface="Calibri" pitchFamily="34" charset="-120"/>
              </a:rPr>
              <a:t>Authentication powered by Supabase Auth (secure, industry-standard)</a:t>
            </a:r>
            <a:endParaRPr lang="en-US" sz="1400" dirty="0"/>
          </a:p>
          <a:p>
            <a:pPr marL="342900" indent="-342900">
              <a:spcAft>
                <a:spcPts val="600"/>
              </a:spcAft>
              <a:buSzPct val="100000"/>
              <a:buChar char="•"/>
            </a:pPr>
            <a:r>
              <a:rPr lang="en-US" sz="1400" dirty="0">
                <a:solidFill>
                  <a:srgbClr val="1E1E3A"/>
                </a:solidFill>
                <a:latin typeface="Calibri" pitchFamily="34" charset="0"/>
                <a:ea typeface="Calibri" pitchFamily="34" charset="-122"/>
                <a:cs typeface="Calibri" pitchFamily="34" charset="-120"/>
              </a:rPr>
              <a:t>Clients log in with their organization email — no shared passwords</a:t>
            </a:r>
            <a:endParaRPr lang="en-US" sz="1400" dirty="0"/>
          </a:p>
          <a:p>
            <a:pPr marL="342900" indent="-342900">
              <a:spcAft>
                <a:spcPts val="600"/>
              </a:spcAft>
              <a:buSzPct val="100000"/>
              <a:buChar char="•"/>
            </a:pPr>
            <a:r>
              <a:rPr lang="en-US" sz="1400" dirty="0">
                <a:solidFill>
                  <a:srgbClr val="1E1E3A"/>
                </a:solidFill>
                <a:latin typeface="Calibri" pitchFamily="34" charset="0"/>
                <a:ea typeface="Calibri" pitchFamily="34" charset="-122"/>
                <a:cs typeface="Calibri" pitchFamily="34" charset="-120"/>
              </a:rPr>
              <a:t>First login prompts password setup via secure email link</a:t>
            </a:r>
            <a:endParaRPr lang="en-US" sz="1400" dirty="0"/>
          </a:p>
        </p:txBody>
      </p:sp>
      <p:sp>
        <p:nvSpPr>
          <p:cNvPr id="7" name="Text 5"/>
          <p:cNvSpPr/>
          <p:nvPr/>
        </p:nvSpPr>
        <p:spPr>
          <a:xfrm>
            <a:off x="457200" y="2697480"/>
            <a:ext cx="8229600" cy="365760"/>
          </a:xfrm>
          <a:prstGeom prst="rect">
            <a:avLst/>
          </a:prstGeom>
          <a:noFill/>
          <a:ln/>
        </p:spPr>
        <p:txBody>
          <a:bodyPr wrap="square" rtlCol="0" anchor="ctr"/>
          <a:lstStyle/>
          <a:p>
            <a:pPr indent="0" marL="0">
              <a:buNone/>
            </a:pPr>
            <a:r>
              <a:rPr lang="en-US" sz="1600" b="1" dirty="0">
                <a:solidFill>
                  <a:srgbClr val="0F1F5C"/>
                </a:solidFill>
                <a:latin typeface="Trebuchet MS" pitchFamily="34" charset="0"/>
                <a:ea typeface="Trebuchet MS" pitchFamily="34" charset="-122"/>
                <a:cs typeface="Trebuchet MS" pitchFamily="34" charset="-120"/>
              </a:rPr>
              <a:t>BSG Test Accounts (DO NOT share with clients)</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3090672"/>
          <a:ext cx="6858000" cy="914400"/>
        </p:xfrm>
        <a:graphic>
          <a:graphicData uri="http://schemas.openxmlformats.org/drawingml/2006/table">
            <a:tbl>
              <a:tblPr/>
              <a:tblGrid>
                <a:gridCol w="2011680"/>
                <a:gridCol w="2560320"/>
                <a:gridCol w="384048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Account Type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Email</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r>
              <a:tr h="384048">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Tenant Admin (demo)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admin@boost.test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Testing onboarding, config, admin panel</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Learner (demo)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learner@boost.test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Testing learner/employee experience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bl>
          </a:graphicData>
        </a:graphic>
      </p:graphicFrame>
      <p:sp>
        <p:nvSpPr>
          <p:cNvPr id="9" name="Shape 6"/>
          <p:cNvSpPr/>
          <p:nvPr/>
        </p:nvSpPr>
        <p:spPr>
          <a:xfrm>
            <a:off x="0" y="4887468"/>
            <a:ext cx="9144000" cy="256032"/>
          </a:xfrm>
          <a:prstGeom prst="rect">
            <a:avLst/>
          </a:prstGeom>
          <a:solidFill>
            <a:srgbClr val="0F1F5C"/>
          </a:solidFill>
          <a:ln w="12700">
            <a:solidFill>
              <a:srgbClr val="0F1F5C"/>
            </a:solidFill>
            <a:prstDash val="solid"/>
          </a:ln>
        </p:spPr>
      </p:sp>
      <p:sp>
        <p:nvSpPr>
          <p:cNvPr id="10" name="Text 7"/>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1" name="Text 8"/>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ROLE HIERARCHY</a:t>
            </a:r>
            <a:endParaRPr lang="en-US" sz="1400" dirty="0"/>
          </a:p>
        </p:txBody>
      </p:sp>
      <p:sp>
        <p:nvSpPr>
          <p:cNvPr id="5" name="Text 3"/>
          <p:cNvSpPr/>
          <p:nvPr/>
        </p:nvSpPr>
        <p:spPr>
          <a:xfrm>
            <a:off x="457200" y="576072"/>
            <a:ext cx="6400800" cy="365760"/>
          </a:xfrm>
          <a:prstGeom prst="rect">
            <a:avLst/>
          </a:prstGeom>
          <a:noFill/>
          <a:ln/>
        </p:spPr>
        <p:txBody>
          <a:bodyPr wrap="square" rtlCol="0" anchor="ctr"/>
          <a:lstStyle/>
          <a:p>
            <a:pPr indent="0" marL="0">
              <a:buNone/>
            </a:pPr>
            <a:r>
              <a:rPr lang="en-US" sz="2000" b="1" dirty="0">
                <a:solidFill>
                  <a:srgbClr val="0F1F5C"/>
                </a:solidFill>
                <a:latin typeface="Trebuchet MS" pitchFamily="34" charset="0"/>
                <a:ea typeface="Trebuchet MS" pitchFamily="34" charset="-122"/>
                <a:cs typeface="Trebuchet MS" pitchFamily="34" charset="-120"/>
              </a:rPr>
              <a:t>User Permission Levels</a:t>
            </a:r>
            <a:endParaRPr lang="en-US" sz="2000" dirty="0"/>
          </a:p>
        </p:txBody>
      </p:sp>
      <p:sp>
        <p:nvSpPr>
          <p:cNvPr id="6" name="Shape 4"/>
          <p:cNvSpPr/>
          <p:nvPr/>
        </p:nvSpPr>
        <p:spPr>
          <a:xfrm>
            <a:off x="7132320" y="548640"/>
            <a:ext cx="1828800" cy="384048"/>
          </a:xfrm>
          <a:prstGeom prst="rect">
            <a:avLst/>
          </a:prstGeom>
          <a:solidFill>
            <a:srgbClr val="FFEEDD"/>
          </a:solidFill>
          <a:ln w="12700">
            <a:solidFill>
              <a:srgbClr val="F7941D"/>
            </a:solidFill>
            <a:prstDash val="solid"/>
          </a:ln>
        </p:spPr>
      </p:sp>
      <p:sp>
        <p:nvSpPr>
          <p:cNvPr id="7" name="Text 5"/>
          <p:cNvSpPr/>
          <p:nvPr/>
        </p:nvSpPr>
        <p:spPr>
          <a:xfrm>
            <a:off x="7132320" y="566928"/>
            <a:ext cx="1828800" cy="347472"/>
          </a:xfrm>
          <a:prstGeom prst="rect">
            <a:avLst/>
          </a:prstGeom>
          <a:noFill/>
          <a:ln/>
        </p:spPr>
        <p:txBody>
          <a:bodyPr wrap="square" rtlCol="0" anchor="ctr"/>
          <a:lstStyle/>
          <a:p>
            <a:pPr algn="ctr" indent="0" marL="0">
              <a:buNone/>
            </a:pPr>
            <a:r>
              <a:rPr lang="en-US" sz="1100" b="1" dirty="0">
                <a:solidFill>
                  <a:srgbClr val="8B3A00"/>
                </a:solidFill>
                <a:latin typeface="Calibri" pitchFamily="34" charset="0"/>
                <a:ea typeface="Calibri" pitchFamily="34" charset="-122"/>
                <a:cs typeface="Calibri" pitchFamily="34" charset="-120"/>
              </a:rPr>
              <a:t>CRITICAL RULE</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6858000" cy="914400"/>
        </p:xfrm>
        <a:graphic>
          <a:graphicData uri="http://schemas.openxmlformats.org/drawingml/2006/table">
            <a:tbl>
              <a:tblPr/>
              <a:tblGrid>
                <a:gridCol w="1645920"/>
                <a:gridCol w="1645920"/>
                <a:gridCol w="2560320"/>
                <a:gridCol w="23774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Scope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Notes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r>
              <a:tr h="384048">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Super Admin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Jackie Taylor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All tenants, all modules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Full system access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BSG Admin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BSG Staff</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Cross-tenant, module-scoped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On-behalf actions logged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384048">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Tenant Admin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Client org admin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Org-wide, all modules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Primary client contact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Manager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Client managers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Team members only</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Reviews, 9-box for direct reports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384048">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Learner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Client employees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Own data only</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Courses, surveys, self-review</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9" name="Shape 6"/>
          <p:cNvSpPr/>
          <p:nvPr/>
        </p:nvSpPr>
        <p:spPr>
          <a:xfrm>
            <a:off x="365760" y="3886200"/>
            <a:ext cx="8412480" cy="566928"/>
          </a:xfrm>
          <a:prstGeom prst="rect">
            <a:avLst/>
          </a:prstGeom>
          <a:solidFill>
            <a:srgbClr val="FFEEEE"/>
          </a:solidFill>
          <a:ln w="12700">
            <a:solidFill>
              <a:srgbClr val="CC0000"/>
            </a:solidFill>
            <a:prstDash val="solid"/>
          </a:ln>
        </p:spPr>
      </p:sp>
      <p:sp>
        <p:nvSpPr>
          <p:cNvPr id="10" name="Text 7"/>
          <p:cNvSpPr/>
          <p:nvPr/>
        </p:nvSpPr>
        <p:spPr>
          <a:xfrm>
            <a:off x="502920" y="3913632"/>
            <a:ext cx="8229600" cy="502920"/>
          </a:xfrm>
          <a:prstGeom prst="rect">
            <a:avLst/>
          </a:prstGeom>
          <a:noFill/>
          <a:ln/>
        </p:spPr>
        <p:txBody>
          <a:bodyPr wrap="square" rtlCol="0" anchor="ctr"/>
          <a:lstStyle/>
          <a:p>
            <a:pPr indent="0" marL="0">
              <a:buNone/>
            </a:pPr>
            <a:r>
              <a:rPr lang="en-US" sz="1300" b="1" dirty="0">
                <a:solidFill>
                  <a:srgbClr val="8B0000"/>
                </a:solidFill>
                <a:latin typeface="Calibri" pitchFamily="34" charset="0"/>
                <a:ea typeface="Calibri" pitchFamily="34" charset="-122"/>
                <a:cs typeface="Calibri" pitchFamily="34" charset="-120"/>
              </a:rPr>
              <a:t>NEVER borrow or use a client's admin login — always use your BSG Admin credentials. Every BSG Admin action is logged with "BSG Admin [name] on behalf of [client]."</a:t>
            </a:r>
            <a:endParaRPr lang="en-US" sz="1300" dirty="0"/>
          </a:p>
        </p:txBody>
      </p:sp>
      <p:sp>
        <p:nvSpPr>
          <p:cNvPr id="11" name="Shape 8"/>
          <p:cNvSpPr/>
          <p:nvPr/>
        </p:nvSpPr>
        <p:spPr>
          <a:xfrm>
            <a:off x="0" y="4887468"/>
            <a:ext cx="9144000" cy="256032"/>
          </a:xfrm>
          <a:prstGeom prst="rect">
            <a:avLst/>
          </a:prstGeom>
          <a:solidFill>
            <a:srgbClr val="0F1F5C"/>
          </a:solidFill>
          <a:ln w="12700">
            <a:solidFill>
              <a:srgbClr val="0F1F5C"/>
            </a:solidFill>
            <a:prstDash val="solid"/>
          </a:ln>
        </p:spPr>
      </p:sp>
      <p:sp>
        <p:nvSpPr>
          <p:cNvPr id="12" name="Text 9"/>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3" name="Text 10"/>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CLIENT DASHBOARD</a:t>
            </a:r>
            <a:endParaRPr lang="en-US" sz="1400" dirty="0"/>
          </a:p>
        </p:txBody>
      </p:sp>
      <p:sp>
        <p:nvSpPr>
          <p:cNvPr id="5" name="Text 3"/>
          <p:cNvSpPr/>
          <p:nvPr/>
        </p:nvSpPr>
        <p:spPr>
          <a:xfrm>
            <a:off x="457200" y="576072"/>
            <a:ext cx="8229600" cy="365760"/>
          </a:xfrm>
          <a:prstGeom prst="rect">
            <a:avLst/>
          </a:prstGeom>
          <a:noFill/>
          <a:ln/>
        </p:spPr>
        <p:txBody>
          <a:bodyPr wrap="square" rtlCol="0" anchor="ctr"/>
          <a:lstStyle/>
          <a:p>
            <a:pPr indent="0" marL="0">
              <a:buNone/>
            </a:pPr>
            <a:r>
              <a:rPr lang="en-US" sz="2000" b="1" dirty="0">
                <a:solidFill>
                  <a:srgbClr val="0F1F5C"/>
                </a:solidFill>
                <a:latin typeface="Trebuchet MS" pitchFamily="34" charset="0"/>
                <a:ea typeface="Trebuchet MS" pitchFamily="34" charset="-122"/>
                <a:cs typeface="Trebuchet MS" pitchFamily="34" charset="-120"/>
              </a:rPr>
              <a:t>What Clients See When They Log In</a:t>
            </a:r>
            <a:endParaRPr lang="en-US" sz="2000" dirty="0"/>
          </a:p>
        </p:txBody>
      </p:sp>
      <p:sp>
        <p:nvSpPr>
          <p:cNvPr id="6" name="Text 4"/>
          <p:cNvSpPr/>
          <p:nvPr/>
        </p:nvSpPr>
        <p:spPr>
          <a:xfrm>
            <a:off x="457200" y="1005840"/>
            <a:ext cx="4023360" cy="320040"/>
          </a:xfrm>
          <a:prstGeom prst="rect">
            <a:avLst/>
          </a:prstGeom>
          <a:noFill/>
          <a:ln/>
        </p:spPr>
        <p:txBody>
          <a:bodyPr wrap="square" rtlCol="0" anchor="ctr"/>
          <a:lstStyle/>
          <a:p>
            <a:pPr indent="0" marL="0">
              <a:buNone/>
            </a:pPr>
            <a:r>
              <a:rPr lang="en-US" sz="1400" b="1" dirty="0">
                <a:solidFill>
                  <a:srgbClr val="0F1F5C"/>
                </a:solidFill>
                <a:latin typeface="Trebuchet MS" pitchFamily="34" charset="0"/>
                <a:ea typeface="Trebuchet MS" pitchFamily="34" charset="-122"/>
                <a:cs typeface="Trebuchet MS" pitchFamily="34" charset="-120"/>
              </a:rPr>
              <a:t>Key UI Elements — Left Panel</a:t>
            </a:r>
            <a:endParaRPr lang="en-US" sz="1400" dirty="0"/>
          </a:p>
        </p:txBody>
      </p:sp>
      <p:sp>
        <p:nvSpPr>
          <p:cNvPr id="7" name="Text 5"/>
          <p:cNvSpPr/>
          <p:nvPr/>
        </p:nvSpPr>
        <p:spPr>
          <a:xfrm>
            <a:off x="4754880" y="1005840"/>
            <a:ext cx="4023360" cy="320040"/>
          </a:xfrm>
          <a:prstGeom prst="rect">
            <a:avLst/>
          </a:prstGeom>
          <a:noFill/>
          <a:ln/>
        </p:spPr>
        <p:txBody>
          <a:bodyPr wrap="square" rtlCol="0" anchor="ctr"/>
          <a:lstStyle/>
          <a:p>
            <a:pPr indent="0" marL="0">
              <a:buNone/>
            </a:pPr>
            <a:r>
              <a:rPr lang="en-US" sz="1400" b="1" dirty="0">
                <a:solidFill>
                  <a:srgbClr val="0F1F5C"/>
                </a:solidFill>
                <a:latin typeface="Trebuchet MS" pitchFamily="34" charset="0"/>
                <a:ea typeface="Trebuchet MS" pitchFamily="34" charset="-122"/>
                <a:cs typeface="Trebuchet MS" pitchFamily="34" charset="-120"/>
              </a:rPr>
              <a:t>Key UI Elements — Right Panel</a:t>
            </a:r>
            <a:endParaRPr lang="en-US" sz="1400" dirty="0"/>
          </a:p>
        </p:txBody>
      </p:sp>
      <p:sp>
        <p:nvSpPr>
          <p:cNvPr id="8" name="Shape 6"/>
          <p:cNvSpPr/>
          <p:nvPr/>
        </p:nvSpPr>
        <p:spPr>
          <a:xfrm>
            <a:off x="4526280" y="960120"/>
            <a:ext cx="36576" cy="3474720"/>
          </a:xfrm>
          <a:prstGeom prst="rect">
            <a:avLst/>
          </a:prstGeom>
          <a:solidFill>
            <a:srgbClr val="CCCCCC"/>
          </a:solidFill>
          <a:ln w="12700">
            <a:solidFill>
              <a:srgbClr val="CCCCCC"/>
            </a:solidFill>
            <a:prstDash val="solid"/>
          </a:ln>
        </p:spPr>
      </p:sp>
      <p:sp>
        <p:nvSpPr>
          <p:cNvPr id="9" name="Text 7"/>
          <p:cNvSpPr/>
          <p:nvPr/>
        </p:nvSpPr>
        <p:spPr>
          <a:xfrm>
            <a:off x="457200" y="1371600"/>
            <a:ext cx="4023360" cy="301752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Module cards — quick access to each enabled module</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Onboarding checklist — progress tracker for new accounts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Upcoming performance reviews — timeline view</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Pulse survey status — active, pending, or results available</a:t>
            </a:r>
            <a:endParaRPr lang="en-US" sz="1400" dirty="0"/>
          </a:p>
        </p:txBody>
      </p:sp>
      <p:sp>
        <p:nvSpPr>
          <p:cNvPr id="10" name="Text 8"/>
          <p:cNvSpPr/>
          <p:nvPr/>
        </p:nvSpPr>
        <p:spPr>
          <a:xfrm>
            <a:off x="4754880" y="1371600"/>
            <a:ext cx="4023360" cy="301752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Recent activity feed — team actions and completions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Notifications — alerts for overdue reviews or incomplete tasks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Quick links — KB, support, and admin settings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Module-level dashboards accessible from each card</a:t>
            </a:r>
            <a:endParaRPr lang="en-US" sz="1400" dirty="0"/>
          </a:p>
        </p:txBody>
      </p:sp>
      <p:sp>
        <p:nvSpPr>
          <p:cNvPr id="11" name="Shape 9"/>
          <p:cNvSpPr/>
          <p:nvPr/>
        </p:nvSpPr>
        <p:spPr>
          <a:xfrm>
            <a:off x="0" y="4887468"/>
            <a:ext cx="9144000" cy="256032"/>
          </a:xfrm>
          <a:prstGeom prst="rect">
            <a:avLst/>
          </a:prstGeom>
          <a:solidFill>
            <a:srgbClr val="0F1F5C"/>
          </a:solidFill>
          <a:ln w="12700">
            <a:solidFill>
              <a:srgbClr val="0F1F5C"/>
            </a:solidFill>
            <a:prstDash val="solid"/>
          </a:ln>
        </p:spPr>
      </p:sp>
      <p:sp>
        <p:nvSpPr>
          <p:cNvPr id="12" name="Text 10"/>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3" name="Text 11"/>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BSG ADMIN PANEL</a:t>
            </a:r>
            <a:endParaRPr lang="en-US" sz="1400" dirty="0"/>
          </a:p>
        </p:txBody>
      </p:sp>
      <p:sp>
        <p:nvSpPr>
          <p:cNvPr id="5" name="Text 3"/>
          <p:cNvSpPr/>
          <p:nvPr/>
        </p:nvSpPr>
        <p:spPr>
          <a:xfrm>
            <a:off x="457200" y="576072"/>
            <a:ext cx="8229600" cy="365760"/>
          </a:xfrm>
          <a:prstGeom prst="rect">
            <a:avLst/>
          </a:prstGeom>
          <a:noFill/>
          <a:ln/>
        </p:spPr>
        <p:txBody>
          <a:bodyPr wrap="square" rtlCol="0" anchor="ctr"/>
          <a:lstStyle/>
          <a:p>
            <a:pPr indent="0" marL="0">
              <a:buNone/>
            </a:pPr>
            <a:r>
              <a:rPr lang="en-US" sz="2000" b="1" dirty="0">
                <a:solidFill>
                  <a:srgbClr val="0F1F5C"/>
                </a:solidFill>
                <a:latin typeface="Trebuchet MS" pitchFamily="34" charset="0"/>
                <a:ea typeface="Trebuchet MS" pitchFamily="34" charset="-122"/>
                <a:cs typeface="Trebuchet MS" pitchFamily="34" charset="-120"/>
              </a:rPr>
              <a:t>Your Cross-Tenant Command Center</a:t>
            </a:r>
            <a:endParaRPr lang="en-US" sz="2000" dirty="0"/>
          </a:p>
        </p:txBody>
      </p:sp>
      <p:sp>
        <p:nvSpPr>
          <p:cNvPr id="6" name="Text 4"/>
          <p:cNvSpPr/>
          <p:nvPr/>
        </p:nvSpPr>
        <p:spPr>
          <a:xfrm>
            <a:off x="457200" y="1005840"/>
            <a:ext cx="8229600" cy="3200400"/>
          </a:xfrm>
          <a:prstGeom prst="rect">
            <a:avLst/>
          </a:prstGeom>
          <a:noFill/>
          <a:ln/>
        </p:spPr>
        <p:txBody>
          <a:bodyPr wrap="square" rtlCol="0" anchor="t"/>
          <a:lstStyle/>
          <a:p>
            <a:pPr marL="342900" indent="-342900">
              <a:spcAft>
                <a:spcPts val="700"/>
              </a:spcAft>
              <a:buSzPct val="100000"/>
              <a:buChar char="•"/>
            </a:pPr>
            <a:r>
              <a:rPr lang="en-US" sz="1400" dirty="0">
                <a:solidFill>
                  <a:srgbClr val="1E1E3A"/>
                </a:solidFill>
                <a:latin typeface="Calibri" pitchFamily="34" charset="0"/>
                <a:ea typeface="Calibri" pitchFamily="34" charset="-122"/>
                <a:cs typeface="Calibri" pitchFamily="34" charset="-120"/>
              </a:rPr>
              <a:t>View all active client tenants from a single panel — no tenant switching required</a:t>
            </a:r>
            <a:endParaRPr lang="en-US" sz="1400" dirty="0"/>
          </a:p>
          <a:p>
            <a:pPr marL="342900" indent="-342900">
              <a:spcAft>
                <a:spcPts val="700"/>
              </a:spcAft>
              <a:buSzPct val="100000"/>
              <a:buChar char="•"/>
            </a:pPr>
            <a:r>
              <a:rPr lang="en-US" sz="1400" dirty="0">
                <a:solidFill>
                  <a:srgbClr val="1E1E3A"/>
                </a:solidFill>
                <a:latin typeface="Calibri" pitchFamily="34" charset="0"/>
                <a:ea typeface="Calibri" pitchFamily="34" charset="-122"/>
                <a:cs typeface="Calibri" pitchFamily="34" charset="-120"/>
              </a:rPr>
              <a:t>Onboard new clients on behalf of their organization (action is audit-logged)</a:t>
            </a:r>
            <a:endParaRPr lang="en-US" sz="1400" dirty="0"/>
          </a:p>
          <a:p>
            <a:pPr marL="342900" indent="-342900">
              <a:spcAft>
                <a:spcPts val="700"/>
              </a:spcAft>
              <a:buSzPct val="100000"/>
              <a:buChar char="•"/>
            </a:pPr>
            <a:r>
              <a:rPr lang="en-US" sz="1400" dirty="0">
                <a:solidFill>
                  <a:srgbClr val="1E1E3A"/>
                </a:solidFill>
                <a:latin typeface="Calibri" pitchFamily="34" charset="0"/>
                <a:ea typeface="Calibri" pitchFamily="34" charset="-122"/>
                <a:cs typeface="Calibri" pitchFamily="34" charset="-120"/>
              </a:rPr>
              <a:t>Apply founding client discount (40%) and annual pricing adjustments</a:t>
            </a:r>
            <a:endParaRPr lang="en-US" sz="1400" dirty="0"/>
          </a:p>
          <a:p>
            <a:pPr marL="342900" indent="-342900">
              <a:spcAft>
                <a:spcPts val="700"/>
              </a:spcAft>
              <a:buSzPct val="100000"/>
              <a:buChar char="•"/>
            </a:pPr>
            <a:r>
              <a:rPr lang="en-US" sz="1400" dirty="0">
                <a:solidFill>
                  <a:srgbClr val="1E1E3A"/>
                </a:solidFill>
                <a:latin typeface="Calibri" pitchFamily="34" charset="0"/>
                <a:ea typeface="Calibri" pitchFamily="34" charset="-122"/>
                <a:cs typeface="Calibri" pitchFamily="34" charset="-120"/>
              </a:rPr>
              <a:t>View full audit trail for any tenant — every admin action is timestamped</a:t>
            </a:r>
            <a:endParaRPr lang="en-US" sz="1400" dirty="0"/>
          </a:p>
          <a:p>
            <a:pPr marL="342900" indent="-342900">
              <a:spcAft>
                <a:spcPts val="700"/>
              </a:spcAft>
              <a:buSzPct val="100000"/>
              <a:buChar char="•"/>
            </a:pPr>
            <a:r>
              <a:rPr lang="en-US" sz="1400" dirty="0">
                <a:solidFill>
                  <a:srgbClr val="1E1E3A"/>
                </a:solidFill>
                <a:latin typeface="Calibri" pitchFamily="34" charset="0"/>
                <a:ea typeface="Calibri" pitchFamily="34" charset="-122"/>
                <a:cs typeface="Calibri" pitchFamily="34" charset="-120"/>
              </a:rPr>
              <a:t>Access module configuration without being logged into a client account</a:t>
            </a:r>
            <a:endParaRPr lang="en-US" sz="1400" dirty="0"/>
          </a:p>
          <a:p>
            <a:pPr marL="342900" indent="-342900">
              <a:spcAft>
                <a:spcPts val="700"/>
              </a:spcAft>
              <a:buSzPct val="100000"/>
              <a:buChar char="•"/>
            </a:pPr>
            <a:r>
              <a:rPr lang="en-US" sz="1400" dirty="0">
                <a:solidFill>
                  <a:srgbClr val="1E1E3A"/>
                </a:solidFill>
                <a:latin typeface="Calibri" pitchFamily="34" charset="0"/>
                <a:ea typeface="Calibri" pitchFamily="34" charset="-122"/>
                <a:cs typeface="Calibri" pitchFamily="34" charset="-120"/>
              </a:rPr>
              <a:t>Generate and download admin reports for Jackie's monthly dashboard</a:t>
            </a:r>
            <a:endParaRPr lang="en-US" sz="1400" dirty="0"/>
          </a:p>
        </p:txBody>
      </p:sp>
      <p:sp>
        <p:nvSpPr>
          <p:cNvPr id="7" name="Shape 5"/>
          <p:cNvSpPr/>
          <p:nvPr/>
        </p:nvSpPr>
        <p:spPr>
          <a:xfrm>
            <a:off x="365760" y="4114800"/>
            <a:ext cx="8412480" cy="429768"/>
          </a:xfrm>
          <a:prstGeom prst="rect">
            <a:avLst/>
          </a:prstGeom>
          <a:solidFill>
            <a:srgbClr val="E8F4FF"/>
          </a:solidFill>
          <a:ln w="12700">
            <a:solidFill>
              <a:srgbClr val="3399CC"/>
            </a:solidFill>
            <a:prstDash val="solid"/>
          </a:ln>
        </p:spPr>
      </p:sp>
      <p:sp>
        <p:nvSpPr>
          <p:cNvPr id="8" name="Text 6"/>
          <p:cNvSpPr/>
          <p:nvPr/>
        </p:nvSpPr>
        <p:spPr>
          <a:xfrm>
            <a:off x="502920" y="4133088"/>
            <a:ext cx="8229600" cy="365760"/>
          </a:xfrm>
          <a:prstGeom prst="rect">
            <a:avLst/>
          </a:prstGeom>
          <a:noFill/>
          <a:ln/>
        </p:spPr>
        <p:txBody>
          <a:bodyPr wrap="square" rtlCol="0" anchor="ctr"/>
          <a:lstStyle/>
          <a:p>
            <a:pPr indent="0" marL="0">
              <a:buNone/>
            </a:pPr>
            <a:r>
              <a:rPr lang="en-US" sz="1200" dirty="0">
                <a:solidFill>
                  <a:srgbClr val="1A4466"/>
                </a:solidFill>
                <a:latin typeface="Calibri" pitchFamily="34" charset="0"/>
                <a:ea typeface="Calibri" pitchFamily="34" charset="-122"/>
                <a:cs typeface="Calibri" pitchFamily="34" charset="-120"/>
              </a:rPr>
              <a:t>Tip: Always verify you are in BSG Admin view (not a client tenant view) before making configuration changes.</a:t>
            </a:r>
            <a:endParaRPr lang="en-US" sz="1200" dirty="0"/>
          </a:p>
        </p:txBody>
      </p:sp>
      <p:sp>
        <p:nvSpPr>
          <p:cNvPr id="9" name="Shape 7"/>
          <p:cNvSpPr/>
          <p:nvPr/>
        </p:nvSpPr>
        <p:spPr>
          <a:xfrm>
            <a:off x="0" y="4887468"/>
            <a:ext cx="9144000" cy="256032"/>
          </a:xfrm>
          <a:prstGeom prst="rect">
            <a:avLst/>
          </a:prstGeom>
          <a:solidFill>
            <a:srgbClr val="0F1F5C"/>
          </a:solidFill>
          <a:ln w="12700">
            <a:solidFill>
              <a:srgbClr val="0F1F5C"/>
            </a:solidFill>
            <a:prstDash val="solid"/>
          </a:ln>
        </p:spPr>
      </p:sp>
      <p:sp>
        <p:nvSpPr>
          <p:cNvPr id="10" name="Text 8"/>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1" name="Text 9"/>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AUDIT TRAIL — ACCOUNTABILITY &amp; TROUBLESHOOTING</a:t>
            </a:r>
            <a:endParaRPr lang="en-US" sz="1400" dirty="0"/>
          </a:p>
        </p:txBody>
      </p:sp>
      <p:sp>
        <p:nvSpPr>
          <p:cNvPr id="5" name="Text 3"/>
          <p:cNvSpPr/>
          <p:nvPr/>
        </p:nvSpPr>
        <p:spPr>
          <a:xfrm>
            <a:off x="457200" y="576072"/>
            <a:ext cx="8229600" cy="365760"/>
          </a:xfrm>
          <a:prstGeom prst="rect">
            <a:avLst/>
          </a:prstGeom>
          <a:noFill/>
          <a:ln/>
        </p:spPr>
        <p:txBody>
          <a:bodyPr wrap="square" rtlCol="0" anchor="ctr"/>
          <a:lstStyle/>
          <a:p>
            <a:pPr indent="0" marL="0">
              <a:buNone/>
            </a:pPr>
            <a:r>
              <a:rPr lang="en-US" sz="2000" b="1" dirty="0">
                <a:solidFill>
                  <a:srgbClr val="0F1F5C"/>
                </a:solidFill>
                <a:latin typeface="Trebuchet MS" pitchFamily="34" charset="0"/>
                <a:ea typeface="Trebuchet MS" pitchFamily="34" charset="-122"/>
                <a:cs typeface="Trebuchet MS" pitchFamily="34" charset="-120"/>
              </a:rPr>
              <a:t>Every Action is Logged</a:t>
            </a:r>
            <a:endParaRPr lang="en-US" sz="2000" dirty="0"/>
          </a:p>
        </p:txBody>
      </p:sp>
      <p:sp>
        <p:nvSpPr>
          <p:cNvPr id="6" name="Text 4"/>
          <p:cNvSpPr/>
          <p:nvPr/>
        </p:nvSpPr>
        <p:spPr>
          <a:xfrm>
            <a:off x="457200" y="1005840"/>
            <a:ext cx="8229600" cy="3108960"/>
          </a:xfrm>
          <a:prstGeom prst="rect">
            <a:avLst/>
          </a:prstGeom>
          <a:noFill/>
          <a:ln/>
        </p:spPr>
        <p:txBody>
          <a:bodyPr wrap="square" rtlCol="0" anchor="t"/>
          <a:lstStyle/>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Every action taken in the platform generates an audit log entry (user, action, timestamp)</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BSG Admin actions display as: "BSG Admin [name] on behalf of [client org]"</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Audit trail is accessible from the BSG Admin Panel — filterable by tenant and date</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Used for: accountability, troubleshooting client issues, billing disputes, compliance</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Clients can view their own org's audit trail — they cannot see BSG admin logs</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Log entries cannot be deleted — immutable record of platform activity</a:t>
            </a:r>
            <a:endParaRPr lang="en-US" sz="1400" dirty="0"/>
          </a:p>
        </p:txBody>
      </p:sp>
      <p:sp>
        <p:nvSpPr>
          <p:cNvPr id="7" name="Shape 5"/>
          <p:cNvSpPr/>
          <p:nvPr/>
        </p:nvSpPr>
        <p:spPr>
          <a:xfrm>
            <a:off x="365760" y="4096512"/>
            <a:ext cx="8412480" cy="429768"/>
          </a:xfrm>
          <a:prstGeom prst="rect">
            <a:avLst/>
          </a:prstGeom>
          <a:solidFill>
            <a:srgbClr val="E8F4FF"/>
          </a:solidFill>
          <a:ln w="12700">
            <a:solidFill>
              <a:srgbClr val="3399CC"/>
            </a:solidFill>
            <a:prstDash val="solid"/>
          </a:ln>
        </p:spPr>
      </p:sp>
      <p:sp>
        <p:nvSpPr>
          <p:cNvPr id="8" name="Text 6"/>
          <p:cNvSpPr/>
          <p:nvPr/>
        </p:nvSpPr>
        <p:spPr>
          <a:xfrm>
            <a:off x="502920" y="4114800"/>
            <a:ext cx="8229600" cy="365760"/>
          </a:xfrm>
          <a:prstGeom prst="rect">
            <a:avLst/>
          </a:prstGeom>
          <a:noFill/>
          <a:ln/>
        </p:spPr>
        <p:txBody>
          <a:bodyPr wrap="square" rtlCol="0" anchor="ctr"/>
          <a:lstStyle/>
          <a:p>
            <a:pPr indent="0" marL="0">
              <a:buNone/>
            </a:pPr>
            <a:r>
              <a:rPr lang="en-US" sz="1200" dirty="0">
                <a:solidFill>
                  <a:srgbClr val="1A4466"/>
                </a:solidFill>
                <a:latin typeface="Calibri" pitchFamily="34" charset="0"/>
                <a:ea typeface="Calibri" pitchFamily="34" charset="-122"/>
                <a:cs typeface="Calibri" pitchFamily="34" charset="-120"/>
              </a:rPr>
              <a:t>Best practice: Before troubleshooting any client issue, pull the audit trail first — it tells you what happened and when.</a:t>
            </a:r>
            <a:endParaRPr lang="en-US" sz="1200" dirty="0"/>
          </a:p>
        </p:txBody>
      </p:sp>
      <p:sp>
        <p:nvSpPr>
          <p:cNvPr id="9" name="Shape 7"/>
          <p:cNvSpPr/>
          <p:nvPr/>
        </p:nvSpPr>
        <p:spPr>
          <a:xfrm>
            <a:off x="0" y="4887468"/>
            <a:ext cx="9144000" cy="256032"/>
          </a:xfrm>
          <a:prstGeom prst="rect">
            <a:avLst/>
          </a:prstGeom>
          <a:solidFill>
            <a:srgbClr val="0F1F5C"/>
          </a:solidFill>
          <a:ln w="12700">
            <a:solidFill>
              <a:srgbClr val="0F1F5C"/>
            </a:solidFill>
            <a:prstDash val="solid"/>
          </a:ln>
        </p:spPr>
      </p:sp>
      <p:sp>
        <p:nvSpPr>
          <p:cNvPr id="10" name="Text 8"/>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1" name="Text 9"/>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DATA SECURITY — ROW-LEVEL SECURITY (RLS)</a:t>
            </a:r>
            <a:endParaRPr lang="en-US" sz="1400" dirty="0"/>
          </a:p>
        </p:txBody>
      </p:sp>
      <p:sp>
        <p:nvSpPr>
          <p:cNvPr id="5" name="Text 3"/>
          <p:cNvSpPr/>
          <p:nvPr/>
        </p:nvSpPr>
        <p:spPr>
          <a:xfrm>
            <a:off x="457200" y="576072"/>
            <a:ext cx="8229600" cy="365760"/>
          </a:xfrm>
          <a:prstGeom prst="rect">
            <a:avLst/>
          </a:prstGeom>
          <a:noFill/>
          <a:ln/>
        </p:spPr>
        <p:txBody>
          <a:bodyPr wrap="square" rtlCol="0" anchor="ctr"/>
          <a:lstStyle/>
          <a:p>
            <a:pPr indent="0" marL="0">
              <a:buNone/>
            </a:pPr>
            <a:r>
              <a:rPr lang="en-US" sz="2000" b="1" dirty="0">
                <a:solidFill>
                  <a:srgbClr val="0F1F5C"/>
                </a:solidFill>
                <a:latin typeface="Trebuchet MS" pitchFamily="34" charset="0"/>
                <a:ea typeface="Trebuchet MS" pitchFamily="34" charset="-122"/>
                <a:cs typeface="Trebuchet MS" pitchFamily="34" charset="-120"/>
              </a:rPr>
              <a:t>Client Data is Fully Isolated</a:t>
            </a:r>
            <a:endParaRPr lang="en-US" sz="2000" dirty="0"/>
          </a:p>
        </p:txBody>
      </p:sp>
      <p:sp>
        <p:nvSpPr>
          <p:cNvPr id="6" name="Text 4"/>
          <p:cNvSpPr/>
          <p:nvPr/>
        </p:nvSpPr>
        <p:spPr>
          <a:xfrm>
            <a:off x="457200" y="1005840"/>
            <a:ext cx="8229600" cy="2743200"/>
          </a:xfrm>
          <a:prstGeom prst="rect">
            <a:avLst/>
          </a:prstGeom>
          <a:noFill/>
          <a:ln/>
        </p:spPr>
        <p:txBody>
          <a:bodyPr wrap="square" rtlCol="0" anchor="t"/>
          <a:lstStyle/>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BOOST! uses Row-Level Security (RLS) at the database layer — not just application logic</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One client's data is NEVER accessible to any other client or tenant</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AI features are also scoped per tenant — no cross-tenant data leaks into AI responses</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All data is encrypted at rest and in transit (TLS 1.2+)</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BSG Admins can view client data on behalf — always logged in the audit trail</a:t>
            </a:r>
            <a:endParaRPr lang="en-US" sz="1400" dirty="0"/>
          </a:p>
        </p:txBody>
      </p:sp>
      <p:sp>
        <p:nvSpPr>
          <p:cNvPr id="7" name="Shape 5"/>
          <p:cNvSpPr/>
          <p:nvPr/>
        </p:nvSpPr>
        <p:spPr>
          <a:xfrm>
            <a:off x="365760" y="3730752"/>
            <a:ext cx="8412480" cy="566928"/>
          </a:xfrm>
          <a:prstGeom prst="rect">
            <a:avLst/>
          </a:prstGeom>
          <a:solidFill>
            <a:srgbClr val="E8FFE8"/>
          </a:solidFill>
          <a:ln w="12700">
            <a:solidFill>
              <a:srgbClr val="228B22"/>
            </a:solidFill>
            <a:prstDash val="solid"/>
          </a:ln>
        </p:spPr>
      </p:sp>
      <p:sp>
        <p:nvSpPr>
          <p:cNvPr id="8" name="Text 6"/>
          <p:cNvSpPr/>
          <p:nvPr/>
        </p:nvSpPr>
        <p:spPr>
          <a:xfrm>
            <a:off x="502920" y="3749040"/>
            <a:ext cx="8229600" cy="502920"/>
          </a:xfrm>
          <a:prstGeom prst="rect">
            <a:avLst/>
          </a:prstGeom>
          <a:noFill/>
          <a:ln/>
        </p:spPr>
        <p:txBody>
          <a:bodyPr wrap="square" rtlCol="0" anchor="ctr"/>
          <a:lstStyle/>
          <a:p>
            <a:pPr indent="0" marL="0">
              <a:buNone/>
            </a:pPr>
            <a:r>
              <a:rPr lang="en-US" sz="1300" i="1" dirty="0">
                <a:solidFill>
                  <a:srgbClr val="1A5C1A"/>
                </a:solidFill>
                <a:latin typeface="Calibri" pitchFamily="34" charset="0"/>
                <a:ea typeface="Calibri" pitchFamily="34" charset="-122"/>
                <a:cs typeface="Calibri" pitchFamily="34" charset="-120"/>
              </a:rPr>
              <a:t>What to tell clients: "Your data is fully isolated and encrypted. No other BOOST! client can access your information — this is enforced at the database level, not just the application."</a:t>
            </a:r>
            <a:endParaRPr lang="en-US" sz="1300" dirty="0"/>
          </a:p>
        </p:txBody>
      </p:sp>
      <p:sp>
        <p:nvSpPr>
          <p:cNvPr id="9" name="Shape 7"/>
          <p:cNvSpPr/>
          <p:nvPr/>
        </p:nvSpPr>
        <p:spPr>
          <a:xfrm>
            <a:off x="0" y="4887468"/>
            <a:ext cx="9144000" cy="256032"/>
          </a:xfrm>
          <a:prstGeom prst="rect">
            <a:avLst/>
          </a:prstGeom>
          <a:solidFill>
            <a:srgbClr val="0F1F5C"/>
          </a:solidFill>
          <a:ln w="12700">
            <a:solidFill>
              <a:srgbClr val="0F1F5C"/>
            </a:solidFill>
            <a:prstDash val="solid"/>
          </a:ln>
        </p:spPr>
      </p:sp>
      <p:sp>
        <p:nvSpPr>
          <p:cNvPr id="10" name="Text 8"/>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1" name="Text 9"/>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F5C"/>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7941D"/>
          </a:solidFill>
          <a:ln w="12700">
            <a:solidFill>
              <a:srgbClr val="F7941D"/>
            </a:solidFill>
            <a:prstDash val="solid"/>
          </a:ln>
        </p:spPr>
      </p:sp>
      <p:sp>
        <p:nvSpPr>
          <p:cNvPr id="3" name="Shape 1"/>
          <p:cNvSpPr/>
          <p:nvPr/>
        </p:nvSpPr>
        <p:spPr>
          <a:xfrm>
            <a:off x="0" y="4722876"/>
            <a:ext cx="3200400" cy="164592"/>
          </a:xfrm>
          <a:prstGeom prst="rect">
            <a:avLst/>
          </a:prstGeom>
          <a:solidFill>
            <a:srgbClr val="F7941D"/>
          </a:solidFill>
          <a:ln w="12700">
            <a:solidFill>
              <a:srgbClr val="F7941D"/>
            </a:solidFill>
            <a:prstDash val="solid"/>
          </a:ln>
        </p:spPr>
      </p:sp>
      <p:sp>
        <p:nvSpPr>
          <p:cNvPr id="4" name="Text 2"/>
          <p:cNvSpPr/>
          <p:nvPr/>
        </p:nvSpPr>
        <p:spPr>
          <a:xfrm>
            <a:off x="640080" y="1280160"/>
            <a:ext cx="8229600" cy="365760"/>
          </a:xfrm>
          <a:prstGeom prst="rect">
            <a:avLst/>
          </a:prstGeom>
          <a:noFill/>
          <a:ln/>
        </p:spPr>
        <p:txBody>
          <a:bodyPr wrap="square" rtlCol="0" anchor="ctr"/>
          <a:lstStyle/>
          <a:p>
            <a:pPr indent="0" marL="0">
              <a:buNone/>
            </a:pPr>
            <a:r>
              <a:rPr lang="en-US" sz="1400" b="1" spc="400" kern="0" dirty="0">
                <a:solidFill>
                  <a:srgbClr val="F7941D"/>
                </a:solidFill>
                <a:latin typeface="Calibri" pitchFamily="34" charset="0"/>
                <a:ea typeface="Calibri" pitchFamily="34" charset="-122"/>
                <a:cs typeface="Calibri" pitchFamily="34" charset="-120"/>
              </a:rPr>
              <a:t>SECTION 3</a:t>
            </a:r>
            <a:endParaRPr lang="en-US" sz="1400" dirty="0"/>
          </a:p>
        </p:txBody>
      </p:sp>
      <p:sp>
        <p:nvSpPr>
          <p:cNvPr id="5" name="Text 3"/>
          <p:cNvSpPr/>
          <p:nvPr/>
        </p:nvSpPr>
        <p:spPr>
          <a:xfrm>
            <a:off x="640080" y="1691640"/>
            <a:ext cx="8229600" cy="1005840"/>
          </a:xfrm>
          <a:prstGeom prst="rect">
            <a:avLst/>
          </a:prstGeom>
          <a:noFill/>
          <a:ln/>
        </p:spPr>
        <p:txBody>
          <a:bodyPr wrap="square"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SALES TRAINING</a:t>
            </a:r>
            <a:endParaRPr lang="en-US" sz="3800" dirty="0"/>
          </a:p>
        </p:txBody>
      </p:sp>
      <p:sp>
        <p:nvSpPr>
          <p:cNvPr id="6" name="Text 4"/>
          <p:cNvSpPr/>
          <p:nvPr/>
        </p:nvSpPr>
        <p:spPr>
          <a:xfrm>
            <a:off x="640080" y="2743200"/>
            <a:ext cx="8229600" cy="548640"/>
          </a:xfrm>
          <a:prstGeom prst="rect">
            <a:avLst/>
          </a:prstGeom>
          <a:noFill/>
          <a:ln/>
        </p:spPr>
        <p:txBody>
          <a:bodyPr wrap="square" rtlCol="0" anchor="ctr"/>
          <a:lstStyle/>
          <a:p>
            <a:pPr indent="0" marL="0">
              <a:buNone/>
            </a:pPr>
            <a:r>
              <a:rPr lang="en-US" sz="1800" dirty="0">
                <a:solidFill>
                  <a:srgbClr val="CCCCEE"/>
                </a:solidFill>
                <a:latin typeface="Calibri" pitchFamily="34" charset="0"/>
                <a:ea typeface="Calibri" pitchFamily="34" charset="-122"/>
                <a:cs typeface="Calibri" pitchFamily="34" charset="-120"/>
              </a:rPr>
              <a:t>Closing Deals for BOOST!</a:t>
            </a:r>
            <a:endParaRPr lang="en-US" sz="1800" dirty="0"/>
          </a:p>
        </p:txBody>
      </p:sp>
      <p:sp>
        <p:nvSpPr>
          <p:cNvPr id="7" name="Shape 5"/>
          <p:cNvSpPr/>
          <p:nvPr/>
        </p:nvSpPr>
        <p:spPr>
          <a:xfrm>
            <a:off x="0" y="4887468"/>
            <a:ext cx="9144000" cy="256032"/>
          </a:xfrm>
          <a:prstGeom prst="rect">
            <a:avLst/>
          </a:prstGeom>
          <a:solidFill>
            <a:srgbClr val="0F1F5C"/>
          </a:solidFill>
          <a:ln w="12700">
            <a:solidFill>
              <a:srgbClr val="0F1F5C"/>
            </a:solidFill>
            <a:prstDash val="solid"/>
          </a:ln>
        </p:spPr>
      </p:sp>
      <p:sp>
        <p:nvSpPr>
          <p:cNvPr id="8" name="Text 6"/>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9" name="Text 7"/>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6-STEP SALES PROCESS</a:t>
            </a:r>
            <a:endParaRPr lang="en-US" sz="1400" dirty="0"/>
          </a:p>
        </p:txBody>
      </p:sp>
      <p:sp>
        <p:nvSpPr>
          <p:cNvPr id="5" name="Shape 3"/>
          <p:cNvSpPr/>
          <p:nvPr/>
        </p:nvSpPr>
        <p:spPr>
          <a:xfrm>
            <a:off x="1618488" y="1188720"/>
            <a:ext cx="36576" cy="256032"/>
          </a:xfrm>
          <a:prstGeom prst="rect">
            <a:avLst/>
          </a:prstGeom>
          <a:solidFill>
            <a:srgbClr val="CCCCCC"/>
          </a:solidFill>
          <a:ln w="12700">
            <a:solidFill>
              <a:srgbClr val="CCCCCC"/>
            </a:solidFill>
            <a:prstDash val="solid"/>
          </a:ln>
        </p:spPr>
      </p:sp>
      <p:sp>
        <p:nvSpPr>
          <p:cNvPr id="6" name="Shape 4"/>
          <p:cNvSpPr/>
          <p:nvPr/>
        </p:nvSpPr>
        <p:spPr>
          <a:xfrm>
            <a:off x="228600" y="594360"/>
            <a:ext cx="1389888" cy="3858768"/>
          </a:xfrm>
          <a:prstGeom prst="rect">
            <a:avLst/>
          </a:prstGeom>
          <a:solidFill>
            <a:srgbClr val="F2F4FA"/>
          </a:solidFill>
          <a:ln w="12700">
            <a:solidFill>
              <a:srgbClr val="CCCCCC"/>
            </a:solidFill>
            <a:prstDash val="solid"/>
          </a:ln>
        </p:spPr>
      </p:sp>
      <p:sp>
        <p:nvSpPr>
          <p:cNvPr id="7" name="Shape 5"/>
          <p:cNvSpPr/>
          <p:nvPr/>
        </p:nvSpPr>
        <p:spPr>
          <a:xfrm>
            <a:off x="228600" y="594360"/>
            <a:ext cx="1389888" cy="502920"/>
          </a:xfrm>
          <a:prstGeom prst="rect">
            <a:avLst/>
          </a:prstGeom>
          <a:solidFill>
            <a:srgbClr val="F7941D"/>
          </a:solidFill>
          <a:ln w="12700">
            <a:solidFill>
              <a:srgbClr val="F7941D"/>
            </a:solidFill>
            <a:prstDash val="solid"/>
          </a:ln>
        </p:spPr>
      </p:sp>
      <p:sp>
        <p:nvSpPr>
          <p:cNvPr id="8" name="Text 6"/>
          <p:cNvSpPr/>
          <p:nvPr/>
        </p:nvSpPr>
        <p:spPr>
          <a:xfrm>
            <a:off x="228600" y="621792"/>
            <a:ext cx="1389888" cy="438912"/>
          </a:xfrm>
          <a:prstGeom prst="rect">
            <a:avLst/>
          </a:prstGeom>
          <a:noFill/>
          <a:ln/>
        </p:spPr>
        <p:txBody>
          <a:bodyPr wrap="square"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9" name="Text 7"/>
          <p:cNvSpPr/>
          <p:nvPr/>
        </p:nvSpPr>
        <p:spPr>
          <a:xfrm>
            <a:off x="274320" y="1133856"/>
            <a:ext cx="1298448" cy="640080"/>
          </a:xfrm>
          <a:prstGeom prst="rect">
            <a:avLst/>
          </a:prstGeom>
          <a:noFill/>
          <a:ln/>
        </p:spPr>
        <p:txBody>
          <a:bodyPr wrap="square" rtlCol="0" anchor="ctr"/>
          <a:lstStyle/>
          <a:p>
            <a:pPr algn="ctr" indent="0" marL="0">
              <a:buNone/>
            </a:pPr>
            <a:r>
              <a:rPr lang="en-US" sz="1400" b="1" dirty="0">
                <a:solidFill>
                  <a:srgbClr val="0F1F5C"/>
                </a:solidFill>
                <a:latin typeface="Trebuchet MS" pitchFamily="34" charset="0"/>
                <a:ea typeface="Trebuchet MS" pitchFamily="34" charset="-122"/>
                <a:cs typeface="Trebuchet MS" pitchFamily="34" charset="-120"/>
              </a:rPr>
              <a:t>Prospect</a:t>
            </a:r>
            <a:endParaRPr lang="en-US" sz="1400" dirty="0"/>
          </a:p>
        </p:txBody>
      </p:sp>
      <p:sp>
        <p:nvSpPr>
          <p:cNvPr id="10" name="Text 8"/>
          <p:cNvSpPr/>
          <p:nvPr/>
        </p:nvSpPr>
        <p:spPr>
          <a:xfrm>
            <a:off x="274320" y="1810512"/>
            <a:ext cx="1298448" cy="2468880"/>
          </a:xfrm>
          <a:prstGeom prst="rect">
            <a:avLst/>
          </a:prstGeom>
          <a:noFill/>
          <a:ln/>
        </p:spPr>
        <p:txBody>
          <a:bodyPr wrap="square" rtlCol="0" anchor="t"/>
          <a:lstStyle/>
          <a:p>
            <a:pPr algn="ctr" indent="0" marL="0">
              <a:buNone/>
            </a:pPr>
            <a:r>
              <a:rPr lang="en-US" sz="1100" dirty="0">
                <a:solidFill>
                  <a:srgbClr val="1E1E3A"/>
                </a:solidFill>
                <a:latin typeface="Calibri" pitchFamily="34" charset="0"/>
                <a:ea typeface="Calibri" pitchFamily="34" charset="-122"/>
                <a:cs typeface="Calibri" pitchFamily="34" charset="-120"/>
              </a:rPr>
              <a:t>Identify ≤100 employee orgs</a:t>
            </a:r>
            <a:endParaRPr lang="en-US" sz="1100" dirty="0"/>
          </a:p>
          <a:p>
            <a:pPr algn="ctr" indent="0" marL="0">
              <a:buNone/>
            </a:pPr>
            <a:r>
              <a:rPr lang="en-US" sz="1100" dirty="0">
                <a:solidFill>
                  <a:srgbClr val="1E1E3A"/>
                </a:solidFill>
                <a:latin typeface="Calibri" pitchFamily="34" charset="0"/>
                <a:ea typeface="Calibri" pitchFamily="34" charset="-122"/>
                <a:cs typeface="Calibri" pitchFamily="34" charset="-120"/>
              </a:rPr>
              <a:t>via LinkedIn, referrals, events</a:t>
            </a:r>
            <a:endParaRPr lang="en-US" sz="1100" dirty="0"/>
          </a:p>
        </p:txBody>
      </p:sp>
      <p:sp>
        <p:nvSpPr>
          <p:cNvPr id="11" name="Shape 9"/>
          <p:cNvSpPr/>
          <p:nvPr/>
        </p:nvSpPr>
        <p:spPr>
          <a:xfrm>
            <a:off x="3044952" y="1188720"/>
            <a:ext cx="36576" cy="256032"/>
          </a:xfrm>
          <a:prstGeom prst="rect">
            <a:avLst/>
          </a:prstGeom>
          <a:solidFill>
            <a:srgbClr val="CCCCCC"/>
          </a:solidFill>
          <a:ln w="12700">
            <a:solidFill>
              <a:srgbClr val="CCCCCC"/>
            </a:solidFill>
            <a:prstDash val="solid"/>
          </a:ln>
        </p:spPr>
      </p:sp>
      <p:sp>
        <p:nvSpPr>
          <p:cNvPr id="12" name="Shape 10"/>
          <p:cNvSpPr/>
          <p:nvPr/>
        </p:nvSpPr>
        <p:spPr>
          <a:xfrm>
            <a:off x="1655064" y="594360"/>
            <a:ext cx="1389888" cy="3858768"/>
          </a:xfrm>
          <a:prstGeom prst="rect">
            <a:avLst/>
          </a:prstGeom>
          <a:solidFill>
            <a:srgbClr val="F2F4FA"/>
          </a:solidFill>
          <a:ln w="12700">
            <a:solidFill>
              <a:srgbClr val="CCCCCC"/>
            </a:solidFill>
            <a:prstDash val="solid"/>
          </a:ln>
        </p:spPr>
      </p:sp>
      <p:sp>
        <p:nvSpPr>
          <p:cNvPr id="13" name="Shape 11"/>
          <p:cNvSpPr/>
          <p:nvPr/>
        </p:nvSpPr>
        <p:spPr>
          <a:xfrm>
            <a:off x="1655064" y="594360"/>
            <a:ext cx="1389888" cy="502920"/>
          </a:xfrm>
          <a:prstGeom prst="rect">
            <a:avLst/>
          </a:prstGeom>
          <a:solidFill>
            <a:srgbClr val="F7941D"/>
          </a:solidFill>
          <a:ln w="12700">
            <a:solidFill>
              <a:srgbClr val="F7941D"/>
            </a:solidFill>
            <a:prstDash val="solid"/>
          </a:ln>
        </p:spPr>
      </p:sp>
      <p:sp>
        <p:nvSpPr>
          <p:cNvPr id="14" name="Text 12"/>
          <p:cNvSpPr/>
          <p:nvPr/>
        </p:nvSpPr>
        <p:spPr>
          <a:xfrm>
            <a:off x="1655064" y="621792"/>
            <a:ext cx="1389888" cy="438912"/>
          </a:xfrm>
          <a:prstGeom prst="rect">
            <a:avLst/>
          </a:prstGeom>
          <a:noFill/>
          <a:ln/>
        </p:spPr>
        <p:txBody>
          <a:bodyPr wrap="square"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15" name="Text 13"/>
          <p:cNvSpPr/>
          <p:nvPr/>
        </p:nvSpPr>
        <p:spPr>
          <a:xfrm>
            <a:off x="1700784" y="1133856"/>
            <a:ext cx="1298448" cy="640080"/>
          </a:xfrm>
          <a:prstGeom prst="rect">
            <a:avLst/>
          </a:prstGeom>
          <a:noFill/>
          <a:ln/>
        </p:spPr>
        <p:txBody>
          <a:bodyPr wrap="square" rtlCol="0" anchor="ctr"/>
          <a:lstStyle/>
          <a:p>
            <a:pPr algn="ctr" indent="0" marL="0">
              <a:buNone/>
            </a:pPr>
            <a:r>
              <a:rPr lang="en-US" sz="1400" b="1" dirty="0">
                <a:solidFill>
                  <a:srgbClr val="0F1F5C"/>
                </a:solidFill>
                <a:latin typeface="Trebuchet MS" pitchFamily="34" charset="0"/>
                <a:ea typeface="Trebuchet MS" pitchFamily="34" charset="-122"/>
                <a:cs typeface="Trebuchet MS" pitchFamily="34" charset="-120"/>
              </a:rPr>
              <a:t>Discovery</a:t>
            </a:r>
            <a:endParaRPr lang="en-US" sz="1400" dirty="0"/>
          </a:p>
          <a:p>
            <a:pPr algn="ctr" indent="0" marL="0">
              <a:buNone/>
            </a:pPr>
            <a:r>
              <a:rPr lang="en-US" sz="1400" b="1" dirty="0">
                <a:solidFill>
                  <a:srgbClr val="0F1F5C"/>
                </a:solidFill>
                <a:latin typeface="Trebuchet MS" pitchFamily="34" charset="0"/>
                <a:ea typeface="Trebuchet MS" pitchFamily="34" charset="-122"/>
                <a:cs typeface="Trebuchet MS" pitchFamily="34" charset="-120"/>
              </a:rPr>
              <a:t>Call</a:t>
            </a:r>
            <a:endParaRPr lang="en-US" sz="1400" dirty="0"/>
          </a:p>
        </p:txBody>
      </p:sp>
      <p:sp>
        <p:nvSpPr>
          <p:cNvPr id="16" name="Text 14"/>
          <p:cNvSpPr/>
          <p:nvPr/>
        </p:nvSpPr>
        <p:spPr>
          <a:xfrm>
            <a:off x="1700784" y="1810512"/>
            <a:ext cx="1298448" cy="2468880"/>
          </a:xfrm>
          <a:prstGeom prst="rect">
            <a:avLst/>
          </a:prstGeom>
          <a:noFill/>
          <a:ln/>
        </p:spPr>
        <p:txBody>
          <a:bodyPr wrap="square" rtlCol="0" anchor="t"/>
          <a:lstStyle/>
          <a:p>
            <a:pPr algn="ctr" indent="0" marL="0">
              <a:buNone/>
            </a:pPr>
            <a:r>
              <a:rPr lang="en-US" sz="1100" dirty="0">
                <a:solidFill>
                  <a:srgbClr val="1E1E3A"/>
                </a:solidFill>
                <a:latin typeface="Calibri" pitchFamily="34" charset="0"/>
                <a:ea typeface="Calibri" pitchFamily="34" charset="-122"/>
                <a:cs typeface="Calibri" pitchFamily="34" charset="-120"/>
              </a:rPr>
              <a:t>Learn pain points, HR maturity,</a:t>
            </a:r>
            <a:endParaRPr lang="en-US" sz="1100" dirty="0"/>
          </a:p>
          <a:p>
            <a:pPr algn="ctr" indent="0" marL="0">
              <a:buNone/>
            </a:pPr>
            <a:r>
              <a:rPr lang="en-US" sz="1100" dirty="0">
                <a:solidFill>
                  <a:srgbClr val="1E1E3A"/>
                </a:solidFill>
                <a:latin typeface="Calibri" pitchFamily="34" charset="0"/>
                <a:ea typeface="Calibri" pitchFamily="34" charset="-122"/>
                <a:cs typeface="Calibri" pitchFamily="34" charset="-120"/>
              </a:rPr>
              <a:t>current tools, headcount</a:t>
            </a:r>
            <a:endParaRPr lang="en-US" sz="1100" dirty="0"/>
          </a:p>
        </p:txBody>
      </p:sp>
      <p:sp>
        <p:nvSpPr>
          <p:cNvPr id="17" name="Shape 15"/>
          <p:cNvSpPr/>
          <p:nvPr/>
        </p:nvSpPr>
        <p:spPr>
          <a:xfrm>
            <a:off x="4471416" y="1188720"/>
            <a:ext cx="36576" cy="256032"/>
          </a:xfrm>
          <a:prstGeom prst="rect">
            <a:avLst/>
          </a:prstGeom>
          <a:solidFill>
            <a:srgbClr val="CCCCCC"/>
          </a:solidFill>
          <a:ln w="12700">
            <a:solidFill>
              <a:srgbClr val="CCCCCC"/>
            </a:solidFill>
            <a:prstDash val="solid"/>
          </a:ln>
        </p:spPr>
      </p:sp>
      <p:sp>
        <p:nvSpPr>
          <p:cNvPr id="18" name="Shape 16"/>
          <p:cNvSpPr/>
          <p:nvPr/>
        </p:nvSpPr>
        <p:spPr>
          <a:xfrm>
            <a:off x="3081528" y="594360"/>
            <a:ext cx="1389888" cy="3858768"/>
          </a:xfrm>
          <a:prstGeom prst="rect">
            <a:avLst/>
          </a:prstGeom>
          <a:solidFill>
            <a:srgbClr val="F2F4FA"/>
          </a:solidFill>
          <a:ln w="12700">
            <a:solidFill>
              <a:srgbClr val="CCCCCC"/>
            </a:solidFill>
            <a:prstDash val="solid"/>
          </a:ln>
        </p:spPr>
      </p:sp>
      <p:sp>
        <p:nvSpPr>
          <p:cNvPr id="19" name="Shape 17"/>
          <p:cNvSpPr/>
          <p:nvPr/>
        </p:nvSpPr>
        <p:spPr>
          <a:xfrm>
            <a:off x="3081528" y="594360"/>
            <a:ext cx="1389888" cy="502920"/>
          </a:xfrm>
          <a:prstGeom prst="rect">
            <a:avLst/>
          </a:prstGeom>
          <a:solidFill>
            <a:srgbClr val="F7941D"/>
          </a:solidFill>
          <a:ln w="12700">
            <a:solidFill>
              <a:srgbClr val="F7941D"/>
            </a:solidFill>
            <a:prstDash val="solid"/>
          </a:ln>
        </p:spPr>
      </p:sp>
      <p:sp>
        <p:nvSpPr>
          <p:cNvPr id="20" name="Text 18"/>
          <p:cNvSpPr/>
          <p:nvPr/>
        </p:nvSpPr>
        <p:spPr>
          <a:xfrm>
            <a:off x="3081528" y="621792"/>
            <a:ext cx="1389888" cy="438912"/>
          </a:xfrm>
          <a:prstGeom prst="rect">
            <a:avLst/>
          </a:prstGeom>
          <a:noFill/>
          <a:ln/>
        </p:spPr>
        <p:txBody>
          <a:bodyPr wrap="square"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21" name="Text 19"/>
          <p:cNvSpPr/>
          <p:nvPr/>
        </p:nvSpPr>
        <p:spPr>
          <a:xfrm>
            <a:off x="3127248" y="1133856"/>
            <a:ext cx="1298448" cy="640080"/>
          </a:xfrm>
          <a:prstGeom prst="rect">
            <a:avLst/>
          </a:prstGeom>
          <a:noFill/>
          <a:ln/>
        </p:spPr>
        <p:txBody>
          <a:bodyPr wrap="square" rtlCol="0" anchor="ctr"/>
          <a:lstStyle/>
          <a:p>
            <a:pPr algn="ctr" indent="0" marL="0">
              <a:buNone/>
            </a:pPr>
            <a:r>
              <a:rPr lang="en-US" sz="1400" b="1" dirty="0">
                <a:solidFill>
                  <a:srgbClr val="0F1F5C"/>
                </a:solidFill>
                <a:latin typeface="Trebuchet MS" pitchFamily="34" charset="0"/>
                <a:ea typeface="Trebuchet MS" pitchFamily="34" charset="-122"/>
                <a:cs typeface="Trebuchet MS" pitchFamily="34" charset="-120"/>
              </a:rPr>
              <a:t>Demo</a:t>
            </a:r>
            <a:endParaRPr lang="en-US" sz="1400" dirty="0"/>
          </a:p>
        </p:txBody>
      </p:sp>
      <p:sp>
        <p:nvSpPr>
          <p:cNvPr id="22" name="Text 20"/>
          <p:cNvSpPr/>
          <p:nvPr/>
        </p:nvSpPr>
        <p:spPr>
          <a:xfrm>
            <a:off x="3127248" y="1810512"/>
            <a:ext cx="1298448" cy="2468880"/>
          </a:xfrm>
          <a:prstGeom prst="rect">
            <a:avLst/>
          </a:prstGeom>
          <a:noFill/>
          <a:ln/>
        </p:spPr>
        <p:txBody>
          <a:bodyPr wrap="square" rtlCol="0" anchor="t"/>
          <a:lstStyle/>
          <a:p>
            <a:pPr algn="ctr" indent="0" marL="0">
              <a:buNone/>
            </a:pPr>
            <a:r>
              <a:rPr lang="en-US" sz="1100" dirty="0">
                <a:solidFill>
                  <a:srgbClr val="1E1E3A"/>
                </a:solidFill>
                <a:latin typeface="Calibri" pitchFamily="34" charset="0"/>
                <a:ea typeface="Calibri" pitchFamily="34" charset="-122"/>
                <a:cs typeface="Calibri" pitchFamily="34" charset="-120"/>
              </a:rPr>
              <a:t>Tailored by client type</a:t>
            </a:r>
            <a:endParaRPr lang="en-US" sz="1100" dirty="0"/>
          </a:p>
          <a:p>
            <a:pPr algn="ctr" indent="0" marL="0">
              <a:buNone/>
            </a:pPr>
            <a:r>
              <a:rPr lang="en-US" sz="1100" dirty="0">
                <a:solidFill>
                  <a:srgbClr val="1E1E3A"/>
                </a:solidFill>
                <a:latin typeface="Calibri" pitchFamily="34" charset="0"/>
                <a:ea typeface="Calibri" pitchFamily="34" charset="-122"/>
                <a:cs typeface="Calibri" pitchFamily="34" charset="-120"/>
              </a:rPr>
              <a:t>(HR, Executive, Nonprofit)</a:t>
            </a:r>
            <a:endParaRPr lang="en-US" sz="1100" dirty="0"/>
          </a:p>
        </p:txBody>
      </p:sp>
      <p:sp>
        <p:nvSpPr>
          <p:cNvPr id="23" name="Shape 21"/>
          <p:cNvSpPr/>
          <p:nvPr/>
        </p:nvSpPr>
        <p:spPr>
          <a:xfrm>
            <a:off x="5897880" y="1188720"/>
            <a:ext cx="36576" cy="256032"/>
          </a:xfrm>
          <a:prstGeom prst="rect">
            <a:avLst/>
          </a:prstGeom>
          <a:solidFill>
            <a:srgbClr val="CCCCCC"/>
          </a:solidFill>
          <a:ln w="12700">
            <a:solidFill>
              <a:srgbClr val="CCCCCC"/>
            </a:solidFill>
            <a:prstDash val="solid"/>
          </a:ln>
        </p:spPr>
      </p:sp>
      <p:sp>
        <p:nvSpPr>
          <p:cNvPr id="24" name="Shape 22"/>
          <p:cNvSpPr/>
          <p:nvPr/>
        </p:nvSpPr>
        <p:spPr>
          <a:xfrm>
            <a:off x="4507992" y="594360"/>
            <a:ext cx="1389888" cy="3858768"/>
          </a:xfrm>
          <a:prstGeom prst="rect">
            <a:avLst/>
          </a:prstGeom>
          <a:solidFill>
            <a:srgbClr val="F2F4FA"/>
          </a:solidFill>
          <a:ln w="12700">
            <a:solidFill>
              <a:srgbClr val="CCCCCC"/>
            </a:solidFill>
            <a:prstDash val="solid"/>
          </a:ln>
        </p:spPr>
      </p:sp>
      <p:sp>
        <p:nvSpPr>
          <p:cNvPr id="25" name="Shape 23"/>
          <p:cNvSpPr/>
          <p:nvPr/>
        </p:nvSpPr>
        <p:spPr>
          <a:xfrm>
            <a:off x="4507992" y="594360"/>
            <a:ext cx="1389888" cy="502920"/>
          </a:xfrm>
          <a:prstGeom prst="rect">
            <a:avLst/>
          </a:prstGeom>
          <a:solidFill>
            <a:srgbClr val="F7941D"/>
          </a:solidFill>
          <a:ln w="12700">
            <a:solidFill>
              <a:srgbClr val="F7941D"/>
            </a:solidFill>
            <a:prstDash val="solid"/>
          </a:ln>
        </p:spPr>
      </p:sp>
      <p:sp>
        <p:nvSpPr>
          <p:cNvPr id="26" name="Text 24"/>
          <p:cNvSpPr/>
          <p:nvPr/>
        </p:nvSpPr>
        <p:spPr>
          <a:xfrm>
            <a:off x="4507992" y="621792"/>
            <a:ext cx="1389888" cy="438912"/>
          </a:xfrm>
          <a:prstGeom prst="rect">
            <a:avLst/>
          </a:prstGeom>
          <a:noFill/>
          <a:ln/>
        </p:spPr>
        <p:txBody>
          <a:bodyPr wrap="square"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4</a:t>
            </a:r>
            <a:endParaRPr lang="en-US" sz="2000" dirty="0"/>
          </a:p>
        </p:txBody>
      </p:sp>
      <p:sp>
        <p:nvSpPr>
          <p:cNvPr id="27" name="Text 25"/>
          <p:cNvSpPr/>
          <p:nvPr/>
        </p:nvSpPr>
        <p:spPr>
          <a:xfrm>
            <a:off x="4553712" y="1133856"/>
            <a:ext cx="1298448" cy="640080"/>
          </a:xfrm>
          <a:prstGeom prst="rect">
            <a:avLst/>
          </a:prstGeom>
          <a:noFill/>
          <a:ln/>
        </p:spPr>
        <p:txBody>
          <a:bodyPr wrap="square" rtlCol="0" anchor="ctr"/>
          <a:lstStyle/>
          <a:p>
            <a:pPr algn="ctr" indent="0" marL="0">
              <a:buNone/>
            </a:pPr>
            <a:r>
              <a:rPr lang="en-US" sz="1400" b="1" dirty="0">
                <a:solidFill>
                  <a:srgbClr val="0F1F5C"/>
                </a:solidFill>
                <a:latin typeface="Trebuchet MS" pitchFamily="34" charset="0"/>
                <a:ea typeface="Trebuchet MS" pitchFamily="34" charset="-122"/>
                <a:cs typeface="Trebuchet MS" pitchFamily="34" charset="-120"/>
              </a:rPr>
              <a:t>Proposal</a:t>
            </a:r>
            <a:endParaRPr lang="en-US" sz="1400" dirty="0"/>
          </a:p>
        </p:txBody>
      </p:sp>
      <p:sp>
        <p:nvSpPr>
          <p:cNvPr id="28" name="Text 26"/>
          <p:cNvSpPr/>
          <p:nvPr/>
        </p:nvSpPr>
        <p:spPr>
          <a:xfrm>
            <a:off x="4553712" y="1810512"/>
            <a:ext cx="1298448" cy="2468880"/>
          </a:xfrm>
          <a:prstGeom prst="rect">
            <a:avLst/>
          </a:prstGeom>
          <a:noFill/>
          <a:ln/>
        </p:spPr>
        <p:txBody>
          <a:bodyPr wrap="square" rtlCol="0" anchor="t"/>
          <a:lstStyle/>
          <a:p>
            <a:pPr algn="ctr" indent="0" marL="0">
              <a:buNone/>
            </a:pPr>
            <a:r>
              <a:rPr lang="en-US" sz="1100" dirty="0">
                <a:solidFill>
                  <a:srgbClr val="1E1E3A"/>
                </a:solidFill>
                <a:latin typeface="Calibri" pitchFamily="34" charset="0"/>
                <a:ea typeface="Calibri" pitchFamily="34" charset="-122"/>
                <a:cs typeface="Calibri" pitchFamily="34" charset="-120"/>
              </a:rPr>
              <a:t>Right-size tier + modules</a:t>
            </a:r>
            <a:endParaRPr lang="en-US" sz="1100" dirty="0"/>
          </a:p>
          <a:p>
            <a:pPr algn="ctr" indent="0" marL="0">
              <a:buNone/>
            </a:pPr>
            <a:r>
              <a:rPr lang="en-US" sz="1100" dirty="0">
                <a:solidFill>
                  <a:srgbClr val="1E1E3A"/>
                </a:solidFill>
                <a:latin typeface="Calibri" pitchFamily="34" charset="0"/>
                <a:ea typeface="Calibri" pitchFamily="34" charset="-122"/>
                <a:cs typeface="Calibri" pitchFamily="34" charset="-120"/>
              </a:rPr>
              <a:t>founding client offer if eligible</a:t>
            </a:r>
            <a:endParaRPr lang="en-US" sz="1100" dirty="0"/>
          </a:p>
        </p:txBody>
      </p:sp>
      <p:sp>
        <p:nvSpPr>
          <p:cNvPr id="29" name="Shape 27"/>
          <p:cNvSpPr/>
          <p:nvPr/>
        </p:nvSpPr>
        <p:spPr>
          <a:xfrm>
            <a:off x="7324344" y="1188720"/>
            <a:ext cx="36576" cy="256032"/>
          </a:xfrm>
          <a:prstGeom prst="rect">
            <a:avLst/>
          </a:prstGeom>
          <a:solidFill>
            <a:srgbClr val="CCCCCC"/>
          </a:solidFill>
          <a:ln w="12700">
            <a:solidFill>
              <a:srgbClr val="CCCCCC"/>
            </a:solidFill>
            <a:prstDash val="solid"/>
          </a:ln>
        </p:spPr>
      </p:sp>
      <p:sp>
        <p:nvSpPr>
          <p:cNvPr id="30" name="Shape 28"/>
          <p:cNvSpPr/>
          <p:nvPr/>
        </p:nvSpPr>
        <p:spPr>
          <a:xfrm>
            <a:off x="5934456" y="594360"/>
            <a:ext cx="1389888" cy="3858768"/>
          </a:xfrm>
          <a:prstGeom prst="rect">
            <a:avLst/>
          </a:prstGeom>
          <a:solidFill>
            <a:srgbClr val="F2F4FA"/>
          </a:solidFill>
          <a:ln w="12700">
            <a:solidFill>
              <a:srgbClr val="CCCCCC"/>
            </a:solidFill>
            <a:prstDash val="solid"/>
          </a:ln>
        </p:spPr>
      </p:sp>
      <p:sp>
        <p:nvSpPr>
          <p:cNvPr id="31" name="Shape 29"/>
          <p:cNvSpPr/>
          <p:nvPr/>
        </p:nvSpPr>
        <p:spPr>
          <a:xfrm>
            <a:off x="5934456" y="594360"/>
            <a:ext cx="1389888" cy="502920"/>
          </a:xfrm>
          <a:prstGeom prst="rect">
            <a:avLst/>
          </a:prstGeom>
          <a:solidFill>
            <a:srgbClr val="F7941D"/>
          </a:solidFill>
          <a:ln w="12700">
            <a:solidFill>
              <a:srgbClr val="F7941D"/>
            </a:solidFill>
            <a:prstDash val="solid"/>
          </a:ln>
        </p:spPr>
      </p:sp>
      <p:sp>
        <p:nvSpPr>
          <p:cNvPr id="32" name="Text 30"/>
          <p:cNvSpPr/>
          <p:nvPr/>
        </p:nvSpPr>
        <p:spPr>
          <a:xfrm>
            <a:off x="5934456" y="621792"/>
            <a:ext cx="1389888" cy="438912"/>
          </a:xfrm>
          <a:prstGeom prst="rect">
            <a:avLst/>
          </a:prstGeom>
          <a:noFill/>
          <a:ln/>
        </p:spPr>
        <p:txBody>
          <a:bodyPr wrap="square"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5</a:t>
            </a:r>
            <a:endParaRPr lang="en-US" sz="2000" dirty="0"/>
          </a:p>
        </p:txBody>
      </p:sp>
      <p:sp>
        <p:nvSpPr>
          <p:cNvPr id="33" name="Text 31"/>
          <p:cNvSpPr/>
          <p:nvPr/>
        </p:nvSpPr>
        <p:spPr>
          <a:xfrm>
            <a:off x="5980176" y="1133856"/>
            <a:ext cx="1298448" cy="640080"/>
          </a:xfrm>
          <a:prstGeom prst="rect">
            <a:avLst/>
          </a:prstGeom>
          <a:noFill/>
          <a:ln/>
        </p:spPr>
        <p:txBody>
          <a:bodyPr wrap="square" rtlCol="0" anchor="ctr"/>
          <a:lstStyle/>
          <a:p>
            <a:pPr algn="ctr" indent="0" marL="0">
              <a:buNone/>
            </a:pPr>
            <a:r>
              <a:rPr lang="en-US" sz="1400" b="1" dirty="0">
                <a:solidFill>
                  <a:srgbClr val="0F1F5C"/>
                </a:solidFill>
                <a:latin typeface="Trebuchet MS" pitchFamily="34" charset="0"/>
                <a:ea typeface="Trebuchet MS" pitchFamily="34" charset="-122"/>
                <a:cs typeface="Trebuchet MS" pitchFamily="34" charset="-120"/>
              </a:rPr>
              <a:t>Close</a:t>
            </a:r>
            <a:endParaRPr lang="en-US" sz="1400" dirty="0"/>
          </a:p>
        </p:txBody>
      </p:sp>
      <p:sp>
        <p:nvSpPr>
          <p:cNvPr id="34" name="Text 32"/>
          <p:cNvSpPr/>
          <p:nvPr/>
        </p:nvSpPr>
        <p:spPr>
          <a:xfrm>
            <a:off x="5980176" y="1810512"/>
            <a:ext cx="1298448" cy="2468880"/>
          </a:xfrm>
          <a:prstGeom prst="rect">
            <a:avLst/>
          </a:prstGeom>
          <a:noFill/>
          <a:ln/>
        </p:spPr>
        <p:txBody>
          <a:bodyPr wrap="square" rtlCol="0" anchor="t"/>
          <a:lstStyle/>
          <a:p>
            <a:pPr algn="ctr" indent="0" marL="0">
              <a:buNone/>
            </a:pPr>
            <a:r>
              <a:rPr lang="en-US" sz="1100" dirty="0">
                <a:solidFill>
                  <a:srgbClr val="1E1E3A"/>
                </a:solidFill>
                <a:latin typeface="Calibri" pitchFamily="34" charset="0"/>
                <a:ea typeface="Calibri" pitchFamily="34" charset="-122"/>
                <a:cs typeface="Calibri" pitchFamily="34" charset="-120"/>
              </a:rPr>
              <a:t>Confirm terms, Stripe payment</a:t>
            </a:r>
            <a:endParaRPr lang="en-US" sz="1100" dirty="0"/>
          </a:p>
          <a:p>
            <a:pPr algn="ctr" indent="0" marL="0">
              <a:buNone/>
            </a:pPr>
            <a:r>
              <a:rPr lang="en-US" sz="1100" dirty="0">
                <a:solidFill>
                  <a:srgbClr val="1E1E3A"/>
                </a:solidFill>
                <a:latin typeface="Calibri" pitchFamily="34" charset="0"/>
                <a:ea typeface="Calibri" pitchFamily="34" charset="-122"/>
                <a:cs typeface="Calibri" pitchFamily="34" charset="-120"/>
              </a:rPr>
              <a:t>e-signature on onboarding</a:t>
            </a:r>
            <a:endParaRPr lang="en-US" sz="1100" dirty="0"/>
          </a:p>
        </p:txBody>
      </p:sp>
      <p:sp>
        <p:nvSpPr>
          <p:cNvPr id="35" name="Shape 33"/>
          <p:cNvSpPr/>
          <p:nvPr/>
        </p:nvSpPr>
        <p:spPr>
          <a:xfrm>
            <a:off x="7360920" y="594360"/>
            <a:ext cx="1389888" cy="3858768"/>
          </a:xfrm>
          <a:prstGeom prst="rect">
            <a:avLst/>
          </a:prstGeom>
          <a:solidFill>
            <a:srgbClr val="F2F4FA"/>
          </a:solidFill>
          <a:ln w="12700">
            <a:solidFill>
              <a:srgbClr val="CCCCCC"/>
            </a:solidFill>
            <a:prstDash val="solid"/>
          </a:ln>
        </p:spPr>
      </p:sp>
      <p:sp>
        <p:nvSpPr>
          <p:cNvPr id="36" name="Shape 34"/>
          <p:cNvSpPr/>
          <p:nvPr/>
        </p:nvSpPr>
        <p:spPr>
          <a:xfrm>
            <a:off x="7360920" y="594360"/>
            <a:ext cx="1389888" cy="502920"/>
          </a:xfrm>
          <a:prstGeom prst="rect">
            <a:avLst/>
          </a:prstGeom>
          <a:solidFill>
            <a:srgbClr val="F7941D"/>
          </a:solidFill>
          <a:ln w="12700">
            <a:solidFill>
              <a:srgbClr val="F7941D"/>
            </a:solidFill>
            <a:prstDash val="solid"/>
          </a:ln>
        </p:spPr>
      </p:sp>
      <p:sp>
        <p:nvSpPr>
          <p:cNvPr id="37" name="Text 35"/>
          <p:cNvSpPr/>
          <p:nvPr/>
        </p:nvSpPr>
        <p:spPr>
          <a:xfrm>
            <a:off x="7360920" y="621792"/>
            <a:ext cx="1389888" cy="438912"/>
          </a:xfrm>
          <a:prstGeom prst="rect">
            <a:avLst/>
          </a:prstGeom>
          <a:noFill/>
          <a:ln/>
        </p:spPr>
        <p:txBody>
          <a:bodyPr wrap="square"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6</a:t>
            </a:r>
            <a:endParaRPr lang="en-US" sz="2000" dirty="0"/>
          </a:p>
        </p:txBody>
      </p:sp>
      <p:sp>
        <p:nvSpPr>
          <p:cNvPr id="38" name="Text 36"/>
          <p:cNvSpPr/>
          <p:nvPr/>
        </p:nvSpPr>
        <p:spPr>
          <a:xfrm>
            <a:off x="7406640" y="1133856"/>
            <a:ext cx="1298448" cy="640080"/>
          </a:xfrm>
          <a:prstGeom prst="rect">
            <a:avLst/>
          </a:prstGeom>
          <a:noFill/>
          <a:ln/>
        </p:spPr>
        <p:txBody>
          <a:bodyPr wrap="square" rtlCol="0" anchor="ctr"/>
          <a:lstStyle/>
          <a:p>
            <a:pPr algn="ctr" indent="0" marL="0">
              <a:buNone/>
            </a:pPr>
            <a:r>
              <a:rPr lang="en-US" sz="1400" b="1" dirty="0">
                <a:solidFill>
                  <a:srgbClr val="0F1F5C"/>
                </a:solidFill>
                <a:latin typeface="Trebuchet MS" pitchFamily="34" charset="0"/>
                <a:ea typeface="Trebuchet MS" pitchFamily="34" charset="-122"/>
                <a:cs typeface="Trebuchet MS" pitchFamily="34" charset="-120"/>
              </a:rPr>
              <a:t>Handoff</a:t>
            </a:r>
            <a:endParaRPr lang="en-US" sz="1400" dirty="0"/>
          </a:p>
        </p:txBody>
      </p:sp>
      <p:sp>
        <p:nvSpPr>
          <p:cNvPr id="39" name="Text 37"/>
          <p:cNvSpPr/>
          <p:nvPr/>
        </p:nvSpPr>
        <p:spPr>
          <a:xfrm>
            <a:off x="7406640" y="1810512"/>
            <a:ext cx="1298448" cy="2468880"/>
          </a:xfrm>
          <a:prstGeom prst="rect">
            <a:avLst/>
          </a:prstGeom>
          <a:noFill/>
          <a:ln/>
        </p:spPr>
        <p:txBody>
          <a:bodyPr wrap="square" rtlCol="0" anchor="t"/>
          <a:lstStyle/>
          <a:p>
            <a:pPr algn="ctr" indent="0" marL="0">
              <a:buNone/>
            </a:pPr>
            <a:r>
              <a:rPr lang="en-US" sz="1100" dirty="0">
                <a:solidFill>
                  <a:srgbClr val="1E1E3A"/>
                </a:solidFill>
                <a:latin typeface="Calibri" pitchFamily="34" charset="0"/>
                <a:ea typeface="Calibri" pitchFamily="34" charset="-122"/>
                <a:cs typeface="Calibri" pitchFamily="34" charset="-120"/>
              </a:rPr>
              <a:t>CRM checklist to Tech Support</a:t>
            </a:r>
            <a:endParaRPr lang="en-US" sz="1100" dirty="0"/>
          </a:p>
          <a:p>
            <a:pPr algn="ctr" indent="0" marL="0">
              <a:buNone/>
            </a:pPr>
            <a:r>
              <a:rPr lang="en-US" sz="1100" dirty="0">
                <a:solidFill>
                  <a:srgbClr val="1E1E3A"/>
                </a:solidFill>
                <a:latin typeface="Calibri" pitchFamily="34" charset="0"/>
                <a:ea typeface="Calibri" pitchFamily="34" charset="-122"/>
                <a:cs typeface="Calibri" pitchFamily="34" charset="-120"/>
              </a:rPr>
              <a:t>within 4 business hours</a:t>
            </a:r>
            <a:endParaRPr lang="en-US" sz="1100" dirty="0"/>
          </a:p>
        </p:txBody>
      </p:sp>
      <p:sp>
        <p:nvSpPr>
          <p:cNvPr id="40" name="Shape 38"/>
          <p:cNvSpPr/>
          <p:nvPr/>
        </p:nvSpPr>
        <p:spPr>
          <a:xfrm>
            <a:off x="0" y="4887468"/>
            <a:ext cx="9144000" cy="256032"/>
          </a:xfrm>
          <a:prstGeom prst="rect">
            <a:avLst/>
          </a:prstGeom>
          <a:solidFill>
            <a:srgbClr val="0F1F5C"/>
          </a:solidFill>
          <a:ln w="12700">
            <a:solidFill>
              <a:srgbClr val="0F1F5C"/>
            </a:solidFill>
            <a:prstDash val="solid"/>
          </a:ln>
        </p:spPr>
      </p:sp>
      <p:sp>
        <p:nvSpPr>
          <p:cNvPr id="41" name="Text 39"/>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42" name="Text 40"/>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PRICING QUICK REFERENCE</a:t>
            </a:r>
            <a:endParaRPr lang="en-US" sz="1400" dirty="0"/>
          </a:p>
        </p:txBody>
      </p:sp>
      <p:sp>
        <p:nvSpPr>
          <p:cNvPr id="5" name="Text 3"/>
          <p:cNvSpPr/>
          <p:nvPr/>
        </p:nvSpPr>
        <p:spPr>
          <a:xfrm>
            <a:off x="457200" y="576072"/>
            <a:ext cx="8229600" cy="347472"/>
          </a:xfrm>
          <a:prstGeom prst="rect">
            <a:avLst/>
          </a:prstGeom>
          <a:noFill/>
          <a:ln/>
        </p:spPr>
        <p:txBody>
          <a:bodyPr wrap="square" rtlCol="0" anchor="ctr"/>
          <a:lstStyle/>
          <a:p>
            <a:pPr indent="0" marL="0">
              <a:buNone/>
            </a:pPr>
            <a:r>
              <a:rPr lang="en-US" sz="1800" b="1" dirty="0">
                <a:solidFill>
                  <a:srgbClr val="0F1F5C"/>
                </a:solidFill>
                <a:latin typeface="Trebuchet MS" pitchFamily="34" charset="0"/>
                <a:ea typeface="Trebuchet MS" pitchFamily="34" charset="-122"/>
                <a:cs typeface="Trebuchet MS" pitchFamily="34" charset="-120"/>
              </a:rPr>
              <a:t>Current Pricing Tiers</a:t>
            </a:r>
            <a:endParaRPr lang="en-US" sz="1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74320" y="987552"/>
          <a:ext cx="6858000" cy="914400"/>
        </p:xfrm>
        <a:graphic>
          <a:graphicData uri="http://schemas.openxmlformats.org/drawingml/2006/table">
            <a:tbl>
              <a:tblPr/>
              <a:tblGrid>
                <a:gridCol w="1097280"/>
                <a:gridCol w="914400"/>
                <a:gridCol w="1188720"/>
                <a:gridCol w="914400"/>
                <a:gridCol w="1188720"/>
                <a:gridCol w="2606040"/>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Tier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Employees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Modules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Monthly</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Annual (15% off)</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Notes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r>
              <a:tr h="43891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Starter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 25</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1 module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$149/mo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$1,519/yr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Best for small teams just starting</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3891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Growth</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 50</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2 modules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$299/mo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$3,050/yr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Most popular — Roles + Perform</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43891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Suite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 75</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All 4</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$499/mo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$5,090/yr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Full platform access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3891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Enterprise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 100</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All 4 + Priority</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$699/mo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$7,130/yr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Dedicated support SLA</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bl>
          </a:graphicData>
        </a:graphic>
      </p:graphicFrame>
      <p:sp>
        <p:nvSpPr>
          <p:cNvPr id="7" name="Shape 4"/>
          <p:cNvSpPr/>
          <p:nvPr/>
        </p:nvSpPr>
        <p:spPr>
          <a:xfrm>
            <a:off x="274320" y="3456432"/>
            <a:ext cx="8595360" cy="502920"/>
          </a:xfrm>
          <a:prstGeom prst="rect">
            <a:avLst/>
          </a:prstGeom>
          <a:solidFill>
            <a:srgbClr val="FFF3E0"/>
          </a:solidFill>
          <a:ln w="12700">
            <a:solidFill>
              <a:srgbClr val="F7941D"/>
            </a:solidFill>
            <a:prstDash val="solid"/>
          </a:ln>
        </p:spPr>
      </p:sp>
      <p:sp>
        <p:nvSpPr>
          <p:cNvPr id="8" name="Text 5"/>
          <p:cNvSpPr/>
          <p:nvPr/>
        </p:nvSpPr>
        <p:spPr>
          <a:xfrm>
            <a:off x="411480" y="3474720"/>
            <a:ext cx="8321040" cy="438912"/>
          </a:xfrm>
          <a:prstGeom prst="rect">
            <a:avLst/>
          </a:prstGeom>
          <a:noFill/>
          <a:ln/>
        </p:spPr>
        <p:txBody>
          <a:bodyPr wrap="square" rtlCol="0" anchor="ctr"/>
          <a:lstStyle/>
          <a:p>
            <a:pPr indent="0" marL="0">
              <a:buNone/>
            </a:pPr>
            <a:r>
              <a:rPr lang="en-US" sz="1300" b="1" dirty="0">
                <a:solidFill>
                  <a:srgbClr val="6B3A00"/>
                </a:solidFill>
                <a:latin typeface="Calibri" pitchFamily="34" charset="0"/>
                <a:ea typeface="Calibri" pitchFamily="34" charset="-122"/>
                <a:cs typeface="Calibri" pitchFamily="34" charset="-120"/>
              </a:rPr>
              <a:t>Founding Client Offer: 40% off for 12 months (testimonial required). Applied by BSG Admin in Stripe.</a:t>
            </a:r>
            <a:endParaRPr lang="en-US" sz="1300" dirty="0"/>
          </a:p>
        </p:txBody>
      </p:sp>
      <p:sp>
        <p:nvSpPr>
          <p:cNvPr id="9" name="Text 6"/>
          <p:cNvSpPr/>
          <p:nvPr/>
        </p:nvSpPr>
        <p:spPr>
          <a:xfrm>
            <a:off x="411480" y="4041648"/>
            <a:ext cx="8321040" cy="347472"/>
          </a:xfrm>
          <a:prstGeom prst="rect">
            <a:avLst/>
          </a:prstGeom>
          <a:noFill/>
          <a:ln/>
        </p:spPr>
        <p:txBody>
          <a:bodyPr wrap="square" rtlCol="0" anchor="ctr"/>
          <a:lstStyle/>
          <a:p>
            <a:pPr indent="0" marL="0">
              <a:buNone/>
            </a:pPr>
            <a:r>
              <a:rPr lang="en-US" sz="1300" dirty="0">
                <a:solidFill>
                  <a:srgbClr val="1E1E3A"/>
                </a:solidFill>
                <a:latin typeface="Calibri" pitchFamily="34" charset="0"/>
                <a:ea typeface="Calibri" pitchFamily="34" charset="-122"/>
                <a:cs typeface="Calibri" pitchFamily="34" charset="-120"/>
              </a:rPr>
              <a:t>Add-Ons: AI Course Gen $49/mo | Certifiably $2/credential | Live Sessions $99/session</a:t>
            </a:r>
            <a:endParaRPr lang="en-US" sz="1300" dirty="0"/>
          </a:p>
        </p:txBody>
      </p:sp>
      <p:sp>
        <p:nvSpPr>
          <p:cNvPr id="10" name="Shape 7"/>
          <p:cNvSpPr/>
          <p:nvPr/>
        </p:nvSpPr>
        <p:spPr>
          <a:xfrm>
            <a:off x="0" y="4887468"/>
            <a:ext cx="9144000" cy="256032"/>
          </a:xfrm>
          <a:prstGeom prst="rect">
            <a:avLst/>
          </a:prstGeom>
          <a:solidFill>
            <a:srgbClr val="0F1F5C"/>
          </a:solidFill>
          <a:ln w="12700">
            <a:solidFill>
              <a:srgbClr val="0F1F5C"/>
            </a:solidFill>
            <a:prstDash val="solid"/>
          </a:ln>
        </p:spPr>
      </p:sp>
      <p:sp>
        <p:nvSpPr>
          <p:cNvPr id="11" name="Text 8"/>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2" name="Text 9"/>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DEMO SCRIPT — MODULE ORDER BY CLIENT TYPE</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594360"/>
          <a:ext cx="6858000" cy="914400"/>
        </p:xfrm>
        <a:graphic>
          <a:graphicData uri="http://schemas.openxmlformats.org/drawingml/2006/table">
            <a:tbl>
              <a:tblPr/>
              <a:tblGrid>
                <a:gridCol w="1645920"/>
                <a:gridCol w="2560320"/>
                <a:gridCol w="3749040"/>
              </a:tblGrid>
              <a:tr h="6583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Client Type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Module Demo Order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 Demo Moments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r>
              <a:tr h="658368">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HR-Focused</a:t>
                      </a:r>
                      <a:endParaRPr lang="en-US" sz="1300" dirty="0">
                        <a:latin typeface="Calibri" charset="0"/>
                        <a:ea typeface="Calibri" charset="0"/>
                        <a:cs typeface="Calibri" charset="0"/>
                      </a:endParaRPr>
                    </a:p>
                    <a:p>
                      <a:pPr indent="0" marL="0">
                        <a:buNone/>
                      </a:pPr>
                      <a:r>
                        <a:rPr lang="en-US" sz="1300" dirty="0">
                          <a:solidFill>
                            <a:srgbClr val="1E1E3A"/>
                          </a:solidFill>
                          <a:latin typeface="Calibri" pitchFamily="34" charset="0"/>
                          <a:ea typeface="Calibri" pitchFamily="34" charset="-122"/>
                          <a:cs typeface="Calibri" pitchFamily="34" charset="-120"/>
                        </a:rPr>
                        <a:t>(CHRO/HR Manager)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Perform → Roles → Pulse → Learn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Show 9-box grid, JD builder,</a:t>
                      </a:r>
                      <a:endParaRPr lang="en-US" sz="1300" dirty="0">
                        <a:latin typeface="Calibri" charset="0"/>
                        <a:ea typeface="Calibri" charset="0"/>
                        <a:cs typeface="Calibri" charset="0"/>
                      </a:endParaRPr>
                    </a:p>
                    <a:p>
                      <a:pPr indent="0" marL="0">
                        <a:buNone/>
                      </a:pPr>
                      <a:r>
                        <a:rPr lang="en-US" sz="1300" dirty="0">
                          <a:solidFill>
                            <a:srgbClr val="1E1E3A"/>
                          </a:solidFill>
                          <a:latin typeface="Calibri" pitchFamily="34" charset="0"/>
                          <a:ea typeface="Calibri" pitchFamily="34" charset="-122"/>
                          <a:cs typeface="Calibri" pitchFamily="34" charset="-120"/>
                        </a:rPr>
                        <a:t>survey results dashboard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58368">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Executive</a:t>
                      </a:r>
                      <a:endParaRPr lang="en-US" sz="1300" dirty="0">
                        <a:latin typeface="Calibri" charset="0"/>
                        <a:ea typeface="Calibri" charset="0"/>
                        <a:cs typeface="Calibri" charset="0"/>
                      </a:endParaRPr>
                    </a:p>
                    <a:p>
                      <a:pPr indent="0" marL="0">
                        <a:buNone/>
                      </a:pPr>
                      <a:r>
                        <a:rPr lang="en-US" sz="1300" dirty="0">
                          <a:solidFill>
                            <a:srgbClr val="1E1E3A"/>
                          </a:solidFill>
                          <a:latin typeface="Calibri" pitchFamily="34" charset="0"/>
                          <a:ea typeface="Calibri" pitchFamily="34" charset="-122"/>
                          <a:cs typeface="Calibri" pitchFamily="34" charset="-120"/>
                        </a:rPr>
                        <a:t>(CEO/COO)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CEO Dashboard → Perform → Pulse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Show org-wide metrics, review</a:t>
                      </a:r>
                      <a:endParaRPr lang="en-US" sz="1300" dirty="0">
                        <a:latin typeface="Calibri" charset="0"/>
                        <a:ea typeface="Calibri" charset="0"/>
                        <a:cs typeface="Calibri" charset="0"/>
                      </a:endParaRPr>
                    </a:p>
                    <a:p>
                      <a:pPr indent="0" marL="0">
                        <a:buNone/>
                      </a:pPr>
                      <a:r>
                        <a:rPr lang="en-US" sz="1300" dirty="0">
                          <a:solidFill>
                            <a:srgbClr val="1E1E3A"/>
                          </a:solidFill>
                          <a:latin typeface="Calibri" pitchFamily="34" charset="0"/>
                          <a:ea typeface="Calibri" pitchFamily="34" charset="-122"/>
                          <a:cs typeface="Calibri" pitchFamily="34" charset="-120"/>
                        </a:rPr>
                        <a:t>cycle overview, engagement score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658368">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Nonprofit</a:t>
                      </a:r>
                      <a:endParaRPr lang="en-US" sz="1300" dirty="0">
                        <a:latin typeface="Calibri" charset="0"/>
                        <a:ea typeface="Calibri" charset="0"/>
                        <a:cs typeface="Calibri" charset="0"/>
                      </a:endParaRPr>
                    </a:p>
                    <a:p>
                      <a:pPr indent="0" marL="0">
                        <a:buNone/>
                      </a:pPr>
                      <a:r>
                        <a:rPr lang="en-US" sz="1300" dirty="0">
                          <a:solidFill>
                            <a:srgbClr val="1E1E3A"/>
                          </a:solidFill>
                          <a:latin typeface="Calibri" pitchFamily="34" charset="0"/>
                          <a:ea typeface="Calibri" pitchFamily="34" charset="-122"/>
                          <a:cs typeface="Calibri" pitchFamily="34" charset="-120"/>
                        </a:rPr>
                        <a:t>(ED/Ops Director)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Pulse → Roles → Learn → Perform</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Lead with mission alignment,</a:t>
                      </a:r>
                      <a:endParaRPr lang="en-US" sz="1300" dirty="0">
                        <a:latin typeface="Calibri" charset="0"/>
                        <a:ea typeface="Calibri" charset="0"/>
                        <a:cs typeface="Calibri" charset="0"/>
                      </a:endParaRPr>
                    </a:p>
                    <a:p>
                      <a:pPr indent="0" marL="0">
                        <a:buNone/>
                      </a:pPr>
                      <a:r>
                        <a:rPr lang="en-US" sz="1300" dirty="0">
                          <a:solidFill>
                            <a:srgbClr val="1E1E3A"/>
                          </a:solidFill>
                          <a:latin typeface="Calibri" pitchFamily="34" charset="0"/>
                          <a:ea typeface="Calibri" pitchFamily="34" charset="-122"/>
                          <a:cs typeface="Calibri" pitchFamily="34" charset="-120"/>
                        </a:rPr>
                        <a:t>staff dev, cost vs. value story</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Text 3"/>
          <p:cNvSpPr/>
          <p:nvPr/>
        </p:nvSpPr>
        <p:spPr>
          <a:xfrm>
            <a:off x="457200" y="3127248"/>
            <a:ext cx="8229600" cy="347472"/>
          </a:xfrm>
          <a:prstGeom prst="rect">
            <a:avLst/>
          </a:prstGeom>
          <a:noFill/>
          <a:ln/>
        </p:spPr>
        <p:txBody>
          <a:bodyPr wrap="square" rtlCol="0" anchor="ctr"/>
          <a:lstStyle/>
          <a:p>
            <a:pPr indent="0" marL="0">
              <a:buNone/>
            </a:pPr>
            <a:r>
              <a:rPr lang="en-US" sz="1600" b="1" dirty="0">
                <a:solidFill>
                  <a:srgbClr val="0F1F5C"/>
                </a:solidFill>
                <a:latin typeface="Trebuchet MS" pitchFamily="34" charset="0"/>
                <a:ea typeface="Trebuchet MS" pitchFamily="34" charset="-122"/>
                <a:cs typeface="Trebuchet MS" pitchFamily="34" charset="-120"/>
              </a:rPr>
              <a:t>Universal Demo Moments</a:t>
            </a:r>
            <a:endParaRPr lang="en-US" sz="1600" dirty="0"/>
          </a:p>
        </p:txBody>
      </p:sp>
      <p:sp>
        <p:nvSpPr>
          <p:cNvPr id="7" name="Text 4"/>
          <p:cNvSpPr/>
          <p:nvPr/>
        </p:nvSpPr>
        <p:spPr>
          <a:xfrm>
            <a:off x="457200" y="3502152"/>
            <a:ext cx="8229600" cy="1234440"/>
          </a:xfrm>
          <a:prstGeom prst="rect">
            <a:avLst/>
          </a:prstGeom>
          <a:noFill/>
          <a:ln/>
        </p:spPr>
        <p:txBody>
          <a:bodyPr wrap="square" rtlCol="0" anchor="t"/>
          <a:lstStyle/>
          <a:p>
            <a:pPr marL="342900" indent="-342900">
              <a:spcAft>
                <a:spcPts val="600"/>
              </a:spcAft>
              <a:buSzPct val="100000"/>
              <a:buChar char="•"/>
            </a:pPr>
            <a:r>
              <a:rPr lang="en-US" sz="1300" dirty="0">
                <a:solidFill>
                  <a:srgbClr val="1E1E3A"/>
                </a:solidFill>
                <a:latin typeface="Calibri" pitchFamily="34" charset="0"/>
                <a:ea typeface="Calibri" pitchFamily="34" charset="-122"/>
                <a:cs typeface="Calibri" pitchFamily="34" charset="-120"/>
              </a:rPr>
              <a:t>Always show the onboarding checklist — it's impressive and reduces client anxiety</a:t>
            </a:r>
            <a:endParaRPr lang="en-US" sz="1300" dirty="0"/>
          </a:p>
          <a:p>
            <a:pPr marL="342900" indent="-342900">
              <a:spcAft>
                <a:spcPts val="600"/>
              </a:spcAft>
              <a:buSzPct val="100000"/>
              <a:buChar char="•"/>
            </a:pPr>
            <a:r>
              <a:rPr lang="en-US" sz="1300" dirty="0">
                <a:solidFill>
                  <a:srgbClr val="1E1E3A"/>
                </a:solidFill>
                <a:latin typeface="Calibri" pitchFamily="34" charset="0"/>
                <a:ea typeface="Calibri" pitchFamily="34" charset="-122"/>
                <a:cs typeface="Calibri" pitchFamily="34" charset="-120"/>
              </a:rPr>
              <a:t>Demonstrate AI features (JD generator, Conversation Coach) — they generate the most excitement</a:t>
            </a:r>
            <a:endParaRPr lang="en-US" sz="1300" dirty="0"/>
          </a:p>
          <a:p>
            <a:pPr marL="342900" indent="-342900">
              <a:spcAft>
                <a:spcPts val="600"/>
              </a:spcAft>
              <a:buSzPct val="100000"/>
              <a:buChar char="•"/>
            </a:pPr>
            <a:r>
              <a:rPr lang="en-US" sz="1300" dirty="0">
                <a:solidFill>
                  <a:srgbClr val="1E1E3A"/>
                </a:solidFill>
                <a:latin typeface="Calibri" pitchFamily="34" charset="0"/>
                <a:ea typeface="Calibri" pitchFamily="34" charset="-122"/>
                <a:cs typeface="Calibri" pitchFamily="34" charset="-120"/>
              </a:rPr>
              <a:t>Show a completed 9-box grid — visual impact is high for executive audiences</a:t>
            </a:r>
            <a:endParaRPr lang="en-US" sz="1300" dirty="0"/>
          </a:p>
        </p:txBody>
      </p:sp>
      <p:sp>
        <p:nvSpPr>
          <p:cNvPr id="8" name="Shape 5"/>
          <p:cNvSpPr/>
          <p:nvPr/>
        </p:nvSpPr>
        <p:spPr>
          <a:xfrm>
            <a:off x="0" y="4887468"/>
            <a:ext cx="9144000" cy="256032"/>
          </a:xfrm>
          <a:prstGeom prst="rect">
            <a:avLst/>
          </a:prstGeom>
          <a:solidFill>
            <a:srgbClr val="0F1F5C"/>
          </a:solidFill>
          <a:ln w="12700">
            <a:solidFill>
              <a:srgbClr val="0F1F5C"/>
            </a:solidFill>
            <a:prstDash val="solid"/>
          </a:ln>
        </p:spPr>
      </p:sp>
      <p:sp>
        <p:nvSpPr>
          <p:cNvPr id="9" name="Text 6"/>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0" name="Text 7"/>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HANDLING OBJECTIONS — PART 1</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594360"/>
          <a:ext cx="6858000" cy="914400"/>
        </p:xfrm>
        <a:graphic>
          <a:graphicData uri="http://schemas.openxmlformats.org/drawingml/2006/table">
            <a:tbl>
              <a:tblPr/>
              <a:tblGrid>
                <a:gridCol w="2011680"/>
                <a:gridCol w="6400800"/>
              </a:tblGrid>
              <a:tr h="8046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Objection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Your Response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r>
              <a:tr h="80467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"We're too small"</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BOOST! is built exactly for your size — 10 to 100 employees. You're not too small; you just haven't had tools designed for you yet.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80467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"We use ADP / Gusto"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ADP and Gusto handle payroll and compliance. BOOST! handles performance, development, and engagement — they're complementary, not competing.</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80467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"We can't afford it"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Our Starter plan is $149/month — less than a part-time HR consultant for one hour per week. Plus the founding client offer brings it down to $89/month.</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Shape 3"/>
          <p:cNvSpPr/>
          <p:nvPr/>
        </p:nvSpPr>
        <p:spPr>
          <a:xfrm>
            <a:off x="0" y="4887468"/>
            <a:ext cx="9144000" cy="256032"/>
          </a:xfrm>
          <a:prstGeom prst="rect">
            <a:avLst/>
          </a:prstGeom>
          <a:solidFill>
            <a:srgbClr val="0F1F5C"/>
          </a:solidFill>
          <a:ln w="12700">
            <a:solidFill>
              <a:srgbClr val="0F1F5C"/>
            </a:solidFill>
            <a:prstDash val="solid"/>
          </a:ln>
        </p:spPr>
      </p:sp>
      <p:sp>
        <p:nvSpPr>
          <p:cNvPr id="7" name="Text 4"/>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8" name="Text 5"/>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HANDLING OBJECTIONS — PART 2</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594360"/>
          <a:ext cx="6858000" cy="914400"/>
        </p:xfrm>
        <a:graphic>
          <a:graphicData uri="http://schemas.openxmlformats.org/drawingml/2006/table">
            <a:tbl>
              <a:tblPr/>
              <a:tblGrid>
                <a:gridCol w="2011680"/>
                <a:gridCol w="6400800"/>
              </a:tblGrid>
              <a:tr h="8046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Objection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Your Response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r>
              <a:tr h="80467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"Our employees</a:t>
                      </a:r>
                      <a:endParaRPr lang="en-US" sz="1300" dirty="0">
                        <a:latin typeface="Calibri" charset="0"/>
                        <a:ea typeface="Calibri" charset="0"/>
                        <a:cs typeface="Calibri" charset="0"/>
                      </a:endParaRPr>
                    </a:p>
                    <a:p>
                      <a:pPr indent="0" marL="0">
                        <a:buNone/>
                      </a:pPr>
                      <a:r>
                        <a:rPr lang="en-US" sz="1300" dirty="0">
                          <a:solidFill>
                            <a:srgbClr val="1E1E3A"/>
                          </a:solidFill>
                          <a:latin typeface="Calibri" pitchFamily="34" charset="0"/>
                          <a:ea typeface="Calibri" pitchFamily="34" charset="-122"/>
                          <a:cs typeface="Calibri" pitchFamily="34" charset="-120"/>
                        </a:rPr>
                        <a:t>won't use it"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BOOST! is designed for the employee experience — clean UI, mobile-friendly, short survey formats. We'll walk your team through it during onboarding.</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80467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"How is this different</a:t>
                      </a:r>
                      <a:endParaRPr lang="en-US" sz="1300" dirty="0">
                        <a:latin typeface="Calibri" charset="0"/>
                        <a:ea typeface="Calibri" charset="0"/>
                        <a:cs typeface="Calibri" charset="0"/>
                      </a:endParaRPr>
                    </a:p>
                    <a:p>
                      <a:pPr indent="0" marL="0">
                        <a:buNone/>
                      </a:pPr>
                      <a:r>
                        <a:rPr lang="en-US" sz="1300" dirty="0">
                          <a:solidFill>
                            <a:srgbClr val="1E1E3A"/>
                          </a:solidFill>
                          <a:latin typeface="Calibri" pitchFamily="34" charset="0"/>
                          <a:ea typeface="Calibri" pitchFamily="34" charset="-122"/>
                          <a:cs typeface="Calibri" pitchFamily="34" charset="-120"/>
                        </a:rPr>
                        <a:t>from Lattice/BambooHR?"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Lattice starts at $11/user/month — for 50 employees that's $6,600/yr. Our Suite plan covers up to 75 employees for $499/month flat. And we're purpose-built for sub-100 orgs.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80467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"Is our data safe?"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Yes — each org's data is fully isolated using row-level security. No other client can see your data, and all data is encrypted at rest and in transit.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Shape 3"/>
          <p:cNvSpPr/>
          <p:nvPr/>
        </p:nvSpPr>
        <p:spPr>
          <a:xfrm>
            <a:off x="0" y="4887468"/>
            <a:ext cx="9144000" cy="256032"/>
          </a:xfrm>
          <a:prstGeom prst="rect">
            <a:avLst/>
          </a:prstGeom>
          <a:solidFill>
            <a:srgbClr val="0F1F5C"/>
          </a:solidFill>
          <a:ln w="12700">
            <a:solidFill>
              <a:srgbClr val="0F1F5C"/>
            </a:solidFill>
            <a:prstDash val="solid"/>
          </a:ln>
        </p:spPr>
      </p:sp>
      <p:sp>
        <p:nvSpPr>
          <p:cNvPr id="7" name="Text 4"/>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8" name="Text 5"/>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FOUNDING CLIENT OFFER — HOW TO PRESENT IT</a:t>
            </a:r>
            <a:endParaRPr lang="en-US" sz="1400" dirty="0"/>
          </a:p>
        </p:txBody>
      </p:sp>
      <p:sp>
        <p:nvSpPr>
          <p:cNvPr id="5" name="Text 3"/>
          <p:cNvSpPr/>
          <p:nvPr/>
        </p:nvSpPr>
        <p:spPr>
          <a:xfrm>
            <a:off x="457200" y="576072"/>
            <a:ext cx="8229600" cy="365760"/>
          </a:xfrm>
          <a:prstGeom prst="rect">
            <a:avLst/>
          </a:prstGeom>
          <a:noFill/>
          <a:ln/>
        </p:spPr>
        <p:txBody>
          <a:bodyPr wrap="square" rtlCol="0" anchor="ctr"/>
          <a:lstStyle/>
          <a:p>
            <a:pPr indent="0" marL="0">
              <a:buNone/>
            </a:pPr>
            <a:r>
              <a:rPr lang="en-US" sz="2000" b="1" dirty="0">
                <a:solidFill>
                  <a:srgbClr val="0F1F5C"/>
                </a:solidFill>
                <a:latin typeface="Trebuchet MS" pitchFamily="34" charset="0"/>
                <a:ea typeface="Trebuchet MS" pitchFamily="34" charset="-122"/>
                <a:cs typeface="Trebuchet MS" pitchFamily="34" charset="-120"/>
              </a:rPr>
              <a:t>Positioning the 40% Founding Discount</a:t>
            </a:r>
            <a:endParaRPr lang="en-US" sz="2000" dirty="0"/>
          </a:p>
        </p:txBody>
      </p:sp>
      <p:sp>
        <p:nvSpPr>
          <p:cNvPr id="6" name="Text 4"/>
          <p:cNvSpPr/>
          <p:nvPr/>
        </p:nvSpPr>
        <p:spPr>
          <a:xfrm>
            <a:off x="457200" y="1005840"/>
            <a:ext cx="4114800" cy="283464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Position as exclusive: "We're offering this to a limited number of founding clients"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Emphasize the value: $699/mo Enterprise becomes $419/mo — save $3,360 over 12 months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Be clear about the requirement: written testimonial after 12 months of active use</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Frame the testimonial as mutual benefit — they get visibility, we build social proof</a:t>
            </a:r>
            <a:endParaRPr lang="en-US" sz="1400" dirty="0"/>
          </a:p>
        </p:txBody>
      </p:sp>
      <p:sp>
        <p:nvSpPr>
          <p:cNvPr id="7" name="Text 5"/>
          <p:cNvSpPr/>
          <p:nvPr/>
        </p:nvSpPr>
        <p:spPr>
          <a:xfrm>
            <a:off x="4800600" y="1005840"/>
            <a:ext cx="4114800" cy="283464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How BSG Admin applies it: Stripe discount code entered during onboarding setup</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Discount duration: 12 calendar months from account activation date</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After 12 months: renews at standard rate (you'll get a renewal reminder to discuss)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Confirm founding client status on the CRM handoff checklist before Tech Support applies it</a:t>
            </a:r>
            <a:endParaRPr lang="en-US" sz="1400" dirty="0"/>
          </a:p>
        </p:txBody>
      </p:sp>
      <p:sp>
        <p:nvSpPr>
          <p:cNvPr id="8" name="Shape 6"/>
          <p:cNvSpPr/>
          <p:nvPr/>
        </p:nvSpPr>
        <p:spPr>
          <a:xfrm>
            <a:off x="365760" y="3913632"/>
            <a:ext cx="8412480" cy="530352"/>
          </a:xfrm>
          <a:prstGeom prst="rect">
            <a:avLst/>
          </a:prstGeom>
          <a:solidFill>
            <a:srgbClr val="FFF3E0"/>
          </a:solidFill>
          <a:ln w="12700">
            <a:solidFill>
              <a:srgbClr val="F7941D"/>
            </a:solidFill>
            <a:prstDash val="solid"/>
          </a:ln>
        </p:spPr>
      </p:sp>
      <p:sp>
        <p:nvSpPr>
          <p:cNvPr id="9" name="Text 7"/>
          <p:cNvSpPr/>
          <p:nvPr/>
        </p:nvSpPr>
        <p:spPr>
          <a:xfrm>
            <a:off x="502920" y="3931920"/>
            <a:ext cx="8229600" cy="457200"/>
          </a:xfrm>
          <a:prstGeom prst="rect">
            <a:avLst/>
          </a:prstGeom>
          <a:noFill/>
          <a:ln/>
        </p:spPr>
        <p:txBody>
          <a:bodyPr wrap="square" rtlCol="0" anchor="ctr"/>
          <a:lstStyle/>
          <a:p>
            <a:pPr indent="0" marL="0">
              <a:buNone/>
            </a:pPr>
            <a:r>
              <a:rPr lang="en-US" sz="1200" i="1" dirty="0">
                <a:solidFill>
                  <a:srgbClr val="6B3A00"/>
                </a:solidFill>
                <a:latin typeface="Calibri" pitchFamily="34" charset="0"/>
                <a:ea typeface="Calibri" pitchFamily="34" charset="-122"/>
                <a:cs typeface="Calibri" pitchFamily="34" charset="-120"/>
              </a:rPr>
              <a:t>Script: "As one of our founding clients, you'll receive 40% off for your first year. All we ask in return is a testimonial sharing your experience — which we'll feature on our website and in our marketing materials."</a:t>
            </a:r>
            <a:endParaRPr lang="en-US" sz="1200" dirty="0"/>
          </a:p>
        </p:txBody>
      </p:sp>
      <p:sp>
        <p:nvSpPr>
          <p:cNvPr id="10" name="Shape 8"/>
          <p:cNvSpPr/>
          <p:nvPr/>
        </p:nvSpPr>
        <p:spPr>
          <a:xfrm>
            <a:off x="0" y="4887468"/>
            <a:ext cx="9144000" cy="256032"/>
          </a:xfrm>
          <a:prstGeom prst="rect">
            <a:avLst/>
          </a:prstGeom>
          <a:solidFill>
            <a:srgbClr val="0F1F5C"/>
          </a:solidFill>
          <a:ln w="12700">
            <a:solidFill>
              <a:srgbClr val="0F1F5C"/>
            </a:solidFill>
            <a:prstDash val="solid"/>
          </a:ln>
        </p:spPr>
      </p:sp>
      <p:sp>
        <p:nvSpPr>
          <p:cNvPr id="11" name="Text 9"/>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2" name="Text 10"/>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CRM HANDOFF CHECKLIST — SALES TO TECH SUPPORT</a:t>
            </a:r>
            <a:endParaRPr lang="en-US" sz="1400" dirty="0"/>
          </a:p>
        </p:txBody>
      </p:sp>
      <p:sp>
        <p:nvSpPr>
          <p:cNvPr id="5" name="Text 3"/>
          <p:cNvSpPr/>
          <p:nvPr/>
        </p:nvSpPr>
        <p:spPr>
          <a:xfrm>
            <a:off x="457200" y="594360"/>
            <a:ext cx="8229600" cy="347472"/>
          </a:xfrm>
          <a:prstGeom prst="rect">
            <a:avLst/>
          </a:prstGeom>
          <a:noFill/>
          <a:ln/>
        </p:spPr>
        <p:txBody>
          <a:bodyPr wrap="square" rtlCol="0" anchor="ctr"/>
          <a:lstStyle/>
          <a:p>
            <a:pPr indent="0" marL="0">
              <a:buNone/>
            </a:pPr>
            <a:r>
              <a:rPr lang="en-US" sz="1400" dirty="0">
                <a:solidFill>
                  <a:srgbClr val="1E1E3A"/>
                </a:solidFill>
                <a:latin typeface="Calibri" pitchFamily="34" charset="0"/>
                <a:ea typeface="Calibri" pitchFamily="34" charset="-122"/>
                <a:cs typeface="Calibri" pitchFamily="34" charset="-120"/>
              </a:rPr>
              <a:t>Complete this checklist before handing off to Tech Support:</a:t>
            </a:r>
            <a:endParaRPr lang="en-US" sz="1400" dirty="0"/>
          </a:p>
        </p:txBody>
      </p:sp>
      <p:sp>
        <p:nvSpPr>
          <p:cNvPr id="6" name="Text 4"/>
          <p:cNvSpPr/>
          <p:nvPr/>
        </p:nvSpPr>
        <p:spPr>
          <a:xfrm>
            <a:off x="457200" y="1005840"/>
            <a:ext cx="8229600" cy="2834640"/>
          </a:xfrm>
          <a:prstGeom prst="rect">
            <a:avLst/>
          </a:prstGeom>
          <a:noFill/>
          <a:ln/>
        </p:spPr>
        <p:txBody>
          <a:bodyPr wrap="square" rtlCol="0" anchor="t"/>
          <a:lstStyle/>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Company name, tenant slug, subscription tier, and modules selected</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Primary contact name, email, and phone number</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Otter.ai transcript of discovery call and/or demo call attached</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Founding client status clearly noted (Y/N)</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Special configuration notes (custom review cycle, NAICS code, unique requests)</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Signed or verbally confirmed e-signature/terms status</a:t>
            </a:r>
            <a:endParaRPr lang="en-US" sz="1400" dirty="0"/>
          </a:p>
        </p:txBody>
      </p:sp>
      <p:sp>
        <p:nvSpPr>
          <p:cNvPr id="7" name="Shape 5"/>
          <p:cNvSpPr/>
          <p:nvPr/>
        </p:nvSpPr>
        <p:spPr>
          <a:xfrm>
            <a:off x="365760" y="3840480"/>
            <a:ext cx="4114800" cy="594360"/>
          </a:xfrm>
          <a:prstGeom prst="rect">
            <a:avLst/>
          </a:prstGeom>
          <a:solidFill>
            <a:srgbClr val="FFEEEE"/>
          </a:solidFill>
          <a:ln w="12700">
            <a:solidFill>
              <a:srgbClr val="CC0000"/>
            </a:solidFill>
            <a:prstDash val="solid"/>
          </a:ln>
        </p:spPr>
      </p:sp>
      <p:sp>
        <p:nvSpPr>
          <p:cNvPr id="8" name="Text 6"/>
          <p:cNvSpPr/>
          <p:nvPr/>
        </p:nvSpPr>
        <p:spPr>
          <a:xfrm>
            <a:off x="502920" y="3858768"/>
            <a:ext cx="3840480" cy="530352"/>
          </a:xfrm>
          <a:prstGeom prst="rect">
            <a:avLst/>
          </a:prstGeom>
          <a:noFill/>
          <a:ln/>
        </p:spPr>
        <p:txBody>
          <a:bodyPr wrap="square" rtlCol="0" anchor="ctr"/>
          <a:lstStyle/>
          <a:p>
            <a:pPr indent="0" marL="0">
              <a:buNone/>
            </a:pPr>
            <a:r>
              <a:rPr lang="en-US" sz="1300" b="1" dirty="0">
                <a:solidFill>
                  <a:srgbClr val="8B0000"/>
                </a:solidFill>
                <a:latin typeface="Calibri" pitchFamily="34" charset="0"/>
                <a:ea typeface="Calibri" pitchFamily="34" charset="-122"/>
                <a:cs typeface="Calibri" pitchFamily="34" charset="-120"/>
              </a:rPr>
              <a:t>Response SLA: 4 business hours</a:t>
            </a:r>
            <a:endParaRPr lang="en-US" sz="1300" dirty="0"/>
          </a:p>
          <a:p>
            <a:pPr indent="0" marL="0">
              <a:buNone/>
            </a:pPr>
            <a:r>
              <a:rPr lang="en-US" sz="1300" b="1" dirty="0">
                <a:solidFill>
                  <a:srgbClr val="8B0000"/>
                </a:solidFill>
                <a:latin typeface="Calibri" pitchFamily="34" charset="0"/>
                <a:ea typeface="Calibri" pitchFamily="34" charset="-122"/>
                <a:cs typeface="Calibri" pitchFamily="34" charset="-120"/>
              </a:rPr>
              <a:t>for all inbound leads</a:t>
            </a:r>
            <a:endParaRPr lang="en-US" sz="1300" dirty="0"/>
          </a:p>
        </p:txBody>
      </p:sp>
      <p:sp>
        <p:nvSpPr>
          <p:cNvPr id="9" name="Shape 7"/>
          <p:cNvSpPr/>
          <p:nvPr/>
        </p:nvSpPr>
        <p:spPr>
          <a:xfrm>
            <a:off x="4709160" y="3840480"/>
            <a:ext cx="4114800" cy="594360"/>
          </a:xfrm>
          <a:prstGeom prst="rect">
            <a:avLst/>
          </a:prstGeom>
          <a:solidFill>
            <a:srgbClr val="E8F4FF"/>
          </a:solidFill>
          <a:ln w="12700">
            <a:solidFill>
              <a:srgbClr val="3399CC"/>
            </a:solidFill>
            <a:prstDash val="solid"/>
          </a:ln>
        </p:spPr>
      </p:sp>
      <p:sp>
        <p:nvSpPr>
          <p:cNvPr id="10" name="Text 8"/>
          <p:cNvSpPr/>
          <p:nvPr/>
        </p:nvSpPr>
        <p:spPr>
          <a:xfrm>
            <a:off x="4846320" y="3858768"/>
            <a:ext cx="3840480" cy="530352"/>
          </a:xfrm>
          <a:prstGeom prst="rect">
            <a:avLst/>
          </a:prstGeom>
          <a:noFill/>
          <a:ln/>
        </p:spPr>
        <p:txBody>
          <a:bodyPr wrap="square" rtlCol="0" anchor="ctr"/>
          <a:lstStyle/>
          <a:p>
            <a:pPr indent="0" marL="0">
              <a:buNone/>
            </a:pPr>
            <a:r>
              <a:rPr lang="en-US" sz="1300" b="1" dirty="0">
                <a:solidFill>
                  <a:srgbClr val="1A4466"/>
                </a:solidFill>
                <a:latin typeface="Calibri" pitchFamily="34" charset="0"/>
                <a:ea typeface="Calibri" pitchFamily="34" charset="-122"/>
                <a:cs typeface="Calibri" pitchFamily="34" charset="-120"/>
              </a:rPr>
              <a:t>Handoff must be in CRM</a:t>
            </a:r>
            <a:endParaRPr lang="en-US" sz="1300" dirty="0"/>
          </a:p>
          <a:p>
            <a:pPr indent="0" marL="0">
              <a:buNone/>
            </a:pPr>
            <a:r>
              <a:rPr lang="en-US" sz="1300" b="1" dirty="0">
                <a:solidFill>
                  <a:srgbClr val="1A4466"/>
                </a:solidFill>
                <a:latin typeface="Calibri" pitchFamily="34" charset="0"/>
                <a:ea typeface="Calibri" pitchFamily="34" charset="-122"/>
                <a:cs typeface="Calibri" pitchFamily="34" charset="-120"/>
              </a:rPr>
              <a:t>before end of same business day</a:t>
            </a:r>
            <a:endParaRPr lang="en-US" sz="1300" dirty="0"/>
          </a:p>
        </p:txBody>
      </p:sp>
      <p:sp>
        <p:nvSpPr>
          <p:cNvPr id="11" name="Shape 9"/>
          <p:cNvSpPr/>
          <p:nvPr/>
        </p:nvSpPr>
        <p:spPr>
          <a:xfrm>
            <a:off x="0" y="4887468"/>
            <a:ext cx="9144000" cy="256032"/>
          </a:xfrm>
          <a:prstGeom prst="rect">
            <a:avLst/>
          </a:prstGeom>
          <a:solidFill>
            <a:srgbClr val="0F1F5C"/>
          </a:solidFill>
          <a:ln w="12700">
            <a:solidFill>
              <a:srgbClr val="0F1F5C"/>
            </a:solidFill>
            <a:prstDash val="solid"/>
          </a:ln>
        </p:spPr>
      </p:sp>
      <p:sp>
        <p:nvSpPr>
          <p:cNvPr id="12" name="Text 10"/>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3" name="Text 11"/>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F5C"/>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E8437A"/>
          </a:solidFill>
          <a:ln w="12700">
            <a:solidFill>
              <a:srgbClr val="E8437A"/>
            </a:solidFill>
            <a:prstDash val="solid"/>
          </a:ln>
        </p:spPr>
      </p:sp>
      <p:sp>
        <p:nvSpPr>
          <p:cNvPr id="3" name="Shape 1"/>
          <p:cNvSpPr/>
          <p:nvPr/>
        </p:nvSpPr>
        <p:spPr>
          <a:xfrm>
            <a:off x="0" y="4722876"/>
            <a:ext cx="3200400" cy="164592"/>
          </a:xfrm>
          <a:prstGeom prst="rect">
            <a:avLst/>
          </a:prstGeom>
          <a:solidFill>
            <a:srgbClr val="E8437A"/>
          </a:solidFill>
          <a:ln w="12700">
            <a:solidFill>
              <a:srgbClr val="E8437A"/>
            </a:solidFill>
            <a:prstDash val="solid"/>
          </a:ln>
        </p:spPr>
      </p:sp>
      <p:sp>
        <p:nvSpPr>
          <p:cNvPr id="4" name="Text 2"/>
          <p:cNvSpPr/>
          <p:nvPr/>
        </p:nvSpPr>
        <p:spPr>
          <a:xfrm>
            <a:off x="640080" y="1280160"/>
            <a:ext cx="8229600" cy="365760"/>
          </a:xfrm>
          <a:prstGeom prst="rect">
            <a:avLst/>
          </a:prstGeom>
          <a:noFill/>
          <a:ln/>
        </p:spPr>
        <p:txBody>
          <a:bodyPr wrap="square" rtlCol="0" anchor="ctr"/>
          <a:lstStyle/>
          <a:p>
            <a:pPr indent="0" marL="0">
              <a:buNone/>
            </a:pPr>
            <a:r>
              <a:rPr lang="en-US" sz="1400" b="1" spc="400" kern="0" dirty="0">
                <a:solidFill>
                  <a:srgbClr val="E8437A"/>
                </a:solidFill>
                <a:latin typeface="Calibri" pitchFamily="34" charset="0"/>
                <a:ea typeface="Calibri" pitchFamily="34" charset="-122"/>
                <a:cs typeface="Calibri" pitchFamily="34" charset="-120"/>
              </a:rPr>
              <a:t>SECTION 4</a:t>
            </a:r>
            <a:endParaRPr lang="en-US" sz="1400" dirty="0"/>
          </a:p>
        </p:txBody>
      </p:sp>
      <p:sp>
        <p:nvSpPr>
          <p:cNvPr id="5" name="Text 3"/>
          <p:cNvSpPr/>
          <p:nvPr/>
        </p:nvSpPr>
        <p:spPr>
          <a:xfrm>
            <a:off x="640080" y="1691640"/>
            <a:ext cx="8229600" cy="1005840"/>
          </a:xfrm>
          <a:prstGeom prst="rect">
            <a:avLst/>
          </a:prstGeom>
          <a:noFill/>
          <a:ln/>
        </p:spPr>
        <p:txBody>
          <a:bodyPr wrap="square"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TECH SUPPORT TRAINING</a:t>
            </a:r>
            <a:endParaRPr lang="en-US" sz="3800" dirty="0"/>
          </a:p>
        </p:txBody>
      </p:sp>
      <p:sp>
        <p:nvSpPr>
          <p:cNvPr id="6" name="Text 4"/>
          <p:cNvSpPr/>
          <p:nvPr/>
        </p:nvSpPr>
        <p:spPr>
          <a:xfrm>
            <a:off x="640080" y="2743200"/>
            <a:ext cx="8229600" cy="548640"/>
          </a:xfrm>
          <a:prstGeom prst="rect">
            <a:avLst/>
          </a:prstGeom>
          <a:noFill/>
          <a:ln/>
        </p:spPr>
        <p:txBody>
          <a:bodyPr wrap="square" rtlCol="0" anchor="ctr"/>
          <a:lstStyle/>
          <a:p>
            <a:pPr indent="0" marL="0">
              <a:buNone/>
            </a:pPr>
            <a:r>
              <a:rPr lang="en-US" sz="1800" dirty="0">
                <a:solidFill>
                  <a:srgbClr val="CCCCEE"/>
                </a:solidFill>
                <a:latin typeface="Calibri" pitchFamily="34" charset="0"/>
                <a:ea typeface="Calibri" pitchFamily="34" charset="-122"/>
                <a:cs typeface="Calibri" pitchFamily="34" charset="-120"/>
              </a:rPr>
              <a:t>Making Every Client Successful</a:t>
            </a:r>
            <a:endParaRPr lang="en-US" sz="1800" dirty="0"/>
          </a:p>
        </p:txBody>
      </p:sp>
      <p:sp>
        <p:nvSpPr>
          <p:cNvPr id="7" name="Shape 5"/>
          <p:cNvSpPr/>
          <p:nvPr/>
        </p:nvSpPr>
        <p:spPr>
          <a:xfrm>
            <a:off x="0" y="4887468"/>
            <a:ext cx="9144000" cy="256032"/>
          </a:xfrm>
          <a:prstGeom prst="rect">
            <a:avLst/>
          </a:prstGeom>
          <a:solidFill>
            <a:srgbClr val="0F1F5C"/>
          </a:solidFill>
          <a:ln w="12700">
            <a:solidFill>
              <a:srgbClr val="0F1F5C"/>
            </a:solidFill>
            <a:prstDash val="solid"/>
          </a:ln>
        </p:spPr>
      </p:sp>
      <p:sp>
        <p:nvSpPr>
          <p:cNvPr id="8" name="Text 6"/>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9" name="Text 7"/>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E8437A"/>
          </a:solidFill>
          <a:ln w="12700">
            <a:solidFill>
              <a:srgbClr val="E8437A"/>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ONBOARDING FLOW — STEPS 1 THROUGH 4</a:t>
            </a:r>
            <a:endParaRPr lang="en-US" sz="1400" dirty="0"/>
          </a:p>
        </p:txBody>
      </p:sp>
      <p:sp>
        <p:nvSpPr>
          <p:cNvPr id="5" name="Shape 3"/>
          <p:cNvSpPr/>
          <p:nvPr/>
        </p:nvSpPr>
        <p:spPr>
          <a:xfrm>
            <a:off x="320040" y="594360"/>
            <a:ext cx="2011680" cy="3840480"/>
          </a:xfrm>
          <a:prstGeom prst="rect">
            <a:avLst/>
          </a:prstGeom>
          <a:solidFill>
            <a:srgbClr val="F8F9FD"/>
          </a:solidFill>
          <a:ln w="12700">
            <a:solidFill>
              <a:srgbClr val="CCCCCC"/>
            </a:solidFill>
            <a:prstDash val="solid"/>
          </a:ln>
        </p:spPr>
      </p:sp>
      <p:sp>
        <p:nvSpPr>
          <p:cNvPr id="6" name="Shape 4"/>
          <p:cNvSpPr/>
          <p:nvPr/>
        </p:nvSpPr>
        <p:spPr>
          <a:xfrm>
            <a:off x="320040" y="594360"/>
            <a:ext cx="2011680" cy="457200"/>
          </a:xfrm>
          <a:prstGeom prst="rect">
            <a:avLst/>
          </a:prstGeom>
          <a:solidFill>
            <a:srgbClr val="E8437A"/>
          </a:solidFill>
          <a:ln w="12700">
            <a:solidFill>
              <a:srgbClr val="E8437A"/>
            </a:solidFill>
            <a:prstDash val="solid"/>
          </a:ln>
        </p:spPr>
      </p:sp>
      <p:sp>
        <p:nvSpPr>
          <p:cNvPr id="7" name="Text 5"/>
          <p:cNvSpPr/>
          <p:nvPr/>
        </p:nvSpPr>
        <p:spPr>
          <a:xfrm>
            <a:off x="320040" y="612648"/>
            <a:ext cx="2011680" cy="402336"/>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STEP 1</a:t>
            </a:r>
            <a:endParaRPr lang="en-US" sz="1400" dirty="0"/>
          </a:p>
        </p:txBody>
      </p:sp>
      <p:sp>
        <p:nvSpPr>
          <p:cNvPr id="8" name="Text 6"/>
          <p:cNvSpPr/>
          <p:nvPr/>
        </p:nvSpPr>
        <p:spPr>
          <a:xfrm>
            <a:off x="411480" y="1097280"/>
            <a:ext cx="1828800" cy="640080"/>
          </a:xfrm>
          <a:prstGeom prst="rect">
            <a:avLst/>
          </a:prstGeom>
          <a:noFill/>
          <a:ln/>
        </p:spPr>
        <p:txBody>
          <a:bodyPr wrap="square" rtlCol="0" anchor="ctr"/>
          <a:lstStyle/>
          <a:p>
            <a:pPr algn="ctr" indent="0" marL="0">
              <a:buNone/>
            </a:pPr>
            <a:r>
              <a:rPr lang="en-US" sz="1400" b="1" dirty="0">
                <a:solidFill>
                  <a:srgbClr val="0F1F5C"/>
                </a:solidFill>
                <a:latin typeface="Trebuchet MS" pitchFamily="34" charset="0"/>
                <a:ea typeface="Trebuchet MS" pitchFamily="34" charset="-122"/>
                <a:cs typeface="Trebuchet MS" pitchFamily="34" charset="-120"/>
              </a:rPr>
              <a:t>Company Profile</a:t>
            </a:r>
            <a:endParaRPr lang="en-US" sz="1400" dirty="0"/>
          </a:p>
          <a:p>
            <a:pPr algn="ctr" indent="0" marL="0">
              <a:buNone/>
            </a:pPr>
            <a:r>
              <a:rPr lang="en-US" sz="1400" b="1" dirty="0">
                <a:solidFill>
                  <a:srgbClr val="0F1F5C"/>
                </a:solidFill>
                <a:latin typeface="Trebuchet MS" pitchFamily="34" charset="0"/>
                <a:ea typeface="Trebuchet MS" pitchFamily="34" charset="-122"/>
                <a:cs typeface="Trebuchet MS" pitchFamily="34" charset="-120"/>
              </a:rPr>
              <a:t>+ NAICS</a:t>
            </a:r>
            <a:endParaRPr lang="en-US" sz="1400" dirty="0"/>
          </a:p>
        </p:txBody>
      </p:sp>
      <p:sp>
        <p:nvSpPr>
          <p:cNvPr id="9" name="Text 7"/>
          <p:cNvSpPr/>
          <p:nvPr/>
        </p:nvSpPr>
        <p:spPr>
          <a:xfrm>
            <a:off x="411480" y="1783080"/>
            <a:ext cx="1828800" cy="2468880"/>
          </a:xfrm>
          <a:prstGeom prst="rect">
            <a:avLst/>
          </a:prstGeom>
          <a:noFill/>
          <a:ln/>
        </p:spPr>
        <p:txBody>
          <a:bodyPr wrap="square" rtlCol="0" anchor="t"/>
          <a:lstStyle/>
          <a:p>
            <a:pPr indent="0" marL="0">
              <a:buNone/>
            </a:pPr>
            <a:r>
              <a:rPr lang="en-US" sz="1200" dirty="0">
                <a:solidFill>
                  <a:srgbClr val="1E1E3A"/>
                </a:solidFill>
                <a:latin typeface="Calibri" pitchFamily="34" charset="0"/>
                <a:ea typeface="Calibri" pitchFamily="34" charset="-122"/>
                <a:cs typeface="Calibri" pitchFamily="34" charset="-120"/>
              </a:rPr>
              <a:t>Enter org name, size, industry (NAICS code required for AI benchmarking), logo upload, and tenant slug creation.</a:t>
            </a:r>
            <a:endParaRPr lang="en-US" sz="1200" dirty="0"/>
          </a:p>
        </p:txBody>
      </p:sp>
      <p:sp>
        <p:nvSpPr>
          <p:cNvPr id="10" name="Shape 8"/>
          <p:cNvSpPr/>
          <p:nvPr/>
        </p:nvSpPr>
        <p:spPr>
          <a:xfrm>
            <a:off x="2496312" y="594360"/>
            <a:ext cx="2011680" cy="3840480"/>
          </a:xfrm>
          <a:prstGeom prst="rect">
            <a:avLst/>
          </a:prstGeom>
          <a:solidFill>
            <a:srgbClr val="F8F9FD"/>
          </a:solidFill>
          <a:ln w="12700">
            <a:solidFill>
              <a:srgbClr val="CCCCCC"/>
            </a:solidFill>
            <a:prstDash val="solid"/>
          </a:ln>
        </p:spPr>
      </p:sp>
      <p:sp>
        <p:nvSpPr>
          <p:cNvPr id="11" name="Shape 9"/>
          <p:cNvSpPr/>
          <p:nvPr/>
        </p:nvSpPr>
        <p:spPr>
          <a:xfrm>
            <a:off x="2496312" y="594360"/>
            <a:ext cx="2011680" cy="457200"/>
          </a:xfrm>
          <a:prstGeom prst="rect">
            <a:avLst/>
          </a:prstGeom>
          <a:solidFill>
            <a:srgbClr val="E8437A"/>
          </a:solidFill>
          <a:ln w="12700">
            <a:solidFill>
              <a:srgbClr val="E8437A"/>
            </a:solidFill>
            <a:prstDash val="solid"/>
          </a:ln>
        </p:spPr>
      </p:sp>
      <p:sp>
        <p:nvSpPr>
          <p:cNvPr id="12" name="Text 10"/>
          <p:cNvSpPr/>
          <p:nvPr/>
        </p:nvSpPr>
        <p:spPr>
          <a:xfrm>
            <a:off x="2496312" y="612648"/>
            <a:ext cx="2011680" cy="402336"/>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STEP 2</a:t>
            </a:r>
            <a:endParaRPr lang="en-US" sz="1400" dirty="0"/>
          </a:p>
        </p:txBody>
      </p:sp>
      <p:sp>
        <p:nvSpPr>
          <p:cNvPr id="13" name="Text 11"/>
          <p:cNvSpPr/>
          <p:nvPr/>
        </p:nvSpPr>
        <p:spPr>
          <a:xfrm>
            <a:off x="2587752" y="1097280"/>
            <a:ext cx="1828800" cy="640080"/>
          </a:xfrm>
          <a:prstGeom prst="rect">
            <a:avLst/>
          </a:prstGeom>
          <a:noFill/>
          <a:ln/>
        </p:spPr>
        <p:txBody>
          <a:bodyPr wrap="square" rtlCol="0" anchor="ctr"/>
          <a:lstStyle/>
          <a:p>
            <a:pPr algn="ctr" indent="0" marL="0">
              <a:buNone/>
            </a:pPr>
            <a:r>
              <a:rPr lang="en-US" sz="1400" b="1" dirty="0">
                <a:solidFill>
                  <a:srgbClr val="0F1F5C"/>
                </a:solidFill>
                <a:latin typeface="Trebuchet MS" pitchFamily="34" charset="0"/>
                <a:ea typeface="Trebuchet MS" pitchFamily="34" charset="-122"/>
                <a:cs typeface="Trebuchet MS" pitchFamily="34" charset="-120"/>
              </a:rPr>
              <a:t>Module</a:t>
            </a:r>
            <a:endParaRPr lang="en-US" sz="1400" dirty="0"/>
          </a:p>
          <a:p>
            <a:pPr algn="ctr" indent="0" marL="0">
              <a:buNone/>
            </a:pPr>
            <a:r>
              <a:rPr lang="en-US" sz="1400" b="1" dirty="0">
                <a:solidFill>
                  <a:srgbClr val="0F1F5C"/>
                </a:solidFill>
                <a:latin typeface="Trebuchet MS" pitchFamily="34" charset="0"/>
                <a:ea typeface="Trebuchet MS" pitchFamily="34" charset="-122"/>
                <a:cs typeface="Trebuchet MS" pitchFamily="34" charset="-120"/>
              </a:rPr>
              <a:t>Selection</a:t>
            </a:r>
            <a:endParaRPr lang="en-US" sz="1400" dirty="0"/>
          </a:p>
        </p:txBody>
      </p:sp>
      <p:sp>
        <p:nvSpPr>
          <p:cNvPr id="14" name="Text 12"/>
          <p:cNvSpPr/>
          <p:nvPr/>
        </p:nvSpPr>
        <p:spPr>
          <a:xfrm>
            <a:off x="2587752" y="1783080"/>
            <a:ext cx="1828800" cy="2468880"/>
          </a:xfrm>
          <a:prstGeom prst="rect">
            <a:avLst/>
          </a:prstGeom>
          <a:noFill/>
          <a:ln/>
        </p:spPr>
        <p:txBody>
          <a:bodyPr wrap="square" rtlCol="0" anchor="t"/>
          <a:lstStyle/>
          <a:p>
            <a:pPr indent="0" marL="0">
              <a:buNone/>
            </a:pPr>
            <a:r>
              <a:rPr lang="en-US" sz="1200" dirty="0">
                <a:solidFill>
                  <a:srgbClr val="1E1E3A"/>
                </a:solidFill>
                <a:latin typeface="Calibri" pitchFamily="34" charset="0"/>
                <a:ea typeface="Calibri" pitchFamily="34" charset="-122"/>
                <a:cs typeface="Calibri" pitchFamily="34" charset="-120"/>
              </a:rPr>
              <a:t>Select which modules are included in the client's tier. Only purchased modules are activated.</a:t>
            </a:r>
            <a:endParaRPr lang="en-US" sz="1200" dirty="0"/>
          </a:p>
        </p:txBody>
      </p:sp>
      <p:sp>
        <p:nvSpPr>
          <p:cNvPr id="15" name="Shape 13"/>
          <p:cNvSpPr/>
          <p:nvPr/>
        </p:nvSpPr>
        <p:spPr>
          <a:xfrm>
            <a:off x="4672584" y="594360"/>
            <a:ext cx="2011680" cy="3840480"/>
          </a:xfrm>
          <a:prstGeom prst="rect">
            <a:avLst/>
          </a:prstGeom>
          <a:solidFill>
            <a:srgbClr val="F8F9FD"/>
          </a:solidFill>
          <a:ln w="12700">
            <a:solidFill>
              <a:srgbClr val="CCCCCC"/>
            </a:solidFill>
            <a:prstDash val="solid"/>
          </a:ln>
        </p:spPr>
      </p:sp>
      <p:sp>
        <p:nvSpPr>
          <p:cNvPr id="16" name="Shape 14"/>
          <p:cNvSpPr/>
          <p:nvPr/>
        </p:nvSpPr>
        <p:spPr>
          <a:xfrm>
            <a:off x="4672584" y="594360"/>
            <a:ext cx="2011680" cy="457200"/>
          </a:xfrm>
          <a:prstGeom prst="rect">
            <a:avLst/>
          </a:prstGeom>
          <a:solidFill>
            <a:srgbClr val="E8437A"/>
          </a:solidFill>
          <a:ln w="12700">
            <a:solidFill>
              <a:srgbClr val="E8437A"/>
            </a:solidFill>
            <a:prstDash val="solid"/>
          </a:ln>
        </p:spPr>
      </p:sp>
      <p:sp>
        <p:nvSpPr>
          <p:cNvPr id="17" name="Text 15"/>
          <p:cNvSpPr/>
          <p:nvPr/>
        </p:nvSpPr>
        <p:spPr>
          <a:xfrm>
            <a:off x="4672584" y="612648"/>
            <a:ext cx="2011680" cy="402336"/>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STEP 3</a:t>
            </a:r>
            <a:endParaRPr lang="en-US" sz="1400" dirty="0"/>
          </a:p>
        </p:txBody>
      </p:sp>
      <p:sp>
        <p:nvSpPr>
          <p:cNvPr id="18" name="Text 16"/>
          <p:cNvSpPr/>
          <p:nvPr/>
        </p:nvSpPr>
        <p:spPr>
          <a:xfrm>
            <a:off x="4764024" y="1097280"/>
            <a:ext cx="1828800" cy="640080"/>
          </a:xfrm>
          <a:prstGeom prst="rect">
            <a:avLst/>
          </a:prstGeom>
          <a:noFill/>
          <a:ln/>
        </p:spPr>
        <p:txBody>
          <a:bodyPr wrap="square" rtlCol="0" anchor="ctr"/>
          <a:lstStyle/>
          <a:p>
            <a:pPr algn="ctr" indent="0" marL="0">
              <a:buNone/>
            </a:pPr>
            <a:r>
              <a:rPr lang="en-US" sz="1400" b="1" dirty="0">
                <a:solidFill>
                  <a:srgbClr val="0F1F5C"/>
                </a:solidFill>
                <a:latin typeface="Trebuchet MS" pitchFamily="34" charset="0"/>
                <a:ea typeface="Trebuchet MS" pitchFamily="34" charset="-122"/>
                <a:cs typeface="Trebuchet MS" pitchFamily="34" charset="-120"/>
              </a:rPr>
              <a:t>Contacts</a:t>
            </a:r>
            <a:endParaRPr lang="en-US" sz="1400" dirty="0"/>
          </a:p>
        </p:txBody>
      </p:sp>
      <p:sp>
        <p:nvSpPr>
          <p:cNvPr id="19" name="Text 17"/>
          <p:cNvSpPr/>
          <p:nvPr/>
        </p:nvSpPr>
        <p:spPr>
          <a:xfrm>
            <a:off x="4764024" y="1783080"/>
            <a:ext cx="1828800" cy="2468880"/>
          </a:xfrm>
          <a:prstGeom prst="rect">
            <a:avLst/>
          </a:prstGeom>
          <a:noFill/>
          <a:ln/>
        </p:spPr>
        <p:txBody>
          <a:bodyPr wrap="square" rtlCol="0" anchor="t"/>
          <a:lstStyle/>
          <a:p>
            <a:pPr indent="0" marL="0">
              <a:buNone/>
            </a:pPr>
            <a:r>
              <a:rPr lang="en-US" sz="1200" dirty="0">
                <a:solidFill>
                  <a:srgbClr val="1E1E3A"/>
                </a:solidFill>
                <a:latin typeface="Calibri" pitchFamily="34" charset="0"/>
                <a:ea typeface="Calibri" pitchFamily="34" charset="-122"/>
                <a:cs typeface="Calibri" pitchFamily="34" charset="-120"/>
              </a:rPr>
              <a:t>Add primary admin contact and any co-administrators. Set initial role assignments.</a:t>
            </a:r>
            <a:endParaRPr lang="en-US" sz="1200" dirty="0"/>
          </a:p>
        </p:txBody>
      </p:sp>
      <p:sp>
        <p:nvSpPr>
          <p:cNvPr id="20" name="Shape 18"/>
          <p:cNvSpPr/>
          <p:nvPr/>
        </p:nvSpPr>
        <p:spPr>
          <a:xfrm>
            <a:off x="6848856" y="594360"/>
            <a:ext cx="2011680" cy="3840480"/>
          </a:xfrm>
          <a:prstGeom prst="rect">
            <a:avLst/>
          </a:prstGeom>
          <a:solidFill>
            <a:srgbClr val="F8F9FD"/>
          </a:solidFill>
          <a:ln w="12700">
            <a:solidFill>
              <a:srgbClr val="CCCCCC"/>
            </a:solidFill>
            <a:prstDash val="solid"/>
          </a:ln>
        </p:spPr>
      </p:sp>
      <p:sp>
        <p:nvSpPr>
          <p:cNvPr id="21" name="Shape 19"/>
          <p:cNvSpPr/>
          <p:nvPr/>
        </p:nvSpPr>
        <p:spPr>
          <a:xfrm>
            <a:off x="6848856" y="594360"/>
            <a:ext cx="2011680" cy="457200"/>
          </a:xfrm>
          <a:prstGeom prst="rect">
            <a:avLst/>
          </a:prstGeom>
          <a:solidFill>
            <a:srgbClr val="E8437A"/>
          </a:solidFill>
          <a:ln w="12700">
            <a:solidFill>
              <a:srgbClr val="E8437A"/>
            </a:solidFill>
            <a:prstDash val="solid"/>
          </a:ln>
        </p:spPr>
      </p:sp>
      <p:sp>
        <p:nvSpPr>
          <p:cNvPr id="22" name="Text 20"/>
          <p:cNvSpPr/>
          <p:nvPr/>
        </p:nvSpPr>
        <p:spPr>
          <a:xfrm>
            <a:off x="6848856" y="612648"/>
            <a:ext cx="2011680" cy="402336"/>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STEP 4</a:t>
            </a:r>
            <a:endParaRPr lang="en-US" sz="1400" dirty="0"/>
          </a:p>
        </p:txBody>
      </p:sp>
      <p:sp>
        <p:nvSpPr>
          <p:cNvPr id="23" name="Text 21"/>
          <p:cNvSpPr/>
          <p:nvPr/>
        </p:nvSpPr>
        <p:spPr>
          <a:xfrm>
            <a:off x="6940296" y="1097280"/>
            <a:ext cx="1828800" cy="640080"/>
          </a:xfrm>
          <a:prstGeom prst="rect">
            <a:avLst/>
          </a:prstGeom>
          <a:noFill/>
          <a:ln/>
        </p:spPr>
        <p:txBody>
          <a:bodyPr wrap="square" rtlCol="0" anchor="ctr"/>
          <a:lstStyle/>
          <a:p>
            <a:pPr algn="ctr" indent="0" marL="0">
              <a:buNone/>
            </a:pPr>
            <a:r>
              <a:rPr lang="en-US" sz="1400" b="1" dirty="0">
                <a:solidFill>
                  <a:srgbClr val="0F1F5C"/>
                </a:solidFill>
                <a:latin typeface="Trebuchet MS" pitchFamily="34" charset="0"/>
                <a:ea typeface="Trebuchet MS" pitchFamily="34" charset="-122"/>
                <a:cs typeface="Trebuchet MS" pitchFamily="34" charset="-120"/>
              </a:rPr>
              <a:t>Documents</a:t>
            </a:r>
            <a:endParaRPr lang="en-US" sz="1400" dirty="0"/>
          </a:p>
        </p:txBody>
      </p:sp>
      <p:sp>
        <p:nvSpPr>
          <p:cNvPr id="24" name="Text 22"/>
          <p:cNvSpPr/>
          <p:nvPr/>
        </p:nvSpPr>
        <p:spPr>
          <a:xfrm>
            <a:off x="6940296" y="1783080"/>
            <a:ext cx="1828800" cy="2468880"/>
          </a:xfrm>
          <a:prstGeom prst="rect">
            <a:avLst/>
          </a:prstGeom>
          <a:noFill/>
          <a:ln/>
        </p:spPr>
        <p:txBody>
          <a:bodyPr wrap="square" rtlCol="0" anchor="t"/>
          <a:lstStyle/>
          <a:p>
            <a:pPr indent="0" marL="0">
              <a:buNone/>
            </a:pPr>
            <a:r>
              <a:rPr lang="en-US" sz="1200" dirty="0">
                <a:solidFill>
                  <a:srgbClr val="1E1E3A"/>
                </a:solidFill>
                <a:latin typeface="Calibri" pitchFamily="34" charset="0"/>
                <a:ea typeface="Calibri" pitchFamily="34" charset="-122"/>
                <a:cs typeface="Calibri" pitchFamily="34" charset="-120"/>
              </a:rPr>
              <a:t>Upload org chart, existing job descriptions, or policy docs (optional but recommended for AI context).</a:t>
            </a:r>
            <a:endParaRPr lang="en-US" sz="1200" dirty="0"/>
          </a:p>
        </p:txBody>
      </p:sp>
      <p:sp>
        <p:nvSpPr>
          <p:cNvPr id="25" name="Shape 23"/>
          <p:cNvSpPr/>
          <p:nvPr/>
        </p:nvSpPr>
        <p:spPr>
          <a:xfrm>
            <a:off x="0" y="4887468"/>
            <a:ext cx="9144000" cy="256032"/>
          </a:xfrm>
          <a:prstGeom prst="rect">
            <a:avLst/>
          </a:prstGeom>
          <a:solidFill>
            <a:srgbClr val="0F1F5C"/>
          </a:solidFill>
          <a:ln w="12700">
            <a:solidFill>
              <a:srgbClr val="0F1F5C"/>
            </a:solidFill>
            <a:prstDash val="solid"/>
          </a:ln>
        </p:spPr>
      </p:sp>
      <p:sp>
        <p:nvSpPr>
          <p:cNvPr id="26" name="Text 24"/>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27" name="Text 25"/>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E8437A"/>
          </a:solidFill>
          <a:ln w="12700">
            <a:solidFill>
              <a:srgbClr val="E8437A"/>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ONBOARDING FLOW — STEPS 5 THROUGH 8</a:t>
            </a:r>
            <a:endParaRPr lang="en-US" sz="1400" dirty="0"/>
          </a:p>
        </p:txBody>
      </p:sp>
      <p:sp>
        <p:nvSpPr>
          <p:cNvPr id="5" name="Shape 3"/>
          <p:cNvSpPr/>
          <p:nvPr/>
        </p:nvSpPr>
        <p:spPr>
          <a:xfrm>
            <a:off x="320040" y="594360"/>
            <a:ext cx="2011680" cy="3840480"/>
          </a:xfrm>
          <a:prstGeom prst="rect">
            <a:avLst/>
          </a:prstGeom>
          <a:solidFill>
            <a:srgbClr val="F8F9FD"/>
          </a:solidFill>
          <a:ln w="12700">
            <a:solidFill>
              <a:srgbClr val="CCCCCC"/>
            </a:solidFill>
            <a:prstDash val="solid"/>
          </a:ln>
        </p:spPr>
      </p:sp>
      <p:sp>
        <p:nvSpPr>
          <p:cNvPr id="6" name="Shape 4"/>
          <p:cNvSpPr/>
          <p:nvPr/>
        </p:nvSpPr>
        <p:spPr>
          <a:xfrm>
            <a:off x="320040" y="594360"/>
            <a:ext cx="2011680" cy="457200"/>
          </a:xfrm>
          <a:prstGeom prst="rect">
            <a:avLst/>
          </a:prstGeom>
          <a:solidFill>
            <a:srgbClr val="E8437A"/>
          </a:solidFill>
          <a:ln w="12700">
            <a:solidFill>
              <a:srgbClr val="E8437A"/>
            </a:solidFill>
            <a:prstDash val="solid"/>
          </a:ln>
        </p:spPr>
      </p:sp>
      <p:sp>
        <p:nvSpPr>
          <p:cNvPr id="7" name="Text 5"/>
          <p:cNvSpPr/>
          <p:nvPr/>
        </p:nvSpPr>
        <p:spPr>
          <a:xfrm>
            <a:off x="320040" y="612648"/>
            <a:ext cx="2011680" cy="402336"/>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STEP 5</a:t>
            </a:r>
            <a:endParaRPr lang="en-US" sz="1400" dirty="0"/>
          </a:p>
        </p:txBody>
      </p:sp>
      <p:sp>
        <p:nvSpPr>
          <p:cNvPr id="8" name="Text 6"/>
          <p:cNvSpPr/>
          <p:nvPr/>
        </p:nvSpPr>
        <p:spPr>
          <a:xfrm>
            <a:off x="411480" y="1097280"/>
            <a:ext cx="1828800" cy="640080"/>
          </a:xfrm>
          <a:prstGeom prst="rect">
            <a:avLst/>
          </a:prstGeom>
          <a:noFill/>
          <a:ln/>
        </p:spPr>
        <p:txBody>
          <a:bodyPr wrap="square" rtlCol="0" anchor="ctr"/>
          <a:lstStyle/>
          <a:p>
            <a:pPr algn="ctr" indent="0" marL="0">
              <a:buNone/>
            </a:pPr>
            <a:r>
              <a:rPr lang="en-US" sz="1400" b="1" dirty="0">
                <a:solidFill>
                  <a:srgbClr val="0F1F5C"/>
                </a:solidFill>
                <a:latin typeface="Trebuchet MS" pitchFamily="34" charset="0"/>
                <a:ea typeface="Trebuchet MS" pitchFamily="34" charset="-122"/>
                <a:cs typeface="Trebuchet MS" pitchFamily="34" charset="-120"/>
              </a:rPr>
              <a:t>Terms +</a:t>
            </a:r>
            <a:endParaRPr lang="en-US" sz="1400" dirty="0"/>
          </a:p>
          <a:p>
            <a:pPr algn="ctr" indent="0" marL="0">
              <a:buNone/>
            </a:pPr>
            <a:r>
              <a:rPr lang="en-US" sz="1400" b="1" dirty="0">
                <a:solidFill>
                  <a:srgbClr val="0F1F5C"/>
                </a:solidFill>
                <a:latin typeface="Trebuchet MS" pitchFamily="34" charset="0"/>
                <a:ea typeface="Trebuchet MS" pitchFamily="34" charset="-122"/>
                <a:cs typeface="Trebuchet MS" pitchFamily="34" charset="-120"/>
              </a:rPr>
              <a:t>E-Signature</a:t>
            </a:r>
            <a:endParaRPr lang="en-US" sz="1400" dirty="0"/>
          </a:p>
        </p:txBody>
      </p:sp>
      <p:sp>
        <p:nvSpPr>
          <p:cNvPr id="9" name="Text 7"/>
          <p:cNvSpPr/>
          <p:nvPr/>
        </p:nvSpPr>
        <p:spPr>
          <a:xfrm>
            <a:off x="411480" y="1783080"/>
            <a:ext cx="1828800" cy="2468880"/>
          </a:xfrm>
          <a:prstGeom prst="rect">
            <a:avLst/>
          </a:prstGeom>
          <a:noFill/>
          <a:ln/>
        </p:spPr>
        <p:txBody>
          <a:bodyPr wrap="square" rtlCol="0" anchor="t"/>
          <a:lstStyle/>
          <a:p>
            <a:pPr indent="0" marL="0">
              <a:buNone/>
            </a:pPr>
            <a:r>
              <a:rPr lang="en-US" sz="1200" dirty="0">
                <a:solidFill>
                  <a:srgbClr val="1E1E3A"/>
                </a:solidFill>
                <a:latin typeface="Calibri" pitchFamily="34" charset="0"/>
                <a:ea typeface="Calibri" pitchFamily="34" charset="-122"/>
                <a:cs typeface="Calibri" pitchFamily="34" charset="-120"/>
              </a:rPr>
              <a:t>Client reviews and e-signs the BOOST! terms of service and data processing agreement directly in-platform.</a:t>
            </a:r>
            <a:endParaRPr lang="en-US" sz="1200" dirty="0"/>
          </a:p>
        </p:txBody>
      </p:sp>
      <p:sp>
        <p:nvSpPr>
          <p:cNvPr id="10" name="Shape 8"/>
          <p:cNvSpPr/>
          <p:nvPr/>
        </p:nvSpPr>
        <p:spPr>
          <a:xfrm>
            <a:off x="2496312" y="594360"/>
            <a:ext cx="2011680" cy="3840480"/>
          </a:xfrm>
          <a:prstGeom prst="rect">
            <a:avLst/>
          </a:prstGeom>
          <a:solidFill>
            <a:srgbClr val="F8F9FD"/>
          </a:solidFill>
          <a:ln w="12700">
            <a:solidFill>
              <a:srgbClr val="CCCCCC"/>
            </a:solidFill>
            <a:prstDash val="solid"/>
          </a:ln>
        </p:spPr>
      </p:sp>
      <p:sp>
        <p:nvSpPr>
          <p:cNvPr id="11" name="Shape 9"/>
          <p:cNvSpPr/>
          <p:nvPr/>
        </p:nvSpPr>
        <p:spPr>
          <a:xfrm>
            <a:off x="2496312" y="594360"/>
            <a:ext cx="2011680" cy="457200"/>
          </a:xfrm>
          <a:prstGeom prst="rect">
            <a:avLst/>
          </a:prstGeom>
          <a:solidFill>
            <a:srgbClr val="E8437A"/>
          </a:solidFill>
          <a:ln w="12700">
            <a:solidFill>
              <a:srgbClr val="E8437A"/>
            </a:solidFill>
            <a:prstDash val="solid"/>
          </a:ln>
        </p:spPr>
      </p:sp>
      <p:sp>
        <p:nvSpPr>
          <p:cNvPr id="12" name="Text 10"/>
          <p:cNvSpPr/>
          <p:nvPr/>
        </p:nvSpPr>
        <p:spPr>
          <a:xfrm>
            <a:off x="2496312" y="612648"/>
            <a:ext cx="2011680" cy="402336"/>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STEP 6</a:t>
            </a:r>
            <a:endParaRPr lang="en-US" sz="1400" dirty="0"/>
          </a:p>
        </p:txBody>
      </p:sp>
      <p:sp>
        <p:nvSpPr>
          <p:cNvPr id="13" name="Text 11"/>
          <p:cNvSpPr/>
          <p:nvPr/>
        </p:nvSpPr>
        <p:spPr>
          <a:xfrm>
            <a:off x="2587752" y="1097280"/>
            <a:ext cx="1828800" cy="640080"/>
          </a:xfrm>
          <a:prstGeom prst="rect">
            <a:avLst/>
          </a:prstGeom>
          <a:noFill/>
          <a:ln/>
        </p:spPr>
        <p:txBody>
          <a:bodyPr wrap="square" rtlCol="0" anchor="ctr"/>
          <a:lstStyle/>
          <a:p>
            <a:pPr algn="ctr" indent="0" marL="0">
              <a:buNone/>
            </a:pPr>
            <a:r>
              <a:rPr lang="en-US" sz="1400" b="1" dirty="0">
                <a:solidFill>
                  <a:srgbClr val="0F1F5C"/>
                </a:solidFill>
                <a:latin typeface="Trebuchet MS" pitchFamily="34" charset="0"/>
                <a:ea typeface="Trebuchet MS" pitchFamily="34" charset="-122"/>
                <a:cs typeface="Trebuchet MS" pitchFamily="34" charset="-120"/>
              </a:rPr>
              <a:t>Stripe</a:t>
            </a:r>
            <a:endParaRPr lang="en-US" sz="1400" dirty="0"/>
          </a:p>
          <a:p>
            <a:pPr algn="ctr" indent="0" marL="0">
              <a:buNone/>
            </a:pPr>
            <a:r>
              <a:rPr lang="en-US" sz="1400" b="1" dirty="0">
                <a:solidFill>
                  <a:srgbClr val="0F1F5C"/>
                </a:solidFill>
                <a:latin typeface="Trebuchet MS" pitchFamily="34" charset="0"/>
                <a:ea typeface="Trebuchet MS" pitchFamily="34" charset="-122"/>
                <a:cs typeface="Trebuchet MS" pitchFamily="34" charset="-120"/>
              </a:rPr>
              <a:t>Payment</a:t>
            </a:r>
            <a:endParaRPr lang="en-US" sz="1400" dirty="0"/>
          </a:p>
        </p:txBody>
      </p:sp>
      <p:sp>
        <p:nvSpPr>
          <p:cNvPr id="14" name="Text 12"/>
          <p:cNvSpPr/>
          <p:nvPr/>
        </p:nvSpPr>
        <p:spPr>
          <a:xfrm>
            <a:off x="2587752" y="1783080"/>
            <a:ext cx="1828800" cy="2468880"/>
          </a:xfrm>
          <a:prstGeom prst="rect">
            <a:avLst/>
          </a:prstGeom>
          <a:noFill/>
          <a:ln/>
        </p:spPr>
        <p:txBody>
          <a:bodyPr wrap="square" rtlCol="0" anchor="t"/>
          <a:lstStyle/>
          <a:p>
            <a:pPr indent="0" marL="0">
              <a:buNone/>
            </a:pPr>
            <a:r>
              <a:rPr lang="en-US" sz="1200" dirty="0">
                <a:solidFill>
                  <a:srgbClr val="1E1E3A"/>
                </a:solidFill>
                <a:latin typeface="Calibri" pitchFamily="34" charset="0"/>
                <a:ea typeface="Calibri" pitchFamily="34" charset="-122"/>
                <a:cs typeface="Calibri" pitchFamily="34" charset="-120"/>
              </a:rPr>
              <a:t>Credit card or ACH entered into Stripe checkout. Founding client discount code applied here if applicable.</a:t>
            </a:r>
            <a:endParaRPr lang="en-US" sz="1200" dirty="0"/>
          </a:p>
        </p:txBody>
      </p:sp>
      <p:sp>
        <p:nvSpPr>
          <p:cNvPr id="15" name="Shape 13"/>
          <p:cNvSpPr/>
          <p:nvPr/>
        </p:nvSpPr>
        <p:spPr>
          <a:xfrm>
            <a:off x="4672584" y="594360"/>
            <a:ext cx="2011680" cy="3840480"/>
          </a:xfrm>
          <a:prstGeom prst="rect">
            <a:avLst/>
          </a:prstGeom>
          <a:solidFill>
            <a:srgbClr val="F8F9FD"/>
          </a:solidFill>
          <a:ln w="12700">
            <a:solidFill>
              <a:srgbClr val="CCCCCC"/>
            </a:solidFill>
            <a:prstDash val="solid"/>
          </a:ln>
        </p:spPr>
      </p:sp>
      <p:sp>
        <p:nvSpPr>
          <p:cNvPr id="16" name="Shape 14"/>
          <p:cNvSpPr/>
          <p:nvPr/>
        </p:nvSpPr>
        <p:spPr>
          <a:xfrm>
            <a:off x="4672584" y="594360"/>
            <a:ext cx="2011680" cy="457200"/>
          </a:xfrm>
          <a:prstGeom prst="rect">
            <a:avLst/>
          </a:prstGeom>
          <a:solidFill>
            <a:srgbClr val="E8437A"/>
          </a:solidFill>
          <a:ln w="12700">
            <a:solidFill>
              <a:srgbClr val="E8437A"/>
            </a:solidFill>
            <a:prstDash val="solid"/>
          </a:ln>
        </p:spPr>
      </p:sp>
      <p:sp>
        <p:nvSpPr>
          <p:cNvPr id="17" name="Text 15"/>
          <p:cNvSpPr/>
          <p:nvPr/>
        </p:nvSpPr>
        <p:spPr>
          <a:xfrm>
            <a:off x="4672584" y="612648"/>
            <a:ext cx="2011680" cy="402336"/>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STEP 7</a:t>
            </a:r>
            <a:endParaRPr lang="en-US" sz="1400" dirty="0"/>
          </a:p>
        </p:txBody>
      </p:sp>
      <p:sp>
        <p:nvSpPr>
          <p:cNvPr id="18" name="Text 16"/>
          <p:cNvSpPr/>
          <p:nvPr/>
        </p:nvSpPr>
        <p:spPr>
          <a:xfrm>
            <a:off x="4764024" y="1097280"/>
            <a:ext cx="1828800" cy="640080"/>
          </a:xfrm>
          <a:prstGeom prst="rect">
            <a:avLst/>
          </a:prstGeom>
          <a:noFill/>
          <a:ln/>
        </p:spPr>
        <p:txBody>
          <a:bodyPr wrap="square" rtlCol="0" anchor="ctr"/>
          <a:lstStyle/>
          <a:p>
            <a:pPr algn="ctr" indent="0" marL="0">
              <a:buNone/>
            </a:pPr>
            <a:r>
              <a:rPr lang="en-US" sz="1400" b="1" dirty="0">
                <a:solidFill>
                  <a:srgbClr val="0F1F5C"/>
                </a:solidFill>
                <a:latin typeface="Trebuchet MS" pitchFamily="34" charset="0"/>
                <a:ea typeface="Trebuchet MS" pitchFamily="34" charset="-122"/>
                <a:cs typeface="Trebuchet MS" pitchFamily="34" charset="-120"/>
              </a:rPr>
              <a:t>Account</a:t>
            </a:r>
            <a:endParaRPr lang="en-US" sz="1400" dirty="0"/>
          </a:p>
          <a:p>
            <a:pPr algn="ctr" indent="0" marL="0">
              <a:buNone/>
            </a:pPr>
            <a:r>
              <a:rPr lang="en-US" sz="1400" b="1" dirty="0">
                <a:solidFill>
                  <a:srgbClr val="0F1F5C"/>
                </a:solidFill>
                <a:latin typeface="Trebuchet MS" pitchFamily="34" charset="0"/>
                <a:ea typeface="Trebuchet MS" pitchFamily="34" charset="-122"/>
                <a:cs typeface="Trebuchet MS" pitchFamily="34" charset="-120"/>
              </a:rPr>
              <a:t>Activation</a:t>
            </a:r>
            <a:endParaRPr lang="en-US" sz="1400" dirty="0"/>
          </a:p>
        </p:txBody>
      </p:sp>
      <p:sp>
        <p:nvSpPr>
          <p:cNvPr id="19" name="Text 17"/>
          <p:cNvSpPr/>
          <p:nvPr/>
        </p:nvSpPr>
        <p:spPr>
          <a:xfrm>
            <a:off x="4764024" y="1783080"/>
            <a:ext cx="1828800" cy="2468880"/>
          </a:xfrm>
          <a:prstGeom prst="rect">
            <a:avLst/>
          </a:prstGeom>
          <a:noFill/>
          <a:ln/>
        </p:spPr>
        <p:txBody>
          <a:bodyPr wrap="square" rtlCol="0" anchor="t"/>
          <a:lstStyle/>
          <a:p>
            <a:pPr indent="0" marL="0">
              <a:buNone/>
            </a:pPr>
            <a:r>
              <a:rPr lang="en-US" sz="1200" dirty="0">
                <a:solidFill>
                  <a:srgbClr val="1E1E3A"/>
                </a:solidFill>
                <a:latin typeface="Calibri" pitchFamily="34" charset="0"/>
                <a:ea typeface="Calibri" pitchFamily="34" charset="-122"/>
                <a:cs typeface="Calibri" pitchFamily="34" charset="-120"/>
              </a:rPr>
              <a:t>System activates the tenant. Welcome email sent to primary admin. Test accounts created for BSG.</a:t>
            </a:r>
            <a:endParaRPr lang="en-US" sz="1200" dirty="0"/>
          </a:p>
        </p:txBody>
      </p:sp>
      <p:sp>
        <p:nvSpPr>
          <p:cNvPr id="20" name="Shape 18"/>
          <p:cNvSpPr/>
          <p:nvPr/>
        </p:nvSpPr>
        <p:spPr>
          <a:xfrm>
            <a:off x="6848856" y="594360"/>
            <a:ext cx="2011680" cy="3840480"/>
          </a:xfrm>
          <a:prstGeom prst="rect">
            <a:avLst/>
          </a:prstGeom>
          <a:solidFill>
            <a:srgbClr val="F8F9FD"/>
          </a:solidFill>
          <a:ln w="12700">
            <a:solidFill>
              <a:srgbClr val="CCCCCC"/>
            </a:solidFill>
            <a:prstDash val="solid"/>
          </a:ln>
        </p:spPr>
      </p:sp>
      <p:sp>
        <p:nvSpPr>
          <p:cNvPr id="21" name="Shape 19"/>
          <p:cNvSpPr/>
          <p:nvPr/>
        </p:nvSpPr>
        <p:spPr>
          <a:xfrm>
            <a:off x="6848856" y="594360"/>
            <a:ext cx="2011680" cy="457200"/>
          </a:xfrm>
          <a:prstGeom prst="rect">
            <a:avLst/>
          </a:prstGeom>
          <a:solidFill>
            <a:srgbClr val="E8437A"/>
          </a:solidFill>
          <a:ln w="12700">
            <a:solidFill>
              <a:srgbClr val="E8437A"/>
            </a:solidFill>
            <a:prstDash val="solid"/>
          </a:ln>
        </p:spPr>
      </p:sp>
      <p:sp>
        <p:nvSpPr>
          <p:cNvPr id="22" name="Text 20"/>
          <p:cNvSpPr/>
          <p:nvPr/>
        </p:nvSpPr>
        <p:spPr>
          <a:xfrm>
            <a:off x="6848856" y="612648"/>
            <a:ext cx="2011680" cy="402336"/>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STEP 8</a:t>
            </a:r>
            <a:endParaRPr lang="en-US" sz="1400" dirty="0"/>
          </a:p>
        </p:txBody>
      </p:sp>
      <p:sp>
        <p:nvSpPr>
          <p:cNvPr id="23" name="Text 21"/>
          <p:cNvSpPr/>
          <p:nvPr/>
        </p:nvSpPr>
        <p:spPr>
          <a:xfrm>
            <a:off x="6940296" y="1097280"/>
            <a:ext cx="1828800" cy="640080"/>
          </a:xfrm>
          <a:prstGeom prst="rect">
            <a:avLst/>
          </a:prstGeom>
          <a:noFill/>
          <a:ln/>
        </p:spPr>
        <p:txBody>
          <a:bodyPr wrap="square" rtlCol="0" anchor="ctr"/>
          <a:lstStyle/>
          <a:p>
            <a:pPr algn="ctr" indent="0" marL="0">
              <a:buNone/>
            </a:pPr>
            <a:r>
              <a:rPr lang="en-US" sz="1400" b="1" dirty="0">
                <a:solidFill>
                  <a:srgbClr val="0F1F5C"/>
                </a:solidFill>
                <a:latin typeface="Trebuchet MS" pitchFamily="34" charset="0"/>
                <a:ea typeface="Trebuchet MS" pitchFamily="34" charset="-122"/>
                <a:cs typeface="Trebuchet MS" pitchFamily="34" charset="-120"/>
              </a:rPr>
              <a:t>Module</a:t>
            </a:r>
            <a:endParaRPr lang="en-US" sz="1400" dirty="0"/>
          </a:p>
          <a:p>
            <a:pPr algn="ctr" indent="0" marL="0">
              <a:buNone/>
            </a:pPr>
            <a:r>
              <a:rPr lang="en-US" sz="1400" b="1" dirty="0">
                <a:solidFill>
                  <a:srgbClr val="0F1F5C"/>
                </a:solidFill>
                <a:latin typeface="Trebuchet MS" pitchFamily="34" charset="0"/>
                <a:ea typeface="Trebuchet MS" pitchFamily="34" charset="-122"/>
                <a:cs typeface="Trebuchet MS" pitchFamily="34" charset="-120"/>
              </a:rPr>
              <a:t>Checklists</a:t>
            </a:r>
            <a:endParaRPr lang="en-US" sz="1400" dirty="0"/>
          </a:p>
        </p:txBody>
      </p:sp>
      <p:sp>
        <p:nvSpPr>
          <p:cNvPr id="24" name="Text 22"/>
          <p:cNvSpPr/>
          <p:nvPr/>
        </p:nvSpPr>
        <p:spPr>
          <a:xfrm>
            <a:off x="6940296" y="1783080"/>
            <a:ext cx="1828800" cy="2468880"/>
          </a:xfrm>
          <a:prstGeom prst="rect">
            <a:avLst/>
          </a:prstGeom>
          <a:noFill/>
          <a:ln/>
        </p:spPr>
        <p:txBody>
          <a:bodyPr wrap="square" rtlCol="0" anchor="t"/>
          <a:lstStyle/>
          <a:p>
            <a:pPr indent="0" marL="0">
              <a:buNone/>
            </a:pPr>
            <a:r>
              <a:rPr lang="en-US" sz="1200" dirty="0">
                <a:solidFill>
                  <a:srgbClr val="1E1E3A"/>
                </a:solidFill>
                <a:latin typeface="Calibri" pitchFamily="34" charset="0"/>
                <a:ea typeface="Calibri" pitchFamily="34" charset="-122"/>
                <a:cs typeface="Calibri" pitchFamily="34" charset="-120"/>
              </a:rPr>
              <a:t>Each activated module shows a setup checklist. Tech Support walks client through each item in the first onboarding call.</a:t>
            </a:r>
            <a:endParaRPr lang="en-US" sz="1200" dirty="0"/>
          </a:p>
        </p:txBody>
      </p:sp>
      <p:sp>
        <p:nvSpPr>
          <p:cNvPr id="25" name="Shape 23"/>
          <p:cNvSpPr/>
          <p:nvPr/>
        </p:nvSpPr>
        <p:spPr>
          <a:xfrm>
            <a:off x="0" y="4887468"/>
            <a:ext cx="9144000" cy="256032"/>
          </a:xfrm>
          <a:prstGeom prst="rect">
            <a:avLst/>
          </a:prstGeom>
          <a:solidFill>
            <a:srgbClr val="0F1F5C"/>
          </a:solidFill>
          <a:ln w="12700">
            <a:solidFill>
              <a:srgbClr val="0F1F5C"/>
            </a:solidFill>
            <a:prstDash val="solid"/>
          </a:ln>
        </p:spPr>
      </p:sp>
      <p:sp>
        <p:nvSpPr>
          <p:cNvPr id="26" name="Text 24"/>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27" name="Text 25"/>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CONFIGURING BOOST!ROLES</a:t>
            </a:r>
            <a:endParaRPr lang="en-US" sz="1400" dirty="0"/>
          </a:p>
        </p:txBody>
      </p:sp>
      <p:sp>
        <p:nvSpPr>
          <p:cNvPr id="5" name="Text 3"/>
          <p:cNvSpPr/>
          <p:nvPr/>
        </p:nvSpPr>
        <p:spPr>
          <a:xfrm>
            <a:off x="457200" y="640080"/>
            <a:ext cx="4114800" cy="347472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Job Description Builder: select role type, department, level — AI generates a draft</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Pay Bands: set min/mid/max per role — imported from spreadsheet or manual entry</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Career Ladders: map progression from individual contributor to senior levels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Competency Framework: define skills, behaviors, and proficiency levels per role</a:t>
            </a:r>
            <a:endParaRPr lang="en-US" sz="1400" dirty="0"/>
          </a:p>
        </p:txBody>
      </p:sp>
      <p:sp>
        <p:nvSpPr>
          <p:cNvPr id="6" name="Text 4"/>
          <p:cNvSpPr/>
          <p:nvPr/>
        </p:nvSpPr>
        <p:spPr>
          <a:xfrm>
            <a:off x="4800600" y="640080"/>
            <a:ext cx="4114800" cy="347472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AI JD Generator: prompts client to review and edit — not a final product</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NAICS code enables industry-specific AI benchmarking for pay bands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Common mistake: clients skip the competency section — it feeds into Perform reviews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Tip: configure at least 3 roles before activating Boost!Perform for best experience</a:t>
            </a:r>
            <a:endParaRPr lang="en-US" sz="1400" dirty="0"/>
          </a:p>
        </p:txBody>
      </p:sp>
      <p:sp>
        <p:nvSpPr>
          <p:cNvPr id="7" name="Shape 5"/>
          <p:cNvSpPr/>
          <p:nvPr/>
        </p:nvSpPr>
        <p:spPr>
          <a:xfrm>
            <a:off x="365760" y="4160520"/>
            <a:ext cx="8412480" cy="347472"/>
          </a:xfrm>
          <a:prstGeom prst="rect">
            <a:avLst/>
          </a:prstGeom>
          <a:solidFill>
            <a:srgbClr val="FFF3E0"/>
          </a:solidFill>
          <a:ln w="12700">
            <a:solidFill>
              <a:srgbClr val="F7941D"/>
            </a:solidFill>
            <a:prstDash val="solid"/>
          </a:ln>
        </p:spPr>
      </p:sp>
      <p:sp>
        <p:nvSpPr>
          <p:cNvPr id="8" name="Text 6"/>
          <p:cNvSpPr/>
          <p:nvPr/>
        </p:nvSpPr>
        <p:spPr>
          <a:xfrm>
            <a:off x="502920" y="4178808"/>
            <a:ext cx="8229600" cy="292608"/>
          </a:xfrm>
          <a:prstGeom prst="rect">
            <a:avLst/>
          </a:prstGeom>
          <a:noFill/>
          <a:ln/>
        </p:spPr>
        <p:txBody>
          <a:bodyPr wrap="square" rtlCol="0" anchor="ctr"/>
          <a:lstStyle/>
          <a:p>
            <a:pPr indent="0" marL="0">
              <a:buNone/>
            </a:pPr>
            <a:r>
              <a:rPr lang="en-US" sz="1200" dirty="0">
                <a:solidFill>
                  <a:srgbClr val="6B3A00"/>
                </a:solidFill>
                <a:latin typeface="Calibri" pitchFamily="34" charset="0"/>
                <a:ea typeface="Calibri" pitchFamily="34" charset="-122"/>
                <a:cs typeface="Calibri" pitchFamily="34" charset="-120"/>
              </a:rPr>
              <a:t>Watch for: clients who skip competencies in Boost!Roles will see incomplete performance reviews in Boost!Perform.</a:t>
            </a:r>
            <a:endParaRPr lang="en-US" sz="1200" dirty="0"/>
          </a:p>
        </p:txBody>
      </p:sp>
      <p:sp>
        <p:nvSpPr>
          <p:cNvPr id="9" name="Shape 7"/>
          <p:cNvSpPr/>
          <p:nvPr/>
        </p:nvSpPr>
        <p:spPr>
          <a:xfrm>
            <a:off x="0" y="4887468"/>
            <a:ext cx="9144000" cy="256032"/>
          </a:xfrm>
          <a:prstGeom prst="rect">
            <a:avLst/>
          </a:prstGeom>
          <a:solidFill>
            <a:srgbClr val="0F1F5C"/>
          </a:solidFill>
          <a:ln w="12700">
            <a:solidFill>
              <a:srgbClr val="0F1F5C"/>
            </a:solidFill>
            <a:prstDash val="solid"/>
          </a:ln>
        </p:spPr>
      </p:sp>
      <p:sp>
        <p:nvSpPr>
          <p:cNvPr id="10" name="Text 8"/>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1" name="Text 9"/>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E8437A"/>
          </a:solidFill>
          <a:ln w="12700">
            <a:solidFill>
              <a:srgbClr val="E8437A"/>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CONFIGURING BOOST!PERFORM</a:t>
            </a:r>
            <a:endParaRPr lang="en-US" sz="1400" dirty="0"/>
          </a:p>
        </p:txBody>
      </p:sp>
      <p:sp>
        <p:nvSpPr>
          <p:cNvPr id="5" name="Text 3"/>
          <p:cNvSpPr/>
          <p:nvPr/>
        </p:nvSpPr>
        <p:spPr>
          <a:xfrm>
            <a:off x="457200" y="640080"/>
            <a:ext cx="4114800" cy="310896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Review Cycle Setup: define frequency (quarterly/annual), window dates, and reminder cadence</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Targets (NOT Goals): BOOST! uses "Targets" — correct clients who use the word "goals"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AI Conversation Coach: generates manager talking points — MANAGER USE ONLY</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Toggle AI features per tenant: some clients prefer to disable AI outputs</a:t>
            </a:r>
            <a:endParaRPr lang="en-US" sz="1400" dirty="0"/>
          </a:p>
        </p:txBody>
      </p:sp>
      <p:sp>
        <p:nvSpPr>
          <p:cNvPr id="6" name="Text 4"/>
          <p:cNvSpPr/>
          <p:nvPr/>
        </p:nvSpPr>
        <p:spPr>
          <a:xfrm>
            <a:off x="4800600" y="640080"/>
            <a:ext cx="4114800" cy="310896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Rating Scales: 1-5 or custom — set at tenant level, cannot change mid-cycle</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9-Box Grid: auto-populated from review scores and manager potential ratings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CRITICAL: Manager PDF is generated for manager prep — DOWNLOAD + PRINT ONLY</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NEVER send the Manager PDF to the employee — it contains coaching notes</a:t>
            </a:r>
            <a:endParaRPr lang="en-US" sz="1400" dirty="0"/>
          </a:p>
        </p:txBody>
      </p:sp>
      <p:sp>
        <p:nvSpPr>
          <p:cNvPr id="7" name="Shape 5"/>
          <p:cNvSpPr/>
          <p:nvPr/>
        </p:nvSpPr>
        <p:spPr>
          <a:xfrm>
            <a:off x="365760" y="3794760"/>
            <a:ext cx="8412480" cy="658368"/>
          </a:xfrm>
          <a:prstGeom prst="rect">
            <a:avLst/>
          </a:prstGeom>
          <a:solidFill>
            <a:srgbClr val="FFEEEE"/>
          </a:solidFill>
          <a:ln w="12700">
            <a:solidFill>
              <a:srgbClr val="CC0000"/>
            </a:solidFill>
            <a:prstDash val="solid"/>
          </a:ln>
        </p:spPr>
      </p:sp>
      <p:sp>
        <p:nvSpPr>
          <p:cNvPr id="8" name="Text 6"/>
          <p:cNvSpPr/>
          <p:nvPr/>
        </p:nvSpPr>
        <p:spPr>
          <a:xfrm>
            <a:off x="502920" y="3813048"/>
            <a:ext cx="8229600" cy="594360"/>
          </a:xfrm>
          <a:prstGeom prst="rect">
            <a:avLst/>
          </a:prstGeom>
          <a:noFill/>
          <a:ln/>
        </p:spPr>
        <p:txBody>
          <a:bodyPr wrap="square" rtlCol="0" anchor="ctr"/>
          <a:lstStyle/>
          <a:p>
            <a:pPr indent="0" marL="0">
              <a:buNone/>
            </a:pPr>
            <a:r>
              <a:rPr lang="en-US" sz="1300" b="1" dirty="0">
                <a:solidFill>
                  <a:srgbClr val="8B0000"/>
                </a:solidFill>
                <a:latin typeface="Calibri" pitchFamily="34" charset="0"/>
                <a:ea typeface="Calibri" pitchFamily="34" charset="-122"/>
                <a:cs typeface="Calibri" pitchFamily="34" charset="-120"/>
              </a:rPr>
              <a:t>CRITICAL: The Manager PDF contains coaching strategy and internal notes. It is NEVER to be sent to or shared with the employee. Download, print, and use for prep only.</a:t>
            </a:r>
            <a:endParaRPr lang="en-US" sz="1300" dirty="0"/>
          </a:p>
        </p:txBody>
      </p:sp>
      <p:sp>
        <p:nvSpPr>
          <p:cNvPr id="9" name="Shape 7"/>
          <p:cNvSpPr/>
          <p:nvPr/>
        </p:nvSpPr>
        <p:spPr>
          <a:xfrm>
            <a:off x="0" y="4887468"/>
            <a:ext cx="9144000" cy="256032"/>
          </a:xfrm>
          <a:prstGeom prst="rect">
            <a:avLst/>
          </a:prstGeom>
          <a:solidFill>
            <a:srgbClr val="0F1F5C"/>
          </a:solidFill>
          <a:ln w="12700">
            <a:solidFill>
              <a:srgbClr val="0F1F5C"/>
            </a:solidFill>
            <a:prstDash val="solid"/>
          </a:ln>
        </p:spPr>
      </p:sp>
      <p:sp>
        <p:nvSpPr>
          <p:cNvPr id="10" name="Text 8"/>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1" name="Text 9"/>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E8437A"/>
          </a:solidFill>
          <a:ln w="12700">
            <a:solidFill>
              <a:srgbClr val="E8437A"/>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THE 9-BOX GRID EXPLAINED</a:t>
            </a:r>
            <a:endParaRPr lang="en-US" sz="1400" dirty="0"/>
          </a:p>
        </p:txBody>
      </p:sp>
      <p:sp>
        <p:nvSpPr>
          <p:cNvPr id="5" name="Text 3"/>
          <p:cNvSpPr/>
          <p:nvPr/>
        </p:nvSpPr>
        <p:spPr>
          <a:xfrm>
            <a:off x="457200" y="576072"/>
            <a:ext cx="8229600" cy="347472"/>
          </a:xfrm>
          <a:prstGeom prst="rect">
            <a:avLst/>
          </a:prstGeom>
          <a:noFill/>
          <a:ln/>
        </p:spPr>
        <p:txBody>
          <a:bodyPr wrap="square" rtlCol="0" anchor="ctr"/>
          <a:lstStyle/>
          <a:p>
            <a:pPr indent="0" marL="0">
              <a:buNone/>
            </a:pPr>
            <a:r>
              <a:rPr lang="en-US" sz="1800" b="1" dirty="0">
                <a:solidFill>
                  <a:srgbClr val="0F1F5C"/>
                </a:solidFill>
                <a:latin typeface="Trebuchet MS" pitchFamily="34" charset="0"/>
                <a:ea typeface="Trebuchet MS" pitchFamily="34" charset="-122"/>
                <a:cs typeface="Trebuchet MS" pitchFamily="34" charset="-120"/>
              </a:rPr>
              <a:t>Performance (X-axis) × Potential (Y-axis)</a:t>
            </a:r>
            <a:endParaRPr lang="en-US" sz="1800" dirty="0"/>
          </a:p>
        </p:txBody>
      </p:sp>
      <p:sp>
        <p:nvSpPr>
          <p:cNvPr id="6" name="Text 4"/>
          <p:cNvSpPr/>
          <p:nvPr/>
        </p:nvSpPr>
        <p:spPr>
          <a:xfrm>
            <a:off x="457200" y="987552"/>
            <a:ext cx="4023360" cy="320040"/>
          </a:xfrm>
          <a:prstGeom prst="rect">
            <a:avLst/>
          </a:prstGeom>
          <a:noFill/>
          <a:ln/>
        </p:spPr>
        <p:txBody>
          <a:bodyPr wrap="square" rtlCol="0" anchor="ctr"/>
          <a:lstStyle/>
          <a:p>
            <a:pPr indent="0" marL="0">
              <a:buNone/>
            </a:pPr>
            <a:r>
              <a:rPr lang="en-US" sz="1400" b="1" dirty="0">
                <a:solidFill>
                  <a:srgbClr val="0F1F5C"/>
                </a:solidFill>
                <a:latin typeface="Trebuchet MS" pitchFamily="34" charset="0"/>
                <a:ea typeface="Trebuchet MS" pitchFamily="34" charset="-122"/>
                <a:cs typeface="Trebuchet MS" pitchFamily="34" charset="-120"/>
              </a:rPr>
              <a:t>How to Read the Grid</a:t>
            </a:r>
            <a:endParaRPr lang="en-US" sz="1400" dirty="0"/>
          </a:p>
        </p:txBody>
      </p:sp>
      <p:sp>
        <p:nvSpPr>
          <p:cNvPr id="7" name="Text 5"/>
          <p:cNvSpPr/>
          <p:nvPr/>
        </p:nvSpPr>
        <p:spPr>
          <a:xfrm>
            <a:off x="4754880" y="987552"/>
            <a:ext cx="4023360" cy="320040"/>
          </a:xfrm>
          <a:prstGeom prst="rect">
            <a:avLst/>
          </a:prstGeom>
          <a:noFill/>
          <a:ln/>
        </p:spPr>
        <p:txBody>
          <a:bodyPr wrap="square" rtlCol="0" anchor="ctr"/>
          <a:lstStyle/>
          <a:p>
            <a:pPr indent="0" marL="0">
              <a:buNone/>
            </a:pPr>
            <a:r>
              <a:rPr lang="en-US" sz="1400" b="1" dirty="0">
                <a:solidFill>
                  <a:srgbClr val="0F1F5C"/>
                </a:solidFill>
                <a:latin typeface="Trebuchet MS" pitchFamily="34" charset="0"/>
                <a:ea typeface="Trebuchet MS" pitchFamily="34" charset="-122"/>
                <a:cs typeface="Trebuchet MS" pitchFamily="34" charset="-120"/>
              </a:rPr>
              <a:t>Key Quadrants</a:t>
            </a:r>
            <a:endParaRPr lang="en-US" sz="1400" dirty="0"/>
          </a:p>
        </p:txBody>
      </p:sp>
      <p:sp>
        <p:nvSpPr>
          <p:cNvPr id="8" name="Shape 6"/>
          <p:cNvSpPr/>
          <p:nvPr/>
        </p:nvSpPr>
        <p:spPr>
          <a:xfrm>
            <a:off x="4526280" y="960120"/>
            <a:ext cx="36576" cy="3474720"/>
          </a:xfrm>
          <a:prstGeom prst="rect">
            <a:avLst/>
          </a:prstGeom>
          <a:solidFill>
            <a:srgbClr val="CCCCCC"/>
          </a:solidFill>
          <a:ln w="12700">
            <a:solidFill>
              <a:srgbClr val="CCCCCC"/>
            </a:solidFill>
            <a:prstDash val="solid"/>
          </a:ln>
        </p:spPr>
      </p:sp>
      <p:sp>
        <p:nvSpPr>
          <p:cNvPr id="9" name="Text 7"/>
          <p:cNvSpPr/>
          <p:nvPr/>
        </p:nvSpPr>
        <p:spPr>
          <a:xfrm>
            <a:off x="457200" y="1353312"/>
            <a:ext cx="4023360" cy="301752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X-axis: Performance score from the completed review cycle (Low / Med / High)</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Y-axis: Potential rating entered by the manager (Low / Med / High)</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Used for succession planning, bonus allocation, and development planning</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Managers rate potential based on 3 factors: learning speed, ambition, ceiling</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Explain "potential ceiling" carefully — it is about role fit, not personal limits</a:t>
            </a:r>
            <a:endParaRPr lang="en-US" sz="1400" dirty="0"/>
          </a:p>
        </p:txBody>
      </p:sp>
      <p:sp>
        <p:nvSpPr>
          <p:cNvPr id="10" name="Text 8"/>
          <p:cNvSpPr/>
          <p:nvPr/>
        </p:nvSpPr>
        <p:spPr>
          <a:xfrm>
            <a:off x="4754880" y="1353312"/>
            <a:ext cx="4023360" cy="301752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Top-Right ("Stars"): High Performance + High Potential = succession candidates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Middle ("Core Players"): Solid performers — backbone of the organization</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Bottom-Left ("Underperformers"): Needs a performance improvement plan</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BOOST! auto-generates the grid from review data — no manual placement required</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Report is manager-level and above only — not shared with employees directly</a:t>
            </a:r>
            <a:endParaRPr lang="en-US" sz="1400" dirty="0"/>
          </a:p>
        </p:txBody>
      </p:sp>
      <p:sp>
        <p:nvSpPr>
          <p:cNvPr id="11" name="Shape 9"/>
          <p:cNvSpPr/>
          <p:nvPr/>
        </p:nvSpPr>
        <p:spPr>
          <a:xfrm>
            <a:off x="0" y="4887468"/>
            <a:ext cx="9144000" cy="256032"/>
          </a:xfrm>
          <a:prstGeom prst="rect">
            <a:avLst/>
          </a:prstGeom>
          <a:solidFill>
            <a:srgbClr val="0F1F5C"/>
          </a:solidFill>
          <a:ln w="12700">
            <a:solidFill>
              <a:srgbClr val="0F1F5C"/>
            </a:solidFill>
            <a:prstDash val="solid"/>
          </a:ln>
        </p:spPr>
      </p:sp>
      <p:sp>
        <p:nvSpPr>
          <p:cNvPr id="12" name="Text 10"/>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3" name="Text 11"/>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9B1FBF"/>
          </a:solidFill>
          <a:ln w="12700">
            <a:solidFill>
              <a:srgbClr val="9B1FBF"/>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CONFIGURING BOOST!PULSE</a:t>
            </a:r>
            <a:endParaRPr lang="en-US" sz="1400" dirty="0"/>
          </a:p>
        </p:txBody>
      </p:sp>
      <p:sp>
        <p:nvSpPr>
          <p:cNvPr id="5" name="Text 3"/>
          <p:cNvSpPr/>
          <p:nvPr/>
        </p:nvSpPr>
        <p:spPr>
          <a:xfrm>
            <a:off x="457200" y="621792"/>
            <a:ext cx="4114800" cy="347472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Survey library pre-seeded with dimensions based on Gallup Q12 and GPTW research</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Clients can add custom questions but cannot remove research-based dimensions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Anonymity threshold: results only display when a minimum number of responses received (default: 5)</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Survey frequency: weekly pulse (short, 2-3 Qs) or full quarterly survey</a:t>
            </a:r>
            <a:endParaRPr lang="en-US" sz="1400" dirty="0"/>
          </a:p>
        </p:txBody>
      </p:sp>
      <p:sp>
        <p:nvSpPr>
          <p:cNvPr id="6" name="Text 4"/>
          <p:cNvSpPr/>
          <p:nvPr/>
        </p:nvSpPr>
        <p:spPr>
          <a:xfrm>
            <a:off x="4800600" y="621792"/>
            <a:ext cx="4114800" cy="347472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What to say when results don't show: "Responses are anonymized and only display once the minimum threshold is met — this protects employee privacy"</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Manager view: aggregated team results only — no individual responses visible</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Trend analysis: available after 2+ survey cycles for the same dimension</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AI-generated survey questions: research-based, not random — explain this to clients</a:t>
            </a:r>
            <a:endParaRPr lang="en-US" sz="1400" dirty="0"/>
          </a:p>
        </p:txBody>
      </p:sp>
      <p:sp>
        <p:nvSpPr>
          <p:cNvPr id="7" name="Shape 5"/>
          <p:cNvSpPr/>
          <p:nvPr/>
        </p:nvSpPr>
        <p:spPr>
          <a:xfrm>
            <a:off x="365760" y="4160520"/>
            <a:ext cx="8412480" cy="347472"/>
          </a:xfrm>
          <a:prstGeom prst="rect">
            <a:avLst/>
          </a:prstGeom>
          <a:solidFill>
            <a:srgbClr val="F0E8FF"/>
          </a:solidFill>
          <a:ln w="12700">
            <a:solidFill>
              <a:srgbClr val="9B1FBF"/>
            </a:solidFill>
            <a:prstDash val="solid"/>
          </a:ln>
        </p:spPr>
      </p:sp>
      <p:sp>
        <p:nvSpPr>
          <p:cNvPr id="8" name="Text 6"/>
          <p:cNvSpPr/>
          <p:nvPr/>
        </p:nvSpPr>
        <p:spPr>
          <a:xfrm>
            <a:off x="502920" y="4178808"/>
            <a:ext cx="8229600" cy="292608"/>
          </a:xfrm>
          <a:prstGeom prst="rect">
            <a:avLst/>
          </a:prstGeom>
          <a:noFill/>
          <a:ln/>
        </p:spPr>
        <p:txBody>
          <a:bodyPr wrap="square" rtlCol="0" anchor="ctr"/>
          <a:lstStyle/>
          <a:p>
            <a:pPr indent="0" marL="0">
              <a:buNone/>
            </a:pPr>
            <a:r>
              <a:rPr lang="en-US" sz="1200" dirty="0">
                <a:solidFill>
                  <a:srgbClr val="4A0070"/>
                </a:solidFill>
                <a:latin typeface="Calibri" pitchFamily="34" charset="0"/>
                <a:ea typeface="Calibri" pitchFamily="34" charset="-122"/>
                <a:cs typeface="Calibri" pitchFamily="34" charset="-120"/>
              </a:rPr>
              <a:t>When results are hidden: reassure clients this is privacy protection, not a system error. Encourage more participation to reach the threshold.</a:t>
            </a:r>
            <a:endParaRPr lang="en-US" sz="1200" dirty="0"/>
          </a:p>
        </p:txBody>
      </p:sp>
      <p:sp>
        <p:nvSpPr>
          <p:cNvPr id="9" name="Shape 7"/>
          <p:cNvSpPr/>
          <p:nvPr/>
        </p:nvSpPr>
        <p:spPr>
          <a:xfrm>
            <a:off x="0" y="4887468"/>
            <a:ext cx="9144000" cy="256032"/>
          </a:xfrm>
          <a:prstGeom prst="rect">
            <a:avLst/>
          </a:prstGeom>
          <a:solidFill>
            <a:srgbClr val="0F1F5C"/>
          </a:solidFill>
          <a:ln w="12700">
            <a:solidFill>
              <a:srgbClr val="0F1F5C"/>
            </a:solidFill>
            <a:prstDash val="solid"/>
          </a:ln>
        </p:spPr>
      </p:sp>
      <p:sp>
        <p:nvSpPr>
          <p:cNvPr id="10" name="Text 8"/>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1" name="Text 9"/>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0F1F5C"/>
          </a:solidFill>
          <a:ln w="12700">
            <a:solidFill>
              <a:srgbClr val="0F1F5C"/>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CONFIGURING BOOST!LEARN</a:t>
            </a:r>
            <a:endParaRPr lang="en-US" sz="1400" dirty="0"/>
          </a:p>
        </p:txBody>
      </p:sp>
      <p:sp>
        <p:nvSpPr>
          <p:cNvPr id="5" name="Text 3"/>
          <p:cNvSpPr/>
          <p:nvPr/>
        </p:nvSpPr>
        <p:spPr>
          <a:xfrm>
            <a:off x="457200" y="621792"/>
            <a:ext cx="4114800" cy="338328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Course Catalog: BSG-curated courses + client-uploaded content in one library</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Certifiably integration: manage and issue digital credentials/badges ($2/credential add-on)</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TalentLMS integration: for clients with existing TalentLMS accounts — content syncs automatically</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Course assignment: courses can be assigned to individuals, teams, or org-wide</a:t>
            </a:r>
            <a:endParaRPr lang="en-US" sz="1400" dirty="0"/>
          </a:p>
        </p:txBody>
      </p:sp>
      <p:sp>
        <p:nvSpPr>
          <p:cNvPr id="6" name="Text 4"/>
          <p:cNvSpPr/>
          <p:nvPr/>
        </p:nvSpPr>
        <p:spPr>
          <a:xfrm>
            <a:off x="4800600" y="621792"/>
            <a:ext cx="4114800" cy="338328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Training Recommendations: Boost!Perform review gaps auto-generate learning suggestions in Boost!Learn — this is a key selling point</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AI Course Generator: available as $49/mo add-on — clients can describe a topic and AI builds a course outline</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Certifiably status "stub": if Certifiably appears but credentials don't issue, escalate to L2</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Progress tracking: completion rates visible to managers and Tenant Admin</a:t>
            </a:r>
            <a:endParaRPr lang="en-US" sz="1400" dirty="0"/>
          </a:p>
        </p:txBody>
      </p:sp>
      <p:sp>
        <p:nvSpPr>
          <p:cNvPr id="7" name="Shape 5"/>
          <p:cNvSpPr/>
          <p:nvPr/>
        </p:nvSpPr>
        <p:spPr>
          <a:xfrm>
            <a:off x="365760" y="4096512"/>
            <a:ext cx="8412480" cy="411480"/>
          </a:xfrm>
          <a:prstGeom prst="rect">
            <a:avLst/>
          </a:prstGeom>
          <a:solidFill>
            <a:srgbClr val="E8F4FF"/>
          </a:solidFill>
          <a:ln w="12700">
            <a:solidFill>
              <a:srgbClr val="3399CC"/>
            </a:solidFill>
            <a:prstDash val="solid"/>
          </a:ln>
        </p:spPr>
      </p:sp>
      <p:sp>
        <p:nvSpPr>
          <p:cNvPr id="8" name="Text 6"/>
          <p:cNvSpPr/>
          <p:nvPr/>
        </p:nvSpPr>
        <p:spPr>
          <a:xfrm>
            <a:off x="502920" y="4114800"/>
            <a:ext cx="8229600" cy="347472"/>
          </a:xfrm>
          <a:prstGeom prst="rect">
            <a:avLst/>
          </a:prstGeom>
          <a:noFill/>
          <a:ln/>
        </p:spPr>
        <p:txBody>
          <a:bodyPr wrap="square" rtlCol="0" anchor="ctr"/>
          <a:lstStyle/>
          <a:p>
            <a:pPr indent="0" marL="0">
              <a:buNone/>
            </a:pPr>
            <a:r>
              <a:rPr lang="en-US" sz="1200" i="1" dirty="0">
                <a:solidFill>
                  <a:srgbClr val="1A4466"/>
                </a:solidFill>
                <a:latin typeface="Calibri" pitchFamily="34" charset="0"/>
                <a:ea typeface="Calibri" pitchFamily="34" charset="-122"/>
                <a:cs typeface="Calibri" pitchFamily="34" charset="-120"/>
              </a:rPr>
              <a:t>Key cross-module value: "When Boost!Perform identifies a skill gap, Boost!Learn automatically surfaces the right courses. The system works for you."</a:t>
            </a:r>
            <a:endParaRPr lang="en-US" sz="1200" dirty="0"/>
          </a:p>
        </p:txBody>
      </p:sp>
      <p:sp>
        <p:nvSpPr>
          <p:cNvPr id="9" name="Shape 7"/>
          <p:cNvSpPr/>
          <p:nvPr/>
        </p:nvSpPr>
        <p:spPr>
          <a:xfrm>
            <a:off x="0" y="4887468"/>
            <a:ext cx="9144000" cy="256032"/>
          </a:xfrm>
          <a:prstGeom prst="rect">
            <a:avLst/>
          </a:prstGeom>
          <a:solidFill>
            <a:srgbClr val="0F1F5C"/>
          </a:solidFill>
          <a:ln w="12700">
            <a:solidFill>
              <a:srgbClr val="0F1F5C"/>
            </a:solidFill>
            <a:prstDash val="solid"/>
          </a:ln>
        </p:spPr>
      </p:sp>
      <p:sp>
        <p:nvSpPr>
          <p:cNvPr id="10" name="Text 8"/>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1" name="Text 9"/>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E8437A"/>
          </a:solidFill>
          <a:ln w="12700">
            <a:solidFill>
              <a:srgbClr val="E8437A"/>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TROUBLESHOOTING — TOP 10 ISSUES</a:t>
            </a:r>
            <a:endParaRPr lang="en-US" sz="1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274320" y="576072"/>
          <a:ext cx="6858000" cy="914400"/>
        </p:xfrm>
        <a:graphic>
          <a:graphicData uri="http://schemas.openxmlformats.org/drawingml/2006/table">
            <a:tbl>
              <a:tblPr/>
              <a:tblGrid>
                <a:gridCol w="1737360"/>
                <a:gridCol w="2560320"/>
                <a:gridCol w="374904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Issue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Likely Cause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Resolution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r>
              <a:tr h="329184">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Login failure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Wrong email or expired link</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Resend magic link / reset password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Data not showing</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Config incomplete or wrong tenant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Check module setup checklist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329184">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AI odd response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Insufficient org context data</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Add NAICS, org docs, review data</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Survey results hidden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Below anonymity threshold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Encourage more submissions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329184">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Review won't submit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Missing required field or ratings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Check all required fields are filled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PDF won't download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Browser blocker or pop-up block</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Try different browser, disable pop-up block</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329184">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Bonus calc wrong</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Review cycle not finalized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Confirm cycle is closed/completed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Certifiably stub</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Integration not activated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Escalate to L2 — BSG Admin + Jackie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329184">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Export issue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Large dataset timeout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Export smaller date range or contact L2</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Billing discrepancy</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Stripe webhook delay or discount error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Check Stripe dashboard, escalate to Admin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bl>
          </a:graphicData>
        </a:graphic>
      </p:graphicFrame>
      <p:sp>
        <p:nvSpPr>
          <p:cNvPr id="6" name="Shape 3"/>
          <p:cNvSpPr/>
          <p:nvPr/>
        </p:nvSpPr>
        <p:spPr>
          <a:xfrm>
            <a:off x="0" y="4887468"/>
            <a:ext cx="9144000" cy="256032"/>
          </a:xfrm>
          <a:prstGeom prst="rect">
            <a:avLst/>
          </a:prstGeom>
          <a:solidFill>
            <a:srgbClr val="0F1F5C"/>
          </a:solidFill>
          <a:ln w="12700">
            <a:solidFill>
              <a:srgbClr val="0F1F5C"/>
            </a:solidFill>
            <a:prstDash val="solid"/>
          </a:ln>
        </p:spPr>
      </p:sp>
      <p:sp>
        <p:nvSpPr>
          <p:cNvPr id="7" name="Text 4"/>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8" name="Text 5"/>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E8437A"/>
          </a:solidFill>
          <a:ln w="12700">
            <a:solidFill>
              <a:srgbClr val="E8437A"/>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ESCALATION PATH</a:t>
            </a:r>
            <a:endParaRPr lang="en-US" sz="1400" dirty="0"/>
          </a:p>
        </p:txBody>
      </p:sp>
      <p:sp>
        <p:nvSpPr>
          <p:cNvPr id="5" name="Shape 3"/>
          <p:cNvSpPr/>
          <p:nvPr/>
        </p:nvSpPr>
        <p:spPr>
          <a:xfrm>
            <a:off x="365760" y="621792"/>
            <a:ext cx="8412480" cy="1188720"/>
          </a:xfrm>
          <a:prstGeom prst="rect">
            <a:avLst/>
          </a:prstGeom>
          <a:solidFill>
            <a:srgbClr val="F8F9FD"/>
          </a:solidFill>
          <a:ln w="12700">
            <a:solidFill>
              <a:srgbClr val="CCCCCC"/>
            </a:solidFill>
            <a:prstDash val="solid"/>
          </a:ln>
        </p:spPr>
      </p:sp>
      <p:sp>
        <p:nvSpPr>
          <p:cNvPr id="6" name="Shape 4"/>
          <p:cNvSpPr/>
          <p:nvPr/>
        </p:nvSpPr>
        <p:spPr>
          <a:xfrm>
            <a:off x="365760" y="621792"/>
            <a:ext cx="914400" cy="1188720"/>
          </a:xfrm>
          <a:prstGeom prst="rect">
            <a:avLst/>
          </a:prstGeom>
          <a:solidFill>
            <a:srgbClr val="E8437A"/>
          </a:solidFill>
          <a:ln w="12700">
            <a:solidFill>
              <a:srgbClr val="E8437A"/>
            </a:solidFill>
            <a:prstDash val="solid"/>
          </a:ln>
        </p:spPr>
      </p:sp>
      <p:sp>
        <p:nvSpPr>
          <p:cNvPr id="7" name="Text 5"/>
          <p:cNvSpPr/>
          <p:nvPr/>
        </p:nvSpPr>
        <p:spPr>
          <a:xfrm>
            <a:off x="365760" y="621792"/>
            <a:ext cx="914400" cy="548640"/>
          </a:xfrm>
          <a:prstGeom prst="rect">
            <a:avLst/>
          </a:prstGeom>
          <a:noFill/>
          <a:ln/>
        </p:spPr>
        <p:txBody>
          <a:bodyPr wrap="square"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L1</a:t>
            </a:r>
            <a:endParaRPr lang="en-US" sz="2400" dirty="0"/>
          </a:p>
        </p:txBody>
      </p:sp>
      <p:sp>
        <p:nvSpPr>
          <p:cNvPr id="8" name="Text 6"/>
          <p:cNvSpPr/>
          <p:nvPr/>
        </p:nvSpPr>
        <p:spPr>
          <a:xfrm>
            <a:off x="365760" y="1033272"/>
            <a:ext cx="914400" cy="50292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Tech Support</a:t>
            </a:r>
            <a:endParaRPr lang="en-US" sz="900" dirty="0"/>
          </a:p>
        </p:txBody>
      </p:sp>
      <p:sp>
        <p:nvSpPr>
          <p:cNvPr id="9" name="Text 7"/>
          <p:cNvSpPr/>
          <p:nvPr/>
        </p:nvSpPr>
        <p:spPr>
          <a:xfrm>
            <a:off x="1417320" y="658368"/>
            <a:ext cx="7223760" cy="365760"/>
          </a:xfrm>
          <a:prstGeom prst="rect">
            <a:avLst/>
          </a:prstGeom>
          <a:noFill/>
          <a:ln/>
        </p:spPr>
        <p:txBody>
          <a:bodyPr wrap="square" rtlCol="0" anchor="ctr"/>
          <a:lstStyle/>
          <a:p>
            <a:pPr indent="0" marL="0">
              <a:buNone/>
            </a:pPr>
            <a:r>
              <a:rPr lang="en-US" sz="1500" b="1" dirty="0">
                <a:solidFill>
                  <a:srgbClr val="E8437A"/>
                </a:solidFill>
                <a:latin typeface="Trebuchet MS" pitchFamily="34" charset="0"/>
                <a:ea typeface="Trebuchet MS" pitchFamily="34" charset="-122"/>
                <a:cs typeface="Trebuchet MS" pitchFamily="34" charset="-120"/>
              </a:rPr>
              <a:t>Tech Support</a:t>
            </a:r>
            <a:endParaRPr lang="en-US" sz="1500" dirty="0"/>
          </a:p>
        </p:txBody>
      </p:sp>
      <p:sp>
        <p:nvSpPr>
          <p:cNvPr id="10" name="Text 8"/>
          <p:cNvSpPr/>
          <p:nvPr/>
        </p:nvSpPr>
        <p:spPr>
          <a:xfrm>
            <a:off x="1417320" y="1024128"/>
            <a:ext cx="7223760" cy="685800"/>
          </a:xfrm>
          <a:prstGeom prst="rect">
            <a:avLst/>
          </a:prstGeom>
          <a:noFill/>
          <a:ln/>
        </p:spPr>
        <p:txBody>
          <a:bodyPr wrap="square" rtlCol="0" anchor="t"/>
          <a:lstStyle/>
          <a:p>
            <a:pPr indent="0" marL="0">
              <a:buNone/>
            </a:pPr>
            <a:r>
              <a:rPr lang="en-US" sz="1300" dirty="0">
                <a:solidFill>
                  <a:srgbClr val="1E1E3A"/>
                </a:solidFill>
                <a:latin typeface="Calibri" pitchFamily="34" charset="0"/>
                <a:ea typeface="Calibri" pitchFamily="34" charset="-122"/>
                <a:cs typeface="Calibri" pitchFamily="34" charset="-120"/>
              </a:rPr>
              <a:t>Login issues, UI navigation, module configuration, onboarding walkthroughs, basic troubleshooting from Top 10 list</a:t>
            </a:r>
            <a:endParaRPr lang="en-US" sz="1300" dirty="0"/>
          </a:p>
        </p:txBody>
      </p:sp>
      <p:sp>
        <p:nvSpPr>
          <p:cNvPr id="11" name="Shape 9"/>
          <p:cNvSpPr/>
          <p:nvPr/>
        </p:nvSpPr>
        <p:spPr>
          <a:xfrm>
            <a:off x="365760" y="1920240"/>
            <a:ext cx="8412480" cy="1188720"/>
          </a:xfrm>
          <a:prstGeom prst="rect">
            <a:avLst/>
          </a:prstGeom>
          <a:solidFill>
            <a:srgbClr val="F8F9FD"/>
          </a:solidFill>
          <a:ln w="12700">
            <a:solidFill>
              <a:srgbClr val="CCCCCC"/>
            </a:solidFill>
            <a:prstDash val="solid"/>
          </a:ln>
        </p:spPr>
      </p:sp>
      <p:sp>
        <p:nvSpPr>
          <p:cNvPr id="12" name="Shape 10"/>
          <p:cNvSpPr/>
          <p:nvPr/>
        </p:nvSpPr>
        <p:spPr>
          <a:xfrm>
            <a:off x="365760" y="1920240"/>
            <a:ext cx="914400" cy="1188720"/>
          </a:xfrm>
          <a:prstGeom prst="rect">
            <a:avLst/>
          </a:prstGeom>
          <a:solidFill>
            <a:srgbClr val="F7941D"/>
          </a:solidFill>
          <a:ln w="12700">
            <a:solidFill>
              <a:srgbClr val="F7941D"/>
            </a:solidFill>
            <a:prstDash val="solid"/>
          </a:ln>
        </p:spPr>
      </p:sp>
      <p:sp>
        <p:nvSpPr>
          <p:cNvPr id="13" name="Text 11"/>
          <p:cNvSpPr/>
          <p:nvPr/>
        </p:nvSpPr>
        <p:spPr>
          <a:xfrm>
            <a:off x="365760" y="1920240"/>
            <a:ext cx="914400" cy="548640"/>
          </a:xfrm>
          <a:prstGeom prst="rect">
            <a:avLst/>
          </a:prstGeom>
          <a:noFill/>
          <a:ln/>
        </p:spPr>
        <p:txBody>
          <a:bodyPr wrap="square"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L2</a:t>
            </a:r>
            <a:endParaRPr lang="en-US" sz="2400" dirty="0"/>
          </a:p>
        </p:txBody>
      </p:sp>
      <p:sp>
        <p:nvSpPr>
          <p:cNvPr id="14" name="Text 12"/>
          <p:cNvSpPr/>
          <p:nvPr/>
        </p:nvSpPr>
        <p:spPr>
          <a:xfrm>
            <a:off x="365760" y="2331720"/>
            <a:ext cx="914400" cy="50292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BSG Admin + Jackie Taylor</a:t>
            </a:r>
            <a:endParaRPr lang="en-US" sz="900" dirty="0"/>
          </a:p>
        </p:txBody>
      </p:sp>
      <p:sp>
        <p:nvSpPr>
          <p:cNvPr id="15" name="Text 13"/>
          <p:cNvSpPr/>
          <p:nvPr/>
        </p:nvSpPr>
        <p:spPr>
          <a:xfrm>
            <a:off x="1417320" y="1956816"/>
            <a:ext cx="7223760" cy="365760"/>
          </a:xfrm>
          <a:prstGeom prst="rect">
            <a:avLst/>
          </a:prstGeom>
          <a:noFill/>
          <a:ln/>
        </p:spPr>
        <p:txBody>
          <a:bodyPr wrap="square" rtlCol="0" anchor="ctr"/>
          <a:lstStyle/>
          <a:p>
            <a:pPr indent="0" marL="0">
              <a:buNone/>
            </a:pPr>
            <a:r>
              <a:rPr lang="en-US" sz="1500" b="1" dirty="0">
                <a:solidFill>
                  <a:srgbClr val="F7941D"/>
                </a:solidFill>
                <a:latin typeface="Trebuchet MS" pitchFamily="34" charset="0"/>
                <a:ea typeface="Trebuchet MS" pitchFamily="34" charset="-122"/>
                <a:cs typeface="Trebuchet MS" pitchFamily="34" charset="-120"/>
              </a:rPr>
              <a:t>BSG Admin + Jackie Taylor</a:t>
            </a:r>
            <a:endParaRPr lang="en-US" sz="1500" dirty="0"/>
          </a:p>
        </p:txBody>
      </p:sp>
      <p:sp>
        <p:nvSpPr>
          <p:cNvPr id="16" name="Text 14"/>
          <p:cNvSpPr/>
          <p:nvPr/>
        </p:nvSpPr>
        <p:spPr>
          <a:xfrm>
            <a:off x="1417320" y="2322576"/>
            <a:ext cx="7223760" cy="685800"/>
          </a:xfrm>
          <a:prstGeom prst="rect">
            <a:avLst/>
          </a:prstGeom>
          <a:noFill/>
          <a:ln/>
        </p:spPr>
        <p:txBody>
          <a:bodyPr wrap="square" rtlCol="0" anchor="t"/>
          <a:lstStyle/>
          <a:p>
            <a:pPr indent="0" marL="0">
              <a:buNone/>
            </a:pPr>
            <a:r>
              <a:rPr lang="en-US" sz="1300" dirty="0">
                <a:solidFill>
                  <a:srgbClr val="1E1E3A"/>
                </a:solidFill>
                <a:latin typeface="Calibri" pitchFamily="34" charset="0"/>
                <a:ea typeface="Calibri" pitchFamily="34" charset="-122"/>
                <a:cs typeface="Calibri" pitchFamily="34" charset="-120"/>
              </a:rPr>
              <a:t>RLS or data isolation concerns, billing / Stripe issues, AI behavior anomalies, escalated client complaints, founding client discount application</a:t>
            </a:r>
            <a:endParaRPr lang="en-US" sz="1300" dirty="0"/>
          </a:p>
        </p:txBody>
      </p:sp>
      <p:sp>
        <p:nvSpPr>
          <p:cNvPr id="17" name="Shape 15"/>
          <p:cNvSpPr/>
          <p:nvPr/>
        </p:nvSpPr>
        <p:spPr>
          <a:xfrm>
            <a:off x="365760" y="3218688"/>
            <a:ext cx="8412480" cy="1188720"/>
          </a:xfrm>
          <a:prstGeom prst="rect">
            <a:avLst/>
          </a:prstGeom>
          <a:solidFill>
            <a:srgbClr val="F8F9FD"/>
          </a:solidFill>
          <a:ln w="12700">
            <a:solidFill>
              <a:srgbClr val="CCCCCC"/>
            </a:solidFill>
            <a:prstDash val="solid"/>
          </a:ln>
        </p:spPr>
      </p:sp>
      <p:sp>
        <p:nvSpPr>
          <p:cNvPr id="18" name="Shape 16"/>
          <p:cNvSpPr/>
          <p:nvPr/>
        </p:nvSpPr>
        <p:spPr>
          <a:xfrm>
            <a:off x="365760" y="3218688"/>
            <a:ext cx="914400" cy="1188720"/>
          </a:xfrm>
          <a:prstGeom prst="rect">
            <a:avLst/>
          </a:prstGeom>
          <a:solidFill>
            <a:srgbClr val="0F1F5C"/>
          </a:solidFill>
          <a:ln w="12700">
            <a:solidFill>
              <a:srgbClr val="0F1F5C"/>
            </a:solidFill>
            <a:prstDash val="solid"/>
          </a:ln>
        </p:spPr>
      </p:sp>
      <p:sp>
        <p:nvSpPr>
          <p:cNvPr id="19" name="Text 17"/>
          <p:cNvSpPr/>
          <p:nvPr/>
        </p:nvSpPr>
        <p:spPr>
          <a:xfrm>
            <a:off x="365760" y="3218688"/>
            <a:ext cx="914400" cy="548640"/>
          </a:xfrm>
          <a:prstGeom prst="rect">
            <a:avLst/>
          </a:prstGeom>
          <a:noFill/>
          <a:ln/>
        </p:spPr>
        <p:txBody>
          <a:bodyPr wrap="square"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L3</a:t>
            </a:r>
            <a:endParaRPr lang="en-US" sz="2400" dirty="0"/>
          </a:p>
        </p:txBody>
      </p:sp>
      <p:sp>
        <p:nvSpPr>
          <p:cNvPr id="20" name="Text 18"/>
          <p:cNvSpPr/>
          <p:nvPr/>
        </p:nvSpPr>
        <p:spPr>
          <a:xfrm>
            <a:off x="365760" y="3630168"/>
            <a:ext cx="914400" cy="50292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Lovable Developer</a:t>
            </a:r>
            <a:endParaRPr lang="en-US" sz="900" dirty="0"/>
          </a:p>
        </p:txBody>
      </p:sp>
      <p:sp>
        <p:nvSpPr>
          <p:cNvPr id="21" name="Text 19"/>
          <p:cNvSpPr/>
          <p:nvPr/>
        </p:nvSpPr>
        <p:spPr>
          <a:xfrm>
            <a:off x="1417320" y="3255264"/>
            <a:ext cx="7223760" cy="365760"/>
          </a:xfrm>
          <a:prstGeom prst="rect">
            <a:avLst/>
          </a:prstGeom>
          <a:noFill/>
          <a:ln/>
        </p:spPr>
        <p:txBody>
          <a:bodyPr wrap="square" rtlCol="0" anchor="ctr"/>
          <a:lstStyle/>
          <a:p>
            <a:pPr indent="0" marL="0">
              <a:buNone/>
            </a:pPr>
            <a:r>
              <a:rPr lang="en-US" sz="1500" b="1" dirty="0">
                <a:solidFill>
                  <a:srgbClr val="0F1F5C"/>
                </a:solidFill>
                <a:latin typeface="Trebuchet MS" pitchFamily="34" charset="0"/>
                <a:ea typeface="Trebuchet MS" pitchFamily="34" charset="-122"/>
                <a:cs typeface="Trebuchet MS" pitchFamily="34" charset="-120"/>
              </a:rPr>
              <a:t>Lovable Developer</a:t>
            </a:r>
            <a:endParaRPr lang="en-US" sz="1500" dirty="0"/>
          </a:p>
        </p:txBody>
      </p:sp>
      <p:sp>
        <p:nvSpPr>
          <p:cNvPr id="22" name="Text 20"/>
          <p:cNvSpPr/>
          <p:nvPr/>
        </p:nvSpPr>
        <p:spPr>
          <a:xfrm>
            <a:off x="1417320" y="3621024"/>
            <a:ext cx="7223760" cy="685800"/>
          </a:xfrm>
          <a:prstGeom prst="rect">
            <a:avLst/>
          </a:prstGeom>
          <a:noFill/>
          <a:ln/>
        </p:spPr>
        <p:txBody>
          <a:bodyPr wrap="square" rtlCol="0" anchor="t"/>
          <a:lstStyle/>
          <a:p>
            <a:pPr indent="0" marL="0">
              <a:buNone/>
            </a:pPr>
            <a:r>
              <a:rPr lang="en-US" sz="1300" dirty="0">
                <a:solidFill>
                  <a:srgbClr val="1E1E3A"/>
                </a:solidFill>
                <a:latin typeface="Calibri" pitchFamily="34" charset="0"/>
                <a:ea typeface="Calibri" pitchFamily="34" charset="-122"/>
                <a:cs typeface="Calibri" pitchFamily="34" charset="-120"/>
              </a:rPr>
              <a:t>Confirmed software bugs, database errors, API failures, platform downtime, security incidents — never promise a fix timeline without developer confirmation</a:t>
            </a:r>
            <a:endParaRPr lang="en-US" sz="1300" dirty="0"/>
          </a:p>
        </p:txBody>
      </p:sp>
      <p:sp>
        <p:nvSpPr>
          <p:cNvPr id="23" name="Shape 21"/>
          <p:cNvSpPr/>
          <p:nvPr/>
        </p:nvSpPr>
        <p:spPr>
          <a:xfrm>
            <a:off x="365760" y="4553712"/>
            <a:ext cx="8412480" cy="347472"/>
          </a:xfrm>
          <a:prstGeom prst="rect">
            <a:avLst/>
          </a:prstGeom>
          <a:solidFill>
            <a:srgbClr val="FFEEEE"/>
          </a:solidFill>
          <a:ln w="12700">
            <a:solidFill>
              <a:srgbClr val="CC0000"/>
            </a:solidFill>
            <a:prstDash val="solid"/>
          </a:ln>
        </p:spPr>
      </p:sp>
      <p:sp>
        <p:nvSpPr>
          <p:cNvPr id="24" name="Text 22"/>
          <p:cNvSpPr/>
          <p:nvPr/>
        </p:nvSpPr>
        <p:spPr>
          <a:xfrm>
            <a:off x="502920" y="4572000"/>
            <a:ext cx="8229600" cy="292608"/>
          </a:xfrm>
          <a:prstGeom prst="rect">
            <a:avLst/>
          </a:prstGeom>
          <a:noFill/>
          <a:ln/>
        </p:spPr>
        <p:txBody>
          <a:bodyPr wrap="square" rtlCol="0" anchor="ctr"/>
          <a:lstStyle/>
          <a:p>
            <a:pPr indent="0" marL="0">
              <a:buNone/>
            </a:pPr>
            <a:r>
              <a:rPr lang="en-US" sz="1200" b="1" dirty="0">
                <a:solidFill>
                  <a:srgbClr val="8B0000"/>
                </a:solidFill>
                <a:latin typeface="Calibri" pitchFamily="34" charset="0"/>
                <a:ea typeface="Calibri" pitchFamily="34" charset="-122"/>
                <a:cs typeface="Calibri" pitchFamily="34" charset="-120"/>
              </a:rPr>
              <a:t>NEVER promise a bug fix timeline without first confirming with the Lovable Developer.</a:t>
            </a:r>
            <a:endParaRPr lang="en-US" sz="1200" dirty="0"/>
          </a:p>
        </p:txBody>
      </p:sp>
      <p:sp>
        <p:nvSpPr>
          <p:cNvPr id="25" name="Shape 23"/>
          <p:cNvSpPr/>
          <p:nvPr/>
        </p:nvSpPr>
        <p:spPr>
          <a:xfrm>
            <a:off x="0" y="4887468"/>
            <a:ext cx="9144000" cy="256032"/>
          </a:xfrm>
          <a:prstGeom prst="rect">
            <a:avLst/>
          </a:prstGeom>
          <a:solidFill>
            <a:srgbClr val="0F1F5C"/>
          </a:solidFill>
          <a:ln w="12700">
            <a:solidFill>
              <a:srgbClr val="0F1F5C"/>
            </a:solidFill>
            <a:prstDash val="solid"/>
          </a:ln>
        </p:spPr>
      </p:sp>
      <p:sp>
        <p:nvSpPr>
          <p:cNvPr id="26" name="Text 24"/>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27" name="Text 25"/>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E8437A"/>
          </a:solidFill>
          <a:ln w="12700">
            <a:solidFill>
              <a:srgbClr val="E8437A"/>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AI FEATURES — WHAT TO TELL CLIENTS</a:t>
            </a:r>
            <a:endParaRPr lang="en-US" sz="1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274320" y="594360"/>
          <a:ext cx="6858000" cy="914400"/>
        </p:xfrm>
        <a:graphic>
          <a:graphicData uri="http://schemas.openxmlformats.org/drawingml/2006/table">
            <a:tbl>
              <a:tblPr/>
              <a:tblGrid>
                <a:gridCol w="1737360"/>
                <a:gridCol w="1554480"/>
                <a:gridCol w="4572000"/>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AI Feature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Who Uses It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to Tell Clients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r>
              <a:tr h="548640">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Conversation Coach</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Managers only</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Generates prep talking points for review conversations. Manager use only — never share output with employees.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48640">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Goal/Target Coach</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Employees (beta)</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Helps employees draft strong targets. Beta feature — toggleable per tenant if client prefers to disable.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548640">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Survey Questions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System-generated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Based on Gallup and GPTW research. Validated dimensions — not random AI output.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48640">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JD Generator (Roles)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Tenant Admin / HR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Produces a starting-point job description. Client reviews and edits before publishing.</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548640">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BSG Aggregate AI</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Jackie Taylor only</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Anonymized cross-tenant insights for BSG strategy. Clients cannot see other orgs' data.</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Shape 3"/>
          <p:cNvSpPr/>
          <p:nvPr/>
        </p:nvSpPr>
        <p:spPr>
          <a:xfrm>
            <a:off x="0" y="4887468"/>
            <a:ext cx="9144000" cy="256032"/>
          </a:xfrm>
          <a:prstGeom prst="rect">
            <a:avLst/>
          </a:prstGeom>
          <a:solidFill>
            <a:srgbClr val="0F1F5C"/>
          </a:solidFill>
          <a:ln w="12700">
            <a:solidFill>
              <a:srgbClr val="0F1F5C"/>
            </a:solidFill>
            <a:prstDash val="solid"/>
          </a:ln>
        </p:spPr>
      </p:sp>
      <p:sp>
        <p:nvSpPr>
          <p:cNvPr id="7" name="Text 4"/>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8" name="Text 5"/>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E8437A"/>
          </a:solidFill>
          <a:ln w="12700">
            <a:solidFill>
              <a:srgbClr val="E8437A"/>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DATA PRIVACY FAQ — ANSWERS FOR CLIENTS</a:t>
            </a:r>
            <a:endParaRPr lang="en-US" sz="1400" dirty="0"/>
          </a:p>
        </p:txBody>
      </p:sp>
      <p:sp>
        <p:nvSpPr>
          <p:cNvPr id="5" name="Shape 3"/>
          <p:cNvSpPr/>
          <p:nvPr/>
        </p:nvSpPr>
        <p:spPr>
          <a:xfrm>
            <a:off x="365760" y="594360"/>
            <a:ext cx="8412480" cy="1298448"/>
          </a:xfrm>
          <a:prstGeom prst="rect">
            <a:avLst/>
          </a:prstGeom>
          <a:solidFill>
            <a:srgbClr val="F8F9FD"/>
          </a:solidFill>
          <a:ln w="12700">
            <a:solidFill>
              <a:srgbClr val="CCCCCC"/>
            </a:solidFill>
            <a:prstDash val="solid"/>
          </a:ln>
        </p:spPr>
      </p:sp>
      <p:sp>
        <p:nvSpPr>
          <p:cNvPr id="6" name="Text 4"/>
          <p:cNvSpPr/>
          <p:nvPr/>
        </p:nvSpPr>
        <p:spPr>
          <a:xfrm>
            <a:off x="502920" y="640080"/>
            <a:ext cx="8229600" cy="347472"/>
          </a:xfrm>
          <a:prstGeom prst="rect">
            <a:avLst/>
          </a:prstGeom>
          <a:noFill/>
          <a:ln/>
        </p:spPr>
        <p:txBody>
          <a:bodyPr wrap="square" rtlCol="0" anchor="ctr"/>
          <a:lstStyle/>
          <a:p>
            <a:pPr indent="0" marL="0">
              <a:buNone/>
            </a:pPr>
            <a:r>
              <a:rPr lang="en-US" sz="1400" b="1" dirty="0">
                <a:solidFill>
                  <a:srgbClr val="0F1F5C"/>
                </a:solidFill>
                <a:latin typeface="Trebuchet MS" pitchFamily="34" charset="0"/>
                <a:ea typeface="Trebuchet MS" pitchFamily="34" charset="-122"/>
                <a:cs typeface="Trebuchet MS" pitchFamily="34" charset="-120"/>
              </a:rPr>
              <a:t>Q: Can BOOST! (BSG) see our data?</a:t>
            </a:r>
            <a:endParaRPr lang="en-US" sz="1400" dirty="0"/>
          </a:p>
        </p:txBody>
      </p:sp>
      <p:sp>
        <p:nvSpPr>
          <p:cNvPr id="7" name="Text 5"/>
          <p:cNvSpPr/>
          <p:nvPr/>
        </p:nvSpPr>
        <p:spPr>
          <a:xfrm>
            <a:off x="502920" y="1005840"/>
            <a:ext cx="8229600" cy="822960"/>
          </a:xfrm>
          <a:prstGeom prst="rect">
            <a:avLst/>
          </a:prstGeom>
          <a:noFill/>
          <a:ln/>
        </p:spPr>
        <p:txBody>
          <a:bodyPr wrap="square" rtlCol="0" anchor="t"/>
          <a:lstStyle/>
          <a:p>
            <a:pPr indent="0" marL="0">
              <a:buNone/>
            </a:pPr>
            <a:r>
              <a:rPr lang="en-US" sz="1300" dirty="0">
                <a:solidFill>
                  <a:srgbClr val="1E1E3A"/>
                </a:solidFill>
                <a:latin typeface="Calibri" pitchFamily="34" charset="0"/>
                <a:ea typeface="Calibri" pitchFamily="34" charset="-122"/>
                <a:cs typeface="Calibri" pitchFamily="34" charset="-120"/>
              </a:rPr>
              <a:t>BSG Admins can view client data on your behalf for support and configuration purposes. Every access is logged in the audit trail with the BSG Admin's name and timestamp. You can review this log at any time.</a:t>
            </a:r>
            <a:endParaRPr lang="en-US" sz="1300" dirty="0"/>
          </a:p>
        </p:txBody>
      </p:sp>
      <p:sp>
        <p:nvSpPr>
          <p:cNvPr id="8" name="Shape 6"/>
          <p:cNvSpPr/>
          <p:nvPr/>
        </p:nvSpPr>
        <p:spPr>
          <a:xfrm>
            <a:off x="365760" y="2011680"/>
            <a:ext cx="8412480" cy="1298448"/>
          </a:xfrm>
          <a:prstGeom prst="rect">
            <a:avLst/>
          </a:prstGeom>
          <a:solidFill>
            <a:srgbClr val="FFFFFF"/>
          </a:solidFill>
          <a:ln w="12700">
            <a:solidFill>
              <a:srgbClr val="CCCCCC"/>
            </a:solidFill>
            <a:prstDash val="solid"/>
          </a:ln>
        </p:spPr>
      </p:sp>
      <p:sp>
        <p:nvSpPr>
          <p:cNvPr id="9" name="Text 7"/>
          <p:cNvSpPr/>
          <p:nvPr/>
        </p:nvSpPr>
        <p:spPr>
          <a:xfrm>
            <a:off x="502920" y="2057400"/>
            <a:ext cx="8229600" cy="347472"/>
          </a:xfrm>
          <a:prstGeom prst="rect">
            <a:avLst/>
          </a:prstGeom>
          <a:noFill/>
          <a:ln/>
        </p:spPr>
        <p:txBody>
          <a:bodyPr wrap="square" rtlCol="0" anchor="ctr"/>
          <a:lstStyle/>
          <a:p>
            <a:pPr indent="0" marL="0">
              <a:buNone/>
            </a:pPr>
            <a:r>
              <a:rPr lang="en-US" sz="1400" b="1" dirty="0">
                <a:solidFill>
                  <a:srgbClr val="0F1F5C"/>
                </a:solidFill>
                <a:latin typeface="Trebuchet MS" pitchFamily="34" charset="0"/>
                <a:ea typeface="Trebuchet MS" pitchFamily="34" charset="-122"/>
                <a:cs typeface="Trebuchet MS" pitchFamily="34" charset="-120"/>
              </a:rPr>
              <a:t>Q: Is our data shared with other companies?</a:t>
            </a:r>
            <a:endParaRPr lang="en-US" sz="1400" dirty="0"/>
          </a:p>
        </p:txBody>
      </p:sp>
      <p:sp>
        <p:nvSpPr>
          <p:cNvPr id="10" name="Text 8"/>
          <p:cNvSpPr/>
          <p:nvPr/>
        </p:nvSpPr>
        <p:spPr>
          <a:xfrm>
            <a:off x="502920" y="2423160"/>
            <a:ext cx="8229600" cy="822960"/>
          </a:xfrm>
          <a:prstGeom prst="rect">
            <a:avLst/>
          </a:prstGeom>
          <a:noFill/>
          <a:ln/>
        </p:spPr>
        <p:txBody>
          <a:bodyPr wrap="square" rtlCol="0" anchor="t"/>
          <a:lstStyle/>
          <a:p>
            <a:pPr indent="0" marL="0">
              <a:buNone/>
            </a:pPr>
            <a:r>
              <a:rPr lang="en-US" sz="1300" dirty="0">
                <a:solidFill>
                  <a:srgbClr val="1E1E3A"/>
                </a:solidFill>
                <a:latin typeface="Calibri" pitchFamily="34" charset="0"/>
                <a:ea typeface="Calibri" pitchFamily="34" charset="-122"/>
                <a:cs typeface="Calibri" pitchFamily="34" charset="-120"/>
              </a:rPr>
              <a:t>No. Row-Level Security ensures your data is fully isolated. No other BOOST! client can access your information. AI features are also scoped to your tenant only.</a:t>
            </a:r>
            <a:endParaRPr lang="en-US" sz="1300" dirty="0"/>
          </a:p>
        </p:txBody>
      </p:sp>
      <p:sp>
        <p:nvSpPr>
          <p:cNvPr id="11" name="Shape 9"/>
          <p:cNvSpPr/>
          <p:nvPr/>
        </p:nvSpPr>
        <p:spPr>
          <a:xfrm>
            <a:off x="365760" y="3429000"/>
            <a:ext cx="8412480" cy="1298448"/>
          </a:xfrm>
          <a:prstGeom prst="rect">
            <a:avLst/>
          </a:prstGeom>
          <a:solidFill>
            <a:srgbClr val="F8F9FD"/>
          </a:solidFill>
          <a:ln w="12700">
            <a:solidFill>
              <a:srgbClr val="CCCCCC"/>
            </a:solidFill>
            <a:prstDash val="solid"/>
          </a:ln>
        </p:spPr>
      </p:sp>
      <p:sp>
        <p:nvSpPr>
          <p:cNvPr id="12" name="Text 10"/>
          <p:cNvSpPr/>
          <p:nvPr/>
        </p:nvSpPr>
        <p:spPr>
          <a:xfrm>
            <a:off x="502920" y="3474720"/>
            <a:ext cx="8229600" cy="347472"/>
          </a:xfrm>
          <a:prstGeom prst="rect">
            <a:avLst/>
          </a:prstGeom>
          <a:noFill/>
          <a:ln/>
        </p:spPr>
        <p:txBody>
          <a:bodyPr wrap="square" rtlCol="0" anchor="ctr"/>
          <a:lstStyle/>
          <a:p>
            <a:pPr indent="0" marL="0">
              <a:buNone/>
            </a:pPr>
            <a:r>
              <a:rPr lang="en-US" sz="1400" b="1" dirty="0">
                <a:solidFill>
                  <a:srgbClr val="0F1F5C"/>
                </a:solidFill>
                <a:latin typeface="Trebuchet MS" pitchFamily="34" charset="0"/>
                <a:ea typeface="Trebuchet MS" pitchFamily="34" charset="-122"/>
                <a:cs typeface="Trebuchet MS" pitchFamily="34" charset="-120"/>
              </a:rPr>
              <a:t>Q: What happens to our data if we cancel?</a:t>
            </a:r>
            <a:endParaRPr lang="en-US" sz="1400" dirty="0"/>
          </a:p>
        </p:txBody>
      </p:sp>
      <p:sp>
        <p:nvSpPr>
          <p:cNvPr id="13" name="Text 11"/>
          <p:cNvSpPr/>
          <p:nvPr/>
        </p:nvSpPr>
        <p:spPr>
          <a:xfrm>
            <a:off x="502920" y="3840480"/>
            <a:ext cx="8229600" cy="822960"/>
          </a:xfrm>
          <a:prstGeom prst="rect">
            <a:avLst/>
          </a:prstGeom>
          <a:noFill/>
          <a:ln/>
        </p:spPr>
        <p:txBody>
          <a:bodyPr wrap="square" rtlCol="0" anchor="t"/>
          <a:lstStyle/>
          <a:p>
            <a:pPr indent="0" marL="0">
              <a:buNone/>
            </a:pPr>
            <a:r>
              <a:rPr lang="en-US" sz="1300" dirty="0">
                <a:solidFill>
                  <a:srgbClr val="1E1E3A"/>
                </a:solidFill>
                <a:latin typeface="Calibri" pitchFamily="34" charset="0"/>
                <a:ea typeface="Calibri" pitchFamily="34" charset="-122"/>
                <a:cs typeface="Calibri" pitchFamily="34" charset="-120"/>
              </a:rPr>
              <a:t>Your data remains in the system for 90 days after cancellation, during which you can request a full export. After 90 days, all data is permanently deleted per our data retention policy.</a:t>
            </a:r>
            <a:endParaRPr lang="en-US" sz="1300" dirty="0"/>
          </a:p>
        </p:txBody>
      </p:sp>
      <p:sp>
        <p:nvSpPr>
          <p:cNvPr id="14" name="Shape 12"/>
          <p:cNvSpPr/>
          <p:nvPr/>
        </p:nvSpPr>
        <p:spPr>
          <a:xfrm>
            <a:off x="0" y="4887468"/>
            <a:ext cx="9144000" cy="256032"/>
          </a:xfrm>
          <a:prstGeom prst="rect">
            <a:avLst/>
          </a:prstGeom>
          <a:solidFill>
            <a:srgbClr val="0F1F5C"/>
          </a:solidFill>
          <a:ln w="12700">
            <a:solidFill>
              <a:srgbClr val="0F1F5C"/>
            </a:solidFill>
            <a:prstDash val="solid"/>
          </a:ln>
        </p:spPr>
      </p:sp>
      <p:sp>
        <p:nvSpPr>
          <p:cNvPr id="15" name="Text 13"/>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6" name="Text 14"/>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F5C"/>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7941D"/>
          </a:solidFill>
          <a:ln w="12700">
            <a:solidFill>
              <a:srgbClr val="F7941D"/>
            </a:solidFill>
            <a:prstDash val="solid"/>
          </a:ln>
        </p:spPr>
      </p:sp>
      <p:sp>
        <p:nvSpPr>
          <p:cNvPr id="3" name="Shape 1"/>
          <p:cNvSpPr/>
          <p:nvPr/>
        </p:nvSpPr>
        <p:spPr>
          <a:xfrm>
            <a:off x="0" y="4722876"/>
            <a:ext cx="3200400" cy="164592"/>
          </a:xfrm>
          <a:prstGeom prst="rect">
            <a:avLst/>
          </a:prstGeom>
          <a:solidFill>
            <a:srgbClr val="F7941D"/>
          </a:solidFill>
          <a:ln w="12700">
            <a:solidFill>
              <a:srgbClr val="F7941D"/>
            </a:solidFill>
            <a:prstDash val="solid"/>
          </a:ln>
        </p:spPr>
      </p:sp>
      <p:sp>
        <p:nvSpPr>
          <p:cNvPr id="4" name="Text 2"/>
          <p:cNvSpPr/>
          <p:nvPr/>
        </p:nvSpPr>
        <p:spPr>
          <a:xfrm>
            <a:off x="640080" y="1280160"/>
            <a:ext cx="8229600" cy="365760"/>
          </a:xfrm>
          <a:prstGeom prst="rect">
            <a:avLst/>
          </a:prstGeom>
          <a:noFill/>
          <a:ln/>
        </p:spPr>
        <p:txBody>
          <a:bodyPr wrap="square" rtlCol="0" anchor="ctr"/>
          <a:lstStyle/>
          <a:p>
            <a:pPr indent="0" marL="0">
              <a:buNone/>
            </a:pPr>
            <a:r>
              <a:rPr lang="en-US" sz="1400" b="1" spc="400" kern="0" dirty="0">
                <a:solidFill>
                  <a:srgbClr val="F7941D"/>
                </a:solidFill>
                <a:latin typeface="Calibri" pitchFamily="34" charset="0"/>
                <a:ea typeface="Calibri" pitchFamily="34" charset="-122"/>
                <a:cs typeface="Calibri" pitchFamily="34" charset="-120"/>
              </a:rPr>
              <a:t>SECTION 5</a:t>
            </a:r>
            <a:endParaRPr lang="en-US" sz="1400" dirty="0"/>
          </a:p>
        </p:txBody>
      </p:sp>
      <p:sp>
        <p:nvSpPr>
          <p:cNvPr id="5" name="Text 3"/>
          <p:cNvSpPr/>
          <p:nvPr/>
        </p:nvSpPr>
        <p:spPr>
          <a:xfrm>
            <a:off x="640080" y="1691640"/>
            <a:ext cx="8229600" cy="1005840"/>
          </a:xfrm>
          <a:prstGeom prst="rect">
            <a:avLst/>
          </a:prstGeom>
          <a:noFill/>
          <a:ln/>
        </p:spPr>
        <p:txBody>
          <a:bodyPr wrap="square"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ADMIN OPERATIONS</a:t>
            </a:r>
            <a:endParaRPr lang="en-US" sz="3800" dirty="0"/>
          </a:p>
        </p:txBody>
      </p:sp>
      <p:sp>
        <p:nvSpPr>
          <p:cNvPr id="6" name="Text 4"/>
          <p:cNvSpPr/>
          <p:nvPr/>
        </p:nvSpPr>
        <p:spPr>
          <a:xfrm>
            <a:off x="640080" y="2743200"/>
            <a:ext cx="8229600" cy="548640"/>
          </a:xfrm>
          <a:prstGeom prst="rect">
            <a:avLst/>
          </a:prstGeom>
          <a:noFill/>
          <a:ln/>
        </p:spPr>
        <p:txBody>
          <a:bodyPr wrap="square" rtlCol="0" anchor="ctr"/>
          <a:lstStyle/>
          <a:p>
            <a:pPr indent="0" marL="0">
              <a:buNone/>
            </a:pPr>
            <a:r>
              <a:rPr lang="en-US" sz="1800" dirty="0">
                <a:solidFill>
                  <a:srgbClr val="CCCCEE"/>
                </a:solidFill>
                <a:latin typeface="Calibri" pitchFamily="34" charset="0"/>
                <a:ea typeface="Calibri" pitchFamily="34" charset="-122"/>
                <a:cs typeface="Calibri" pitchFamily="34" charset="-120"/>
              </a:rPr>
              <a:t>Keeping the Engine Running</a:t>
            </a:r>
            <a:endParaRPr lang="en-US" sz="1800" dirty="0"/>
          </a:p>
        </p:txBody>
      </p:sp>
      <p:sp>
        <p:nvSpPr>
          <p:cNvPr id="7" name="Shape 5"/>
          <p:cNvSpPr/>
          <p:nvPr/>
        </p:nvSpPr>
        <p:spPr>
          <a:xfrm>
            <a:off x="0" y="4887468"/>
            <a:ext cx="9144000" cy="256032"/>
          </a:xfrm>
          <a:prstGeom prst="rect">
            <a:avLst/>
          </a:prstGeom>
          <a:solidFill>
            <a:srgbClr val="0F1F5C"/>
          </a:solidFill>
          <a:ln w="12700">
            <a:solidFill>
              <a:srgbClr val="0F1F5C"/>
            </a:solidFill>
            <a:prstDash val="solid"/>
          </a:ln>
        </p:spPr>
      </p:sp>
      <p:sp>
        <p:nvSpPr>
          <p:cNvPr id="8" name="Text 6"/>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9" name="Text 7"/>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0F1F5C"/>
          </a:solidFill>
          <a:ln w="12700">
            <a:solidFill>
              <a:srgbClr val="0F1F5C"/>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SUBSCRIPTION MANAGEMENT</a:t>
            </a:r>
            <a:endParaRPr lang="en-US" sz="1400" dirty="0"/>
          </a:p>
        </p:txBody>
      </p:sp>
      <p:sp>
        <p:nvSpPr>
          <p:cNvPr id="5" name="Text 3"/>
          <p:cNvSpPr/>
          <p:nvPr/>
        </p:nvSpPr>
        <p:spPr>
          <a:xfrm>
            <a:off x="457200" y="621792"/>
            <a:ext cx="4114800" cy="374904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All billing is managed through Stripe — access via BSG Admin Panel &gt; Billing</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To upgrade a tier: update the Stripe subscription product and activate new modules in BSG Admin Panel</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To downgrade: confirm with client which modules to deactivate before processing</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Annual discount (15%): apply Stripe coupon code at subscription creation or renewal</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Founding client 40% discount: apply the founding client Stripe coupon code during onboarding</a:t>
            </a:r>
            <a:endParaRPr lang="en-US" sz="1400" dirty="0"/>
          </a:p>
        </p:txBody>
      </p:sp>
      <p:sp>
        <p:nvSpPr>
          <p:cNvPr id="6" name="Text 4"/>
          <p:cNvSpPr/>
          <p:nvPr/>
        </p:nvSpPr>
        <p:spPr>
          <a:xfrm>
            <a:off x="4800600" y="621792"/>
            <a:ext cx="4114800" cy="374904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How the discount appears to clients: as a line-item discount on the Stripe invoice</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Subscription renewal reminders: auto-sent by Stripe 30 days before annual renewal</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Failed payments: Stripe retries 3 times — if all fail, BSG Admin notifies client via email</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Refund policy: pro-rated refunds within 14 days — requires Jackie approval for exceptions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Cancellations: BSG Admin processes in Stripe + marks tenant inactive in platform</a:t>
            </a:r>
            <a:endParaRPr lang="en-US" sz="1400" dirty="0"/>
          </a:p>
        </p:txBody>
      </p:sp>
      <p:sp>
        <p:nvSpPr>
          <p:cNvPr id="7" name="Shape 5"/>
          <p:cNvSpPr/>
          <p:nvPr/>
        </p:nvSpPr>
        <p:spPr>
          <a:xfrm>
            <a:off x="0" y="4887468"/>
            <a:ext cx="9144000" cy="256032"/>
          </a:xfrm>
          <a:prstGeom prst="rect">
            <a:avLst/>
          </a:prstGeom>
          <a:solidFill>
            <a:srgbClr val="0F1F5C"/>
          </a:solidFill>
          <a:ln w="12700">
            <a:solidFill>
              <a:srgbClr val="0F1F5C"/>
            </a:solidFill>
            <a:prstDash val="solid"/>
          </a:ln>
        </p:spPr>
      </p:sp>
      <p:sp>
        <p:nvSpPr>
          <p:cNvPr id="8" name="Text 6"/>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9" name="Text 7"/>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0F1F5C"/>
          </a:solidFill>
          <a:ln w="12700">
            <a:solidFill>
              <a:srgbClr val="0F1F5C"/>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MONTHLY REPORTING FOR JACKIE</a:t>
            </a:r>
            <a:endParaRPr lang="en-US" sz="1400" dirty="0"/>
          </a:p>
        </p:txBody>
      </p:sp>
      <p:sp>
        <p:nvSpPr>
          <p:cNvPr id="5" name="Text 3"/>
          <p:cNvSpPr/>
          <p:nvPr/>
        </p:nvSpPr>
        <p:spPr>
          <a:xfrm>
            <a:off x="457200" y="576072"/>
            <a:ext cx="8229600" cy="347472"/>
          </a:xfrm>
          <a:prstGeom prst="rect">
            <a:avLst/>
          </a:prstGeom>
          <a:noFill/>
          <a:ln/>
        </p:spPr>
        <p:txBody>
          <a:bodyPr wrap="square" rtlCol="0" anchor="ctr"/>
          <a:lstStyle/>
          <a:p>
            <a:pPr indent="0" marL="0">
              <a:buNone/>
            </a:pPr>
            <a:r>
              <a:rPr lang="en-US" sz="1400" i="1" dirty="0">
                <a:solidFill>
                  <a:srgbClr val="1E1E3A"/>
                </a:solidFill>
                <a:latin typeface="Calibri" pitchFamily="34" charset="0"/>
                <a:ea typeface="Calibri" pitchFamily="34" charset="-122"/>
                <a:cs typeface="Calibri" pitchFamily="34" charset="-120"/>
              </a:rPr>
              <a:t>Report due: 1st of each month | Delivered via BSG Admin Dashboard export</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274320" y="987552"/>
          <a:ext cx="6858000" cy="914400"/>
        </p:xfrm>
        <a:graphic>
          <a:graphicData uri="http://schemas.openxmlformats.org/drawingml/2006/table">
            <a:tbl>
              <a:tblPr/>
              <a:tblGrid>
                <a:gridCol w="1828800"/>
                <a:gridCol w="2560320"/>
                <a:gridCol w="393192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Where to Find It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Notes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r>
              <a:tr h="457200">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Active Tenants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BSG Admin Panel &gt; Tenants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Count of tenants with active subscriptions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Monthly Recurring Revenue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Stripe Dashboard &gt; Revenue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MRR = sum of all active monthly charges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457200">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Modules Enabled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BSG Admin Panel &gt; Module Report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Breakdown by module across all tenants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Support Tickets Resolved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CRM / Ticketing System</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Closed this month vs. open carryover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457200">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Onboardings Completed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BSG Admin Panel &gt; Onboarding</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Count of tenants who completed Step 8</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Shape 4"/>
          <p:cNvSpPr/>
          <p:nvPr/>
        </p:nvSpPr>
        <p:spPr>
          <a:xfrm>
            <a:off x="365760" y="4279392"/>
            <a:ext cx="8412480" cy="365760"/>
          </a:xfrm>
          <a:prstGeom prst="rect">
            <a:avLst/>
          </a:prstGeom>
          <a:solidFill>
            <a:srgbClr val="E8F4FF"/>
          </a:solidFill>
          <a:ln w="12700">
            <a:solidFill>
              <a:srgbClr val="3399CC"/>
            </a:solidFill>
            <a:prstDash val="solid"/>
          </a:ln>
        </p:spPr>
      </p:sp>
      <p:sp>
        <p:nvSpPr>
          <p:cNvPr id="8" name="Text 5"/>
          <p:cNvSpPr/>
          <p:nvPr/>
        </p:nvSpPr>
        <p:spPr>
          <a:xfrm>
            <a:off x="502920" y="4297680"/>
            <a:ext cx="8229600" cy="292608"/>
          </a:xfrm>
          <a:prstGeom prst="rect">
            <a:avLst/>
          </a:prstGeom>
          <a:noFill/>
          <a:ln/>
        </p:spPr>
        <p:txBody>
          <a:bodyPr wrap="square" rtlCol="0" anchor="ctr"/>
          <a:lstStyle/>
          <a:p>
            <a:pPr indent="0" marL="0">
              <a:buNone/>
            </a:pPr>
            <a:r>
              <a:rPr lang="en-US" sz="1200" dirty="0">
                <a:solidFill>
                  <a:srgbClr val="1A4466"/>
                </a:solidFill>
                <a:latin typeface="Calibri" pitchFamily="34" charset="0"/>
                <a:ea typeface="Calibri" pitchFamily="34" charset="-122"/>
                <a:cs typeface="Calibri" pitchFamily="34" charset="-120"/>
              </a:rPr>
              <a:t>Include a 2-3 sentence qualitative summary of the month: client highlights, escalations, and any platform concerns.</a:t>
            </a:r>
            <a:endParaRPr lang="en-US" sz="1200" dirty="0"/>
          </a:p>
        </p:txBody>
      </p:sp>
      <p:sp>
        <p:nvSpPr>
          <p:cNvPr id="9" name="Shape 6"/>
          <p:cNvSpPr/>
          <p:nvPr/>
        </p:nvSpPr>
        <p:spPr>
          <a:xfrm>
            <a:off x="0" y="4887468"/>
            <a:ext cx="9144000" cy="256032"/>
          </a:xfrm>
          <a:prstGeom prst="rect">
            <a:avLst/>
          </a:prstGeom>
          <a:solidFill>
            <a:srgbClr val="0F1F5C"/>
          </a:solidFill>
          <a:ln w="12700">
            <a:solidFill>
              <a:srgbClr val="0F1F5C"/>
            </a:solidFill>
            <a:prstDash val="solid"/>
          </a:ln>
        </p:spPr>
      </p:sp>
      <p:sp>
        <p:nvSpPr>
          <p:cNvPr id="10" name="Text 7"/>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1" name="Text 8"/>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0F1F5C"/>
          </a:solidFill>
          <a:ln w="12700">
            <a:solidFill>
              <a:srgbClr val="0F1F5C"/>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CLIENT COMMUNICATION TEMPLATES</a:t>
            </a:r>
            <a:endParaRPr lang="en-US" sz="1400" dirty="0"/>
          </a:p>
        </p:txBody>
      </p:sp>
      <p:sp>
        <p:nvSpPr>
          <p:cNvPr id="5" name="Shape 3"/>
          <p:cNvSpPr/>
          <p:nvPr/>
        </p:nvSpPr>
        <p:spPr>
          <a:xfrm>
            <a:off x="365760" y="612648"/>
            <a:ext cx="4160520" cy="1920240"/>
          </a:xfrm>
          <a:prstGeom prst="rect">
            <a:avLst/>
          </a:prstGeom>
          <a:solidFill>
            <a:srgbClr val="F8F9FD"/>
          </a:solidFill>
          <a:ln w="12700">
            <a:solidFill>
              <a:srgbClr val="CCCCCC"/>
            </a:solidFill>
            <a:prstDash val="solid"/>
          </a:ln>
        </p:spPr>
      </p:sp>
      <p:sp>
        <p:nvSpPr>
          <p:cNvPr id="6" name="Shape 4"/>
          <p:cNvSpPr/>
          <p:nvPr/>
        </p:nvSpPr>
        <p:spPr>
          <a:xfrm>
            <a:off x="365760" y="612648"/>
            <a:ext cx="4160520" cy="347472"/>
          </a:xfrm>
          <a:prstGeom prst="rect">
            <a:avLst/>
          </a:prstGeom>
          <a:solidFill>
            <a:srgbClr val="0F1F5C"/>
          </a:solidFill>
          <a:ln w="12700">
            <a:solidFill>
              <a:srgbClr val="0F1F5C"/>
            </a:solidFill>
            <a:prstDash val="solid"/>
          </a:ln>
        </p:spPr>
      </p:sp>
      <p:sp>
        <p:nvSpPr>
          <p:cNvPr id="7" name="Text 5"/>
          <p:cNvSpPr/>
          <p:nvPr/>
        </p:nvSpPr>
        <p:spPr>
          <a:xfrm>
            <a:off x="475488" y="612648"/>
            <a:ext cx="3931920" cy="347472"/>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Welcome Email</a:t>
            </a:r>
            <a:endParaRPr lang="en-US" sz="1400" dirty="0"/>
          </a:p>
        </p:txBody>
      </p:sp>
      <p:sp>
        <p:nvSpPr>
          <p:cNvPr id="8" name="Text 6"/>
          <p:cNvSpPr/>
          <p:nvPr/>
        </p:nvSpPr>
        <p:spPr>
          <a:xfrm>
            <a:off x="475488" y="996696"/>
            <a:ext cx="3931920" cy="1417320"/>
          </a:xfrm>
          <a:prstGeom prst="rect">
            <a:avLst/>
          </a:prstGeom>
          <a:noFill/>
          <a:ln/>
        </p:spPr>
        <p:txBody>
          <a:bodyPr wrap="square" rtlCol="0" anchor="t"/>
          <a:lstStyle/>
          <a:p>
            <a:pPr indent="0" marL="0">
              <a:buNone/>
            </a:pPr>
            <a:r>
              <a:rPr lang="en-US" sz="1200" dirty="0">
                <a:solidFill>
                  <a:srgbClr val="1E1E3A"/>
                </a:solidFill>
                <a:latin typeface="Calibri" pitchFamily="34" charset="0"/>
                <a:ea typeface="Calibri" pitchFamily="34" charset="-122"/>
                <a:cs typeface="Calibri" pitchFamily="34" charset="-120"/>
              </a:rPr>
              <a:t>Sent upon account activation. Includes login link, primary contact, first onboarding call scheduling link, and direct BSG support email.</a:t>
            </a:r>
            <a:endParaRPr lang="en-US" sz="1200" dirty="0"/>
          </a:p>
        </p:txBody>
      </p:sp>
      <p:sp>
        <p:nvSpPr>
          <p:cNvPr id="9" name="Shape 7"/>
          <p:cNvSpPr/>
          <p:nvPr/>
        </p:nvSpPr>
        <p:spPr>
          <a:xfrm>
            <a:off x="4754880" y="612648"/>
            <a:ext cx="4160520" cy="1920240"/>
          </a:xfrm>
          <a:prstGeom prst="rect">
            <a:avLst/>
          </a:prstGeom>
          <a:solidFill>
            <a:srgbClr val="F8F9FD"/>
          </a:solidFill>
          <a:ln w="12700">
            <a:solidFill>
              <a:srgbClr val="CCCCCC"/>
            </a:solidFill>
            <a:prstDash val="solid"/>
          </a:ln>
        </p:spPr>
      </p:sp>
      <p:sp>
        <p:nvSpPr>
          <p:cNvPr id="10" name="Shape 8"/>
          <p:cNvSpPr/>
          <p:nvPr/>
        </p:nvSpPr>
        <p:spPr>
          <a:xfrm>
            <a:off x="4754880" y="612648"/>
            <a:ext cx="4160520" cy="347472"/>
          </a:xfrm>
          <a:prstGeom prst="rect">
            <a:avLst/>
          </a:prstGeom>
          <a:solidFill>
            <a:srgbClr val="0F1F5C"/>
          </a:solidFill>
          <a:ln w="12700">
            <a:solidFill>
              <a:srgbClr val="0F1F5C"/>
            </a:solidFill>
            <a:prstDash val="solid"/>
          </a:ln>
        </p:spPr>
      </p:sp>
      <p:sp>
        <p:nvSpPr>
          <p:cNvPr id="11" name="Text 9"/>
          <p:cNvSpPr/>
          <p:nvPr/>
        </p:nvSpPr>
        <p:spPr>
          <a:xfrm>
            <a:off x="4864608" y="612648"/>
            <a:ext cx="3931920" cy="347472"/>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Renewal Reminder</a:t>
            </a:r>
            <a:endParaRPr lang="en-US" sz="1400" dirty="0"/>
          </a:p>
        </p:txBody>
      </p:sp>
      <p:sp>
        <p:nvSpPr>
          <p:cNvPr id="12" name="Text 10"/>
          <p:cNvSpPr/>
          <p:nvPr/>
        </p:nvSpPr>
        <p:spPr>
          <a:xfrm>
            <a:off x="4864608" y="996696"/>
            <a:ext cx="3931920" cy="1417320"/>
          </a:xfrm>
          <a:prstGeom prst="rect">
            <a:avLst/>
          </a:prstGeom>
          <a:noFill/>
          <a:ln/>
        </p:spPr>
        <p:txBody>
          <a:bodyPr wrap="square" rtlCol="0" anchor="t"/>
          <a:lstStyle/>
          <a:p>
            <a:pPr indent="0" marL="0">
              <a:buNone/>
            </a:pPr>
            <a:r>
              <a:rPr lang="en-US" sz="1200" dirty="0">
                <a:solidFill>
                  <a:srgbClr val="1E1E3A"/>
                </a:solidFill>
                <a:latin typeface="Calibri" pitchFamily="34" charset="0"/>
                <a:ea typeface="Calibri" pitchFamily="34" charset="-122"/>
                <a:cs typeface="Calibri" pitchFamily="34" charset="-120"/>
              </a:rPr>
              <a:t>Sent 30 days before annual renewal. Includes current plan details, renewal amount, and option to upgrade or adjust modules.</a:t>
            </a:r>
            <a:endParaRPr lang="en-US" sz="1200" dirty="0"/>
          </a:p>
        </p:txBody>
      </p:sp>
      <p:sp>
        <p:nvSpPr>
          <p:cNvPr id="13" name="Shape 11"/>
          <p:cNvSpPr/>
          <p:nvPr/>
        </p:nvSpPr>
        <p:spPr>
          <a:xfrm>
            <a:off x="365760" y="2715768"/>
            <a:ext cx="4160520" cy="1920240"/>
          </a:xfrm>
          <a:prstGeom prst="rect">
            <a:avLst/>
          </a:prstGeom>
          <a:solidFill>
            <a:srgbClr val="F8F9FD"/>
          </a:solidFill>
          <a:ln w="12700">
            <a:solidFill>
              <a:srgbClr val="CCCCCC"/>
            </a:solidFill>
            <a:prstDash val="solid"/>
          </a:ln>
        </p:spPr>
      </p:sp>
      <p:sp>
        <p:nvSpPr>
          <p:cNvPr id="14" name="Shape 12"/>
          <p:cNvSpPr/>
          <p:nvPr/>
        </p:nvSpPr>
        <p:spPr>
          <a:xfrm>
            <a:off x="365760" y="2715768"/>
            <a:ext cx="4160520" cy="347472"/>
          </a:xfrm>
          <a:prstGeom prst="rect">
            <a:avLst/>
          </a:prstGeom>
          <a:solidFill>
            <a:srgbClr val="0F1F5C"/>
          </a:solidFill>
          <a:ln w="12700">
            <a:solidFill>
              <a:srgbClr val="0F1F5C"/>
            </a:solidFill>
            <a:prstDash val="solid"/>
          </a:ln>
        </p:spPr>
      </p:sp>
      <p:sp>
        <p:nvSpPr>
          <p:cNvPr id="15" name="Text 13"/>
          <p:cNvSpPr/>
          <p:nvPr/>
        </p:nvSpPr>
        <p:spPr>
          <a:xfrm>
            <a:off x="475488" y="2715768"/>
            <a:ext cx="3931920" cy="347472"/>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Feature Announcement</a:t>
            </a:r>
            <a:endParaRPr lang="en-US" sz="1400" dirty="0"/>
          </a:p>
        </p:txBody>
      </p:sp>
      <p:sp>
        <p:nvSpPr>
          <p:cNvPr id="16" name="Text 14"/>
          <p:cNvSpPr/>
          <p:nvPr/>
        </p:nvSpPr>
        <p:spPr>
          <a:xfrm>
            <a:off x="475488" y="3099816"/>
            <a:ext cx="3931920" cy="1417320"/>
          </a:xfrm>
          <a:prstGeom prst="rect">
            <a:avLst/>
          </a:prstGeom>
          <a:noFill/>
          <a:ln/>
        </p:spPr>
        <p:txBody>
          <a:bodyPr wrap="square" rtlCol="0" anchor="t"/>
          <a:lstStyle/>
          <a:p>
            <a:pPr indent="0" marL="0">
              <a:buNone/>
            </a:pPr>
            <a:r>
              <a:rPr lang="en-US" sz="1200" dirty="0">
                <a:solidFill>
                  <a:srgbClr val="1E1E3A"/>
                </a:solidFill>
                <a:latin typeface="Calibri" pitchFamily="34" charset="0"/>
                <a:ea typeface="Calibri" pitchFamily="34" charset="-122"/>
                <a:cs typeface="Calibri" pitchFamily="34" charset="-120"/>
              </a:rPr>
              <a:t>Sent when Jackie releases a sprint update with client-facing features. Brief, benefit-led (not technical). Include "how to try it" link.</a:t>
            </a:r>
            <a:endParaRPr lang="en-US" sz="1200" dirty="0"/>
          </a:p>
        </p:txBody>
      </p:sp>
      <p:sp>
        <p:nvSpPr>
          <p:cNvPr id="17" name="Shape 15"/>
          <p:cNvSpPr/>
          <p:nvPr/>
        </p:nvSpPr>
        <p:spPr>
          <a:xfrm>
            <a:off x="4754880" y="2715768"/>
            <a:ext cx="4160520" cy="1920240"/>
          </a:xfrm>
          <a:prstGeom prst="rect">
            <a:avLst/>
          </a:prstGeom>
          <a:solidFill>
            <a:srgbClr val="F8F9FD"/>
          </a:solidFill>
          <a:ln w="12700">
            <a:solidFill>
              <a:srgbClr val="CCCCCC"/>
            </a:solidFill>
            <a:prstDash val="solid"/>
          </a:ln>
        </p:spPr>
      </p:sp>
      <p:sp>
        <p:nvSpPr>
          <p:cNvPr id="18" name="Shape 16"/>
          <p:cNvSpPr/>
          <p:nvPr/>
        </p:nvSpPr>
        <p:spPr>
          <a:xfrm>
            <a:off x="4754880" y="2715768"/>
            <a:ext cx="4160520" cy="347472"/>
          </a:xfrm>
          <a:prstGeom prst="rect">
            <a:avLst/>
          </a:prstGeom>
          <a:solidFill>
            <a:srgbClr val="0F1F5C"/>
          </a:solidFill>
          <a:ln w="12700">
            <a:solidFill>
              <a:srgbClr val="0F1F5C"/>
            </a:solidFill>
            <a:prstDash val="solid"/>
          </a:ln>
        </p:spPr>
      </p:sp>
      <p:sp>
        <p:nvSpPr>
          <p:cNvPr id="19" name="Text 17"/>
          <p:cNvSpPr/>
          <p:nvPr/>
        </p:nvSpPr>
        <p:spPr>
          <a:xfrm>
            <a:off x="4864608" y="2715768"/>
            <a:ext cx="3931920" cy="347472"/>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Issue Acknowledgment</a:t>
            </a:r>
            <a:endParaRPr lang="en-US" sz="1400" dirty="0"/>
          </a:p>
        </p:txBody>
      </p:sp>
      <p:sp>
        <p:nvSpPr>
          <p:cNvPr id="20" name="Text 18"/>
          <p:cNvSpPr/>
          <p:nvPr/>
        </p:nvSpPr>
        <p:spPr>
          <a:xfrm>
            <a:off x="4864608" y="3099816"/>
            <a:ext cx="3931920" cy="1417320"/>
          </a:xfrm>
          <a:prstGeom prst="rect">
            <a:avLst/>
          </a:prstGeom>
          <a:noFill/>
          <a:ln/>
        </p:spPr>
        <p:txBody>
          <a:bodyPr wrap="square" rtlCol="0" anchor="t"/>
          <a:lstStyle/>
          <a:p>
            <a:pPr indent="0" marL="0">
              <a:buNone/>
            </a:pPr>
            <a:r>
              <a:rPr lang="en-US" sz="1200" dirty="0">
                <a:solidFill>
                  <a:srgbClr val="1E1E3A"/>
                </a:solidFill>
                <a:latin typeface="Calibri" pitchFamily="34" charset="0"/>
                <a:ea typeface="Calibri" pitchFamily="34" charset="-122"/>
                <a:cs typeface="Calibri" pitchFamily="34" charset="-120"/>
              </a:rPr>
              <a:t>Sent within 1 hour of a confirmed platform issue affecting the client. Acknowledge → status → estimated resolution → direct contact for updates.</a:t>
            </a:r>
            <a:endParaRPr lang="en-US" sz="1200" dirty="0"/>
          </a:p>
        </p:txBody>
      </p:sp>
      <p:sp>
        <p:nvSpPr>
          <p:cNvPr id="21" name="Shape 19"/>
          <p:cNvSpPr/>
          <p:nvPr/>
        </p:nvSpPr>
        <p:spPr>
          <a:xfrm>
            <a:off x="0" y="4887468"/>
            <a:ext cx="9144000" cy="256032"/>
          </a:xfrm>
          <a:prstGeom prst="rect">
            <a:avLst/>
          </a:prstGeom>
          <a:solidFill>
            <a:srgbClr val="0F1F5C"/>
          </a:solidFill>
          <a:ln w="12700">
            <a:solidFill>
              <a:srgbClr val="0F1F5C"/>
            </a:solidFill>
            <a:prstDash val="solid"/>
          </a:ln>
        </p:spPr>
      </p:sp>
      <p:sp>
        <p:nvSpPr>
          <p:cNvPr id="22" name="Text 20"/>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23" name="Text 21"/>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0F1F5C"/>
          </a:solidFill>
          <a:ln w="12700">
            <a:solidFill>
              <a:srgbClr val="0F1F5C"/>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BSG KNOWLEDGE BASE</a:t>
            </a:r>
            <a:endParaRPr lang="en-US" sz="1400" dirty="0"/>
          </a:p>
        </p:txBody>
      </p:sp>
      <p:sp>
        <p:nvSpPr>
          <p:cNvPr id="5" name="Text 3"/>
          <p:cNvSpPr/>
          <p:nvPr/>
        </p:nvSpPr>
        <p:spPr>
          <a:xfrm>
            <a:off x="457200" y="621792"/>
            <a:ext cx="4114800" cy="374904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Primary resource for all BSG staff: answers to product, process, and client questions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Access via the internal BSG Admin Portal &gt; Knowledge Base tab</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Search before asking Jackie — most common questions are already documented</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If you find a gap: add an article using the KB template and tag it appropriately</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Articles are reviewed quarterly by BSG Admin for accuracy and updates</a:t>
            </a:r>
            <a:endParaRPr lang="en-US" sz="1400" dirty="0"/>
          </a:p>
        </p:txBody>
      </p:sp>
      <p:sp>
        <p:nvSpPr>
          <p:cNvPr id="6" name="Text 4"/>
          <p:cNvSpPr/>
          <p:nvPr/>
        </p:nvSpPr>
        <p:spPr>
          <a:xfrm>
            <a:off x="4800600" y="621792"/>
            <a:ext cx="4114800" cy="3749040"/>
          </a:xfrm>
          <a:prstGeom prst="rect">
            <a:avLst/>
          </a:prstGeom>
          <a:noFill/>
          <a:ln/>
        </p:spPr>
        <p:txBody>
          <a:bodyPr wrap="square" rtlCol="0" anchor="t"/>
          <a:lstStyle/>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Tag structure — use all that apply:</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[Sales] — pricing, objections, demo scripts, CRM</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[Tech Support] — configuration, troubleshooting, escalation</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[Admin] — billing, reporting, communications</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[Module: Roles / Perform / Pulse / Learn]</a:t>
            </a:r>
            <a:endParaRPr lang="en-US" sz="1400" dirty="0"/>
          </a:p>
          <a:p>
            <a:pPr marL="342900" indent="-342900">
              <a:spcAft>
                <a:spcPts val="500"/>
              </a:spcAft>
              <a:buSzPct val="100000"/>
              <a:buChar char="•"/>
            </a:pPr>
            <a:r>
              <a:rPr lang="en-US" sz="1400" dirty="0">
                <a:solidFill>
                  <a:srgbClr val="1E1E3A"/>
                </a:solidFill>
                <a:latin typeface="Calibri" pitchFamily="34" charset="0"/>
                <a:ea typeface="Calibri" pitchFamily="34" charset="-122"/>
                <a:cs typeface="Calibri" pitchFamily="34" charset="-120"/>
              </a:rPr>
              <a:t>[Troubleshooting] — for issue-specific articles</a:t>
            </a:r>
            <a:endParaRPr lang="en-US" sz="1400" dirty="0"/>
          </a:p>
        </p:txBody>
      </p:sp>
      <p:sp>
        <p:nvSpPr>
          <p:cNvPr id="7" name="Shape 5"/>
          <p:cNvSpPr/>
          <p:nvPr/>
        </p:nvSpPr>
        <p:spPr>
          <a:xfrm>
            <a:off x="0" y="4887468"/>
            <a:ext cx="9144000" cy="256032"/>
          </a:xfrm>
          <a:prstGeom prst="rect">
            <a:avLst/>
          </a:prstGeom>
          <a:solidFill>
            <a:srgbClr val="0F1F5C"/>
          </a:solidFill>
          <a:ln w="12700">
            <a:solidFill>
              <a:srgbClr val="0F1F5C"/>
            </a:solidFill>
            <a:prstDash val="solid"/>
          </a:ln>
        </p:spPr>
      </p:sp>
      <p:sp>
        <p:nvSpPr>
          <p:cNvPr id="8" name="Text 6"/>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9" name="Text 7"/>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0F1F5C"/>
          </a:solidFill>
          <a:ln w="12700">
            <a:solidFill>
              <a:srgbClr val="0F1F5C"/>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STAYING CURRENT WITH BOOST! UPDATES</a:t>
            </a:r>
            <a:endParaRPr lang="en-US" sz="1400" dirty="0"/>
          </a:p>
        </p:txBody>
      </p:sp>
      <p:sp>
        <p:nvSpPr>
          <p:cNvPr id="5" name="Text 3"/>
          <p:cNvSpPr/>
          <p:nvPr/>
        </p:nvSpPr>
        <p:spPr>
          <a:xfrm>
            <a:off x="457200" y="640080"/>
            <a:ext cx="8229600" cy="3749040"/>
          </a:xfrm>
          <a:prstGeom prst="rect">
            <a:avLst/>
          </a:prstGeom>
          <a:noFill/>
          <a:ln/>
        </p:spPr>
        <p:txBody>
          <a:bodyPr wrap="square" rtlCol="0" anchor="t"/>
          <a:lstStyle/>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Jackie communicates platform updates via sprint release notes — shared via email and KB</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New features are tagged: [Client-Facing] or [Internal Only] — know the difference</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Before any client demo or onboarding call: test new features using admin@boost.test and learner@boost.test</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If a feature behaves differently than documented: document it and flag to Jackie before client calls</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Sprint cadence: approximately bi-weekly — BSG all-hands includes product update segment</a:t>
            </a:r>
            <a:endParaRPr lang="en-US" sz="1400" dirty="0"/>
          </a:p>
          <a:p>
            <a:pPr marL="342900" indent="-342900">
              <a:spcAft>
                <a:spcPts val="800"/>
              </a:spcAft>
              <a:buSzPct val="100000"/>
              <a:buChar char="•"/>
            </a:pPr>
            <a:r>
              <a:rPr lang="en-US" sz="1400" dirty="0">
                <a:solidFill>
                  <a:srgbClr val="1E1E3A"/>
                </a:solidFill>
                <a:latin typeface="Calibri" pitchFamily="34" charset="0"/>
                <a:ea typeface="Calibri" pitchFamily="34" charset="-122"/>
                <a:cs typeface="Calibri" pitchFamily="34" charset="-120"/>
              </a:rPr>
              <a:t>Never describe an in-development feature as "coming soon" to clients without Jackie's confirmation</a:t>
            </a:r>
            <a:endParaRPr lang="en-US" sz="1400" dirty="0"/>
          </a:p>
        </p:txBody>
      </p:sp>
      <p:sp>
        <p:nvSpPr>
          <p:cNvPr id="6" name="Shape 4"/>
          <p:cNvSpPr/>
          <p:nvPr/>
        </p:nvSpPr>
        <p:spPr>
          <a:xfrm>
            <a:off x="365760" y="4160520"/>
            <a:ext cx="8412480" cy="347472"/>
          </a:xfrm>
          <a:prstGeom prst="rect">
            <a:avLst/>
          </a:prstGeom>
          <a:solidFill>
            <a:srgbClr val="E8F4FF"/>
          </a:solidFill>
          <a:ln w="12700">
            <a:solidFill>
              <a:srgbClr val="3399CC"/>
            </a:solidFill>
            <a:prstDash val="solid"/>
          </a:ln>
        </p:spPr>
      </p:sp>
      <p:sp>
        <p:nvSpPr>
          <p:cNvPr id="7" name="Text 5"/>
          <p:cNvSpPr/>
          <p:nvPr/>
        </p:nvSpPr>
        <p:spPr>
          <a:xfrm>
            <a:off x="502920" y="4178808"/>
            <a:ext cx="8229600" cy="292608"/>
          </a:xfrm>
          <a:prstGeom prst="rect">
            <a:avLst/>
          </a:prstGeom>
          <a:noFill/>
          <a:ln/>
        </p:spPr>
        <p:txBody>
          <a:bodyPr wrap="square" rtlCol="0" anchor="ctr"/>
          <a:lstStyle/>
          <a:p>
            <a:pPr indent="0" marL="0">
              <a:buNone/>
            </a:pPr>
            <a:r>
              <a:rPr lang="en-US" sz="1200" dirty="0">
                <a:solidFill>
                  <a:srgbClr val="1A4466"/>
                </a:solidFill>
                <a:latin typeface="Calibri" pitchFamily="34" charset="0"/>
                <a:ea typeface="Calibri" pitchFamily="34" charset="-122"/>
                <a:cs typeface="Calibri" pitchFamily="34" charset="-120"/>
              </a:rPr>
              <a:t>Test accounts: admin@boost.test (Tenant Admin, CCCOEO tenant) | learner@boost.test (Learner, CCCOEO tenant)</a:t>
            </a:r>
            <a:endParaRPr lang="en-US" sz="1200" dirty="0"/>
          </a:p>
        </p:txBody>
      </p:sp>
      <p:sp>
        <p:nvSpPr>
          <p:cNvPr id="8" name="Shape 6"/>
          <p:cNvSpPr/>
          <p:nvPr/>
        </p:nvSpPr>
        <p:spPr>
          <a:xfrm>
            <a:off x="0" y="4887468"/>
            <a:ext cx="9144000" cy="256032"/>
          </a:xfrm>
          <a:prstGeom prst="rect">
            <a:avLst/>
          </a:prstGeom>
          <a:solidFill>
            <a:srgbClr val="0F1F5C"/>
          </a:solidFill>
          <a:ln w="12700">
            <a:solidFill>
              <a:srgbClr val="0F1F5C"/>
            </a:solidFill>
            <a:prstDash val="solid"/>
          </a:ln>
        </p:spPr>
      </p:sp>
      <p:sp>
        <p:nvSpPr>
          <p:cNvPr id="9" name="Text 7"/>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0" name="Text 8"/>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1F5C"/>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7941D"/>
          </a:solidFill>
          <a:ln w="12700">
            <a:solidFill>
              <a:srgbClr val="F7941D"/>
            </a:solidFill>
            <a:prstDash val="solid"/>
          </a:ln>
        </p:spPr>
      </p:sp>
      <p:sp>
        <p:nvSpPr>
          <p:cNvPr id="3" name="Shape 1"/>
          <p:cNvSpPr/>
          <p:nvPr/>
        </p:nvSpPr>
        <p:spPr>
          <a:xfrm>
            <a:off x="0" y="4722876"/>
            <a:ext cx="3200400" cy="164592"/>
          </a:xfrm>
          <a:prstGeom prst="rect">
            <a:avLst/>
          </a:prstGeom>
          <a:solidFill>
            <a:srgbClr val="F7941D"/>
          </a:solidFill>
          <a:ln w="12700">
            <a:solidFill>
              <a:srgbClr val="F7941D"/>
            </a:solidFill>
            <a:prstDash val="solid"/>
          </a:ln>
        </p:spPr>
      </p:sp>
      <p:sp>
        <p:nvSpPr>
          <p:cNvPr id="4" name="Text 2"/>
          <p:cNvSpPr/>
          <p:nvPr/>
        </p:nvSpPr>
        <p:spPr>
          <a:xfrm>
            <a:off x="640080" y="1280160"/>
            <a:ext cx="8229600" cy="365760"/>
          </a:xfrm>
          <a:prstGeom prst="rect">
            <a:avLst/>
          </a:prstGeom>
          <a:noFill/>
          <a:ln/>
        </p:spPr>
        <p:txBody>
          <a:bodyPr wrap="square" rtlCol="0" anchor="ctr"/>
          <a:lstStyle/>
          <a:p>
            <a:pPr indent="0" marL="0">
              <a:buNone/>
            </a:pPr>
            <a:r>
              <a:rPr lang="en-US" sz="1400" b="1" spc="400" kern="0" dirty="0">
                <a:solidFill>
                  <a:srgbClr val="F7941D"/>
                </a:solidFill>
                <a:latin typeface="Calibri" pitchFamily="34" charset="0"/>
                <a:ea typeface="Calibri" pitchFamily="34" charset="-122"/>
                <a:cs typeface="Calibri" pitchFamily="34" charset="-120"/>
              </a:rPr>
              <a:t>SECTION 6</a:t>
            </a:r>
            <a:endParaRPr lang="en-US" sz="1400" dirty="0"/>
          </a:p>
        </p:txBody>
      </p:sp>
      <p:sp>
        <p:nvSpPr>
          <p:cNvPr id="5" name="Text 3"/>
          <p:cNvSpPr/>
          <p:nvPr/>
        </p:nvSpPr>
        <p:spPr>
          <a:xfrm>
            <a:off x="640080" y="1691640"/>
            <a:ext cx="8229600" cy="1005840"/>
          </a:xfrm>
          <a:prstGeom prst="rect">
            <a:avLst/>
          </a:prstGeom>
          <a:noFill/>
          <a:ln/>
        </p:spPr>
        <p:txBody>
          <a:bodyPr wrap="square"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QUICK REFERENCE</a:t>
            </a:r>
            <a:endParaRPr lang="en-US" sz="3800" dirty="0"/>
          </a:p>
        </p:txBody>
      </p:sp>
      <p:sp>
        <p:nvSpPr>
          <p:cNvPr id="6" name="Text 4"/>
          <p:cNvSpPr/>
          <p:nvPr/>
        </p:nvSpPr>
        <p:spPr>
          <a:xfrm>
            <a:off x="640080" y="2743200"/>
            <a:ext cx="8229600" cy="548640"/>
          </a:xfrm>
          <a:prstGeom prst="rect">
            <a:avLst/>
          </a:prstGeom>
          <a:noFill/>
          <a:ln/>
        </p:spPr>
        <p:txBody>
          <a:bodyPr wrap="square" rtlCol="0" anchor="ctr"/>
          <a:lstStyle/>
          <a:p>
            <a:pPr indent="0" marL="0">
              <a:buNone/>
            </a:pPr>
            <a:r>
              <a:rPr lang="en-US" sz="1800" dirty="0">
                <a:solidFill>
                  <a:srgbClr val="CCCCEE"/>
                </a:solidFill>
                <a:latin typeface="Calibri" pitchFamily="34" charset="0"/>
                <a:ea typeface="Calibri" pitchFamily="34" charset="-122"/>
                <a:cs typeface="Calibri" pitchFamily="34" charset="-120"/>
              </a:rPr>
              <a:t>Cheat Sheets for Daily Use</a:t>
            </a:r>
            <a:endParaRPr lang="en-US" sz="1800" dirty="0"/>
          </a:p>
        </p:txBody>
      </p:sp>
      <p:sp>
        <p:nvSpPr>
          <p:cNvPr id="7" name="Shape 5"/>
          <p:cNvSpPr/>
          <p:nvPr/>
        </p:nvSpPr>
        <p:spPr>
          <a:xfrm>
            <a:off x="0" y="4887468"/>
            <a:ext cx="9144000" cy="256032"/>
          </a:xfrm>
          <a:prstGeom prst="rect">
            <a:avLst/>
          </a:prstGeom>
          <a:solidFill>
            <a:srgbClr val="0F1F5C"/>
          </a:solidFill>
          <a:ln w="12700">
            <a:solidFill>
              <a:srgbClr val="0F1F5C"/>
            </a:solidFill>
            <a:prstDash val="solid"/>
          </a:ln>
        </p:spPr>
      </p:sp>
      <p:sp>
        <p:nvSpPr>
          <p:cNvPr id="8" name="Text 6"/>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9" name="Text 7"/>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MODULE QUICK REFERENCE CARD</a:t>
            </a:r>
            <a:endParaRPr lang="en-US" sz="14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274320" y="594360"/>
          <a:ext cx="6858000" cy="914400"/>
        </p:xfrm>
        <a:graphic>
          <a:graphicData uri="http://schemas.openxmlformats.org/drawingml/2006/table">
            <a:tbl>
              <a:tblPr/>
              <a:tblGrid>
                <a:gridCol w="1280160"/>
                <a:gridCol w="1371600"/>
                <a:gridCol w="1645920"/>
                <a:gridCol w="2011680"/>
                <a:gridCol w="2286000"/>
              </a:tblGrid>
              <a:tr h="67665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Module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Color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Who Uses It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 AI Feature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 Output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r>
              <a:tr h="676656">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Boost!Roles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Orange (#F7941D)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HR Admin, Managers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AI Job Description Generator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Published JDs + Career Ladders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76656">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Boost!Perform</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Pink (#E8437A)</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Managers, Employees, HR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Conversation Coach (manager only)</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9-Box Grid, Manager PDF, Review Reports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676656">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Boost!Pulse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Purple (#9B1FBF)</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All employees (survey takers)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AI Survey Question Builder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Engagement Scores, Trend Reports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76656">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Boost!Learn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Navy (#0F1F5C)</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All employees, Managers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AI Course Generator (add-on)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Completions, Certifications, Progress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bl>
          </a:graphicData>
        </a:graphic>
      </p:graphicFrame>
      <p:sp>
        <p:nvSpPr>
          <p:cNvPr id="6" name="Shape 3"/>
          <p:cNvSpPr/>
          <p:nvPr/>
        </p:nvSpPr>
        <p:spPr>
          <a:xfrm>
            <a:off x="0" y="4887468"/>
            <a:ext cx="9144000" cy="256032"/>
          </a:xfrm>
          <a:prstGeom prst="rect">
            <a:avLst/>
          </a:prstGeom>
          <a:solidFill>
            <a:srgbClr val="0F1F5C"/>
          </a:solidFill>
          <a:ln w="12700">
            <a:solidFill>
              <a:srgbClr val="0F1F5C"/>
            </a:solidFill>
            <a:prstDash val="solid"/>
          </a:ln>
        </p:spPr>
      </p:sp>
      <p:sp>
        <p:nvSpPr>
          <p:cNvPr id="7" name="Text 4"/>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8" name="Text 5"/>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PRICING QUICK CARD</a:t>
            </a:r>
            <a:endParaRPr lang="en-US" sz="14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594360"/>
          <a:ext cx="6858000" cy="914400"/>
        </p:xfrm>
        <a:graphic>
          <a:graphicData uri="http://schemas.openxmlformats.org/drawingml/2006/table">
            <a:tbl>
              <a:tblPr/>
              <a:tblGrid>
                <a:gridCol w="1371600"/>
                <a:gridCol w="1005840"/>
                <a:gridCol w="1280160"/>
                <a:gridCol w="1097280"/>
                <a:gridCol w="182880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Tier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Employees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Modules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Monthly</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Annual (15% off)</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r>
              <a:tr h="475488">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Starter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 25</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1 module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$149/mo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$1,519/yr (~$127/mo)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75488">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Growth</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 50</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2 modules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$299/mo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$3,050/yr (~$254/mo)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475488">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Suite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 75</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All 4</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$499/mo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$5,090/yr (~$424/mo)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75488">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Enterprise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 100</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All 4 + Priority</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$699/mo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$7,130/yr (~$594/mo)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bl>
          </a:graphicData>
        </a:graphic>
      </p:graphicFrame>
      <p:sp>
        <p:nvSpPr>
          <p:cNvPr id="6" name="Text 3"/>
          <p:cNvSpPr/>
          <p:nvPr/>
        </p:nvSpPr>
        <p:spPr>
          <a:xfrm>
            <a:off x="457200" y="3154680"/>
            <a:ext cx="8229600" cy="347472"/>
          </a:xfrm>
          <a:prstGeom prst="rect">
            <a:avLst/>
          </a:prstGeom>
          <a:noFill/>
          <a:ln/>
        </p:spPr>
        <p:txBody>
          <a:bodyPr wrap="square" rtlCol="0" anchor="ctr"/>
          <a:lstStyle/>
          <a:p>
            <a:pPr indent="0" marL="0">
              <a:buNone/>
            </a:pPr>
            <a:r>
              <a:rPr lang="en-US" sz="1600" b="1" dirty="0">
                <a:solidFill>
                  <a:srgbClr val="0F1F5C"/>
                </a:solidFill>
                <a:latin typeface="Trebuchet MS" pitchFamily="34" charset="0"/>
                <a:ea typeface="Trebuchet MS" pitchFamily="34" charset="-122"/>
                <a:cs typeface="Trebuchet MS" pitchFamily="34" charset="-120"/>
              </a:rPr>
              <a:t>Add-Ons</a:t>
            </a:r>
            <a:endParaRPr lang="en-US" sz="1600" dirty="0"/>
          </a:p>
        </p:txBody>
      </p:sp>
      <p:graphicFrame>
        <p:nvGraphicFramePr>
          <p:cNvPr id="85" name="Table 1"/>
          <p:cNvGraphicFramePr>
            <a:graphicFrameLocks noGrp="1"/>
          </p:cNvGraphicFramePr>
          <p:nvPr>
            <p:extLst>
              <p:ext uri="{D42A27DB-BD31-4B8C-83A1-F6EECF244321}">
                <p14:modId xmlns:p14="http://schemas.microsoft.com/office/powerpoint/2010/main" val="1579011935"/>
              </p:ext>
            </p:extLst>
          </p:nvPr>
        </p:nvGraphicFramePr>
        <p:xfrm>
          <a:off x="457200" y="3547872"/>
          <a:ext cx="6858000" cy="914400"/>
        </p:xfrm>
        <a:graphic>
          <a:graphicData uri="http://schemas.openxmlformats.org/drawingml/2006/table">
            <a:tbl>
              <a:tblPr/>
              <a:tblGrid>
                <a:gridCol w="2194560"/>
                <a:gridCol w="1280160"/>
                <a:gridCol w="5029200"/>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Add-On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Price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Details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r>
              <a:tr h="34747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AI Course Generator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$49/month</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Client describes topic → AI builds course outline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4747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Certifiably Credentials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$2/credential</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Digital badge issued upon course/certification completion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34747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Live Training Sessions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$99/session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BSG-facilitated live virtual training for client's team</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8" name="Shape 4"/>
          <p:cNvSpPr/>
          <p:nvPr/>
        </p:nvSpPr>
        <p:spPr>
          <a:xfrm>
            <a:off x="0" y="4887468"/>
            <a:ext cx="9144000" cy="256032"/>
          </a:xfrm>
          <a:prstGeom prst="rect">
            <a:avLst/>
          </a:prstGeom>
          <a:solidFill>
            <a:srgbClr val="0F1F5C"/>
          </a:solidFill>
          <a:ln w="12700">
            <a:solidFill>
              <a:srgbClr val="0F1F5C"/>
            </a:solidFill>
            <a:prstDash val="solid"/>
          </a:ln>
        </p:spPr>
      </p:sp>
      <p:sp>
        <p:nvSpPr>
          <p:cNvPr id="9" name="Text 5"/>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0" name="Text 6"/>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0F1F5C"/>
          </a:solidFill>
          <a:ln w="12700">
            <a:solidFill>
              <a:srgbClr val="0F1F5C"/>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KEY CONTACTS</a:t>
            </a:r>
            <a:endParaRPr lang="en-US" sz="14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274320" y="594360"/>
          <a:ext cx="6858000" cy="914400"/>
        </p:xfrm>
        <a:graphic>
          <a:graphicData uri="http://schemas.openxmlformats.org/drawingml/2006/table">
            <a:tbl>
              <a:tblPr/>
              <a:tblGrid>
                <a:gridCol w="1371600"/>
                <a:gridCol w="1828800"/>
                <a:gridCol w="2560320"/>
                <a:gridCol w="2468880"/>
              </a:tblGrid>
              <a:tr h="71323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Contact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When to Reach</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Notes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r>
              <a:tr h="71323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Jackie Taylor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Founder / CEO — Final Escalation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L2 escalations, strategic decisions, final approvals on exceptions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Ultimate authority on product, pricing, and client disputes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1323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BSG Admin Team</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Day-to-Day Operations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Billing, reporting, subscription changes, CRM handoff questions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Internal ops — rotate per on-call schedule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71323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Lovable Developer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Technical Bugs (L3)</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Confirmed software bugs, DB errors, API failures, downtime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Never promise timelines without developer confirmation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13232">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Stripe Support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Billing Platform</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Webhook failures, payment processing errors not resolvable in BSG Admin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BSG Admin should attempt Stripe Admin resolution first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bl>
          </a:graphicData>
        </a:graphic>
      </p:graphicFrame>
      <p:sp>
        <p:nvSpPr>
          <p:cNvPr id="6" name="Shape 3"/>
          <p:cNvSpPr/>
          <p:nvPr/>
        </p:nvSpPr>
        <p:spPr>
          <a:xfrm>
            <a:off x="0" y="4887468"/>
            <a:ext cx="9144000" cy="256032"/>
          </a:xfrm>
          <a:prstGeom prst="rect">
            <a:avLst/>
          </a:prstGeom>
          <a:solidFill>
            <a:srgbClr val="0F1F5C"/>
          </a:solidFill>
          <a:ln w="12700">
            <a:solidFill>
              <a:srgbClr val="0F1F5C"/>
            </a:solidFill>
            <a:prstDash val="solid"/>
          </a:ln>
        </p:spPr>
      </p:sp>
      <p:sp>
        <p:nvSpPr>
          <p:cNvPr id="7" name="Text 4"/>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8" name="Text 5"/>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1F5C"/>
          </a:solidFill>
          <a:ln w="12700">
            <a:solidFill>
              <a:srgbClr val="0F1F5C"/>
            </a:solidFill>
            <a:prstDash val="solid"/>
          </a:ln>
        </p:spPr>
      </p:sp>
      <p:sp>
        <p:nvSpPr>
          <p:cNvPr id="3" name="Shape 1"/>
          <p:cNvSpPr/>
          <p:nvPr/>
        </p:nvSpPr>
        <p:spPr>
          <a:xfrm>
            <a:off x="0" y="0"/>
            <a:ext cx="109728" cy="502920"/>
          </a:xfrm>
          <a:prstGeom prst="rect">
            <a:avLst/>
          </a:prstGeom>
          <a:solidFill>
            <a:srgbClr val="F7941D"/>
          </a:solidFill>
          <a:ln w="12700">
            <a:solidFill>
              <a:srgbClr val="F7941D"/>
            </a:solidFill>
            <a:prstDash val="solid"/>
          </a:ln>
        </p:spPr>
      </p:sp>
      <p:sp>
        <p:nvSpPr>
          <p:cNvPr id="4" name="Text 2"/>
          <p:cNvSpPr/>
          <p:nvPr/>
        </p:nvSpPr>
        <p:spPr>
          <a:xfrm>
            <a:off x="228600" y="0"/>
            <a:ext cx="8686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TEST ACCOUNT REFERENCE</a:t>
            </a:r>
            <a:endParaRPr lang="en-US" sz="1400" dirty="0"/>
          </a:p>
        </p:txBody>
      </p:sp>
      <p:sp>
        <p:nvSpPr>
          <p:cNvPr id="5" name="Text 3"/>
          <p:cNvSpPr/>
          <p:nvPr/>
        </p:nvSpPr>
        <p:spPr>
          <a:xfrm>
            <a:off x="457200" y="576072"/>
            <a:ext cx="8229600" cy="347472"/>
          </a:xfrm>
          <a:prstGeom prst="rect">
            <a:avLst/>
          </a:prstGeom>
          <a:noFill/>
          <a:ln/>
        </p:spPr>
        <p:txBody>
          <a:bodyPr wrap="square" rtlCol="0" anchor="ctr"/>
          <a:lstStyle/>
          <a:p>
            <a:pPr indent="0" marL="0">
              <a:buNone/>
            </a:pPr>
            <a:r>
              <a:rPr lang="en-US" sz="1400" i="1" dirty="0">
                <a:solidFill>
                  <a:srgbClr val="1E1E3A"/>
                </a:solidFill>
                <a:latin typeface="Calibri" pitchFamily="34" charset="0"/>
                <a:ea typeface="Calibri" pitchFamily="34" charset="-122"/>
                <a:cs typeface="Calibri" pitchFamily="34" charset="-120"/>
              </a:rPr>
              <a:t>Use these accounts for demos, testing, and training — NEVER for client tenants</a:t>
            </a:r>
            <a:endParaRPr lang="en-US" sz="14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6858000" cy="914400"/>
        </p:xfrm>
        <a:graphic>
          <a:graphicData uri="http://schemas.openxmlformats.org/drawingml/2006/table">
            <a:tbl>
              <a:tblPr/>
              <a:tblGrid>
                <a:gridCol w="1645920"/>
                <a:gridCol w="1828800"/>
                <a:gridCol w="1280160"/>
                <a:gridCol w="1371600"/>
                <a:gridCol w="2011680"/>
              </a:tblGrid>
              <a:tr h="6400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Account Name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Email</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Tenant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Use For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1F5C"/>
                    </a:solidFill>
                  </a:tcPr>
                </a:tc>
              </a:tr>
              <a:tr h="640080">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Jackie (Super Admin)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jackie@boost.test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super_admin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All tenants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Full system testing, cross-tenant admin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40080">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BSG Admin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admin@boost.test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tenant_admin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CCCOEO (demo)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Module config, onboarding testing, demos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4FA"/>
                    </a:solidFill>
                  </a:tcPr>
                </a:tc>
              </a:tr>
              <a:tr h="640080">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Learner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learner@boost.test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learner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CCCOEO (demo)</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E1E3A"/>
                          </a:solidFill>
                          <a:latin typeface="Calibri" pitchFamily="34" charset="0"/>
                          <a:ea typeface="Calibri" pitchFamily="34" charset="-122"/>
                          <a:cs typeface="Calibri" pitchFamily="34" charset="-120"/>
                        </a:rPr>
                        <a:t>Employee experience, survey/review testing</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Shape 4"/>
          <p:cNvSpPr/>
          <p:nvPr/>
        </p:nvSpPr>
        <p:spPr>
          <a:xfrm>
            <a:off x="365760" y="3913632"/>
            <a:ext cx="8412480" cy="566928"/>
          </a:xfrm>
          <a:prstGeom prst="rect">
            <a:avLst/>
          </a:prstGeom>
          <a:solidFill>
            <a:srgbClr val="FFEEEE"/>
          </a:solidFill>
          <a:ln w="12700">
            <a:solidFill>
              <a:srgbClr val="CC0000"/>
            </a:solidFill>
            <a:prstDash val="solid"/>
          </a:ln>
        </p:spPr>
      </p:sp>
      <p:sp>
        <p:nvSpPr>
          <p:cNvPr id="8" name="Text 5"/>
          <p:cNvSpPr/>
          <p:nvPr/>
        </p:nvSpPr>
        <p:spPr>
          <a:xfrm>
            <a:off x="502920" y="3931920"/>
            <a:ext cx="8229600" cy="502920"/>
          </a:xfrm>
          <a:prstGeom prst="rect">
            <a:avLst/>
          </a:prstGeom>
          <a:noFill/>
          <a:ln/>
        </p:spPr>
        <p:txBody>
          <a:bodyPr wrap="square" rtlCol="0" anchor="ctr"/>
          <a:lstStyle/>
          <a:p>
            <a:pPr indent="0" marL="0">
              <a:buNone/>
            </a:pPr>
            <a:r>
              <a:rPr lang="en-US" sz="1300" b="1" dirty="0">
                <a:solidFill>
                  <a:srgbClr val="8B0000"/>
                </a:solidFill>
                <a:latin typeface="Calibri" pitchFamily="34" charset="0"/>
                <a:ea typeface="Calibri" pitchFamily="34" charset="-122"/>
                <a:cs typeface="Calibri" pitchFamily="34" charset="-120"/>
              </a:rPr>
              <a:t>NEVER share test account credentials with clients. NEVER use a client's admin credentials for testing. Always use the designated test accounts listed above.</a:t>
            </a:r>
            <a:endParaRPr lang="en-US" sz="1300" dirty="0"/>
          </a:p>
        </p:txBody>
      </p:sp>
      <p:sp>
        <p:nvSpPr>
          <p:cNvPr id="9" name="Shape 6"/>
          <p:cNvSpPr/>
          <p:nvPr/>
        </p:nvSpPr>
        <p:spPr>
          <a:xfrm>
            <a:off x="0" y="4887468"/>
            <a:ext cx="9144000" cy="256032"/>
          </a:xfrm>
          <a:prstGeom prst="rect">
            <a:avLst/>
          </a:prstGeom>
          <a:solidFill>
            <a:srgbClr val="0F1F5C"/>
          </a:solidFill>
          <a:ln w="12700">
            <a:solidFill>
              <a:srgbClr val="0F1F5C"/>
            </a:solidFill>
            <a:prstDash val="solid"/>
          </a:ln>
        </p:spPr>
      </p:sp>
      <p:sp>
        <p:nvSpPr>
          <p:cNvPr id="10" name="Text 7"/>
          <p:cNvSpPr/>
          <p:nvPr/>
        </p:nvSpPr>
        <p:spPr>
          <a:xfrm>
            <a:off x="228600" y="4896612"/>
            <a:ext cx="6400800" cy="228600"/>
          </a:xfrm>
          <a:prstGeom prst="rect">
            <a:avLst/>
          </a:prstGeom>
          <a:noFill/>
          <a:ln/>
        </p:spPr>
        <p:txBody>
          <a:bodyPr wrap="square" rtlCol="0" anchor="ctr"/>
          <a:lstStyle/>
          <a:p>
            <a:pPr indent="0" marL="0">
              <a:buNone/>
            </a:pPr>
            <a:r>
              <a:rPr lang="en-US" sz="800" i="1" dirty="0">
                <a:solidFill>
                  <a:srgbClr val="AAAACC"/>
                </a:solidFill>
                <a:latin typeface="Calibri" pitchFamily="34" charset="0"/>
                <a:ea typeface="Calibri" pitchFamily="34" charset="-122"/>
                <a:cs typeface="Calibri" pitchFamily="34" charset="-120"/>
              </a:rPr>
              <a:t>Confidential — Boost Strategy Group</a:t>
            </a:r>
            <a:endParaRPr lang="en-US" sz="800" dirty="0"/>
          </a:p>
        </p:txBody>
      </p:sp>
      <p:sp>
        <p:nvSpPr>
          <p:cNvPr id="11" name="Text 8"/>
          <p:cNvSpPr/>
          <p:nvPr/>
        </p:nvSpPr>
        <p:spPr>
          <a:xfrm>
            <a:off x="8686800" y="4896612"/>
            <a:ext cx="36576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F1F5C"/>
        </a:solidFill>
      </p:bgPr>
    </p:bg>
    <p:spTree>
      <p:nvGrpSpPr>
        <p:cNvPr id="1" name=""/>
        <p:cNvGrpSpPr/>
        <p:nvPr/>
      </p:nvGrpSpPr>
      <p:grpSpPr>
        <a:xfrm>
          <a:off x="0" y="0"/>
          <a:ext cx="0" cy="0"/>
          <a:chOff x="0" y="0"/>
          <a:chExt cx="0" cy="0"/>
        </a:xfrm>
      </p:grpSpPr>
      <p:sp>
        <p:nvSpPr>
          <p:cNvPr id="2" name="Shape 0"/>
          <p:cNvSpPr/>
          <p:nvPr/>
        </p:nvSpPr>
        <p:spPr>
          <a:xfrm>
            <a:off x="0" y="0"/>
            <a:ext cx="9144000" cy="201168"/>
          </a:xfrm>
          <a:prstGeom prst="rect">
            <a:avLst/>
          </a:prstGeom>
          <a:solidFill>
            <a:srgbClr val="F7941D"/>
          </a:solidFill>
          <a:ln w="12700">
            <a:solidFill>
              <a:srgbClr val="F7941D"/>
            </a:solidFill>
            <a:prstDash val="solid"/>
          </a:ln>
        </p:spPr>
      </p:sp>
      <p:sp>
        <p:nvSpPr>
          <p:cNvPr id="3" name="Text 1"/>
          <p:cNvSpPr/>
          <p:nvPr/>
        </p:nvSpPr>
        <p:spPr>
          <a:xfrm>
            <a:off x="548640" y="502920"/>
            <a:ext cx="8229600" cy="640080"/>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Welcome to the BOOST! family.</a:t>
            </a:r>
            <a:endParaRPr lang="en-US" sz="3400" dirty="0"/>
          </a:p>
        </p:txBody>
      </p:sp>
      <p:sp>
        <p:nvSpPr>
          <p:cNvPr id="4" name="Text 2"/>
          <p:cNvSpPr/>
          <p:nvPr/>
        </p:nvSpPr>
        <p:spPr>
          <a:xfrm>
            <a:off x="548640" y="1261872"/>
            <a:ext cx="8229600" cy="384048"/>
          </a:xfrm>
          <a:prstGeom prst="rect">
            <a:avLst/>
          </a:prstGeom>
          <a:noFill/>
          <a:ln/>
        </p:spPr>
        <p:txBody>
          <a:bodyPr wrap="square" rtlCol="0" anchor="ctr"/>
          <a:lstStyle/>
          <a:p>
            <a:pPr indent="0" marL="0">
              <a:buNone/>
            </a:pPr>
            <a:r>
              <a:rPr lang="en-US" sz="2000" b="1" dirty="0">
                <a:solidFill>
                  <a:srgbClr val="F7941D"/>
                </a:solidFill>
                <a:latin typeface="Trebuchet MS" pitchFamily="34" charset="0"/>
                <a:ea typeface="Trebuchet MS" pitchFamily="34" charset="-122"/>
                <a:cs typeface="Trebuchet MS" pitchFamily="34" charset="-120"/>
              </a:rPr>
              <a:t>Your Next Steps</a:t>
            </a:r>
            <a:endParaRPr lang="en-US" sz="2000" dirty="0"/>
          </a:p>
        </p:txBody>
      </p:sp>
      <p:sp>
        <p:nvSpPr>
          <p:cNvPr id="5" name="Text 3"/>
          <p:cNvSpPr/>
          <p:nvPr/>
        </p:nvSpPr>
        <p:spPr>
          <a:xfrm>
            <a:off x="548640" y="1691640"/>
            <a:ext cx="8046720" cy="2560320"/>
          </a:xfrm>
          <a:prstGeom prst="rect">
            <a:avLst/>
          </a:prstGeom>
          <a:noFill/>
          <a:ln/>
        </p:spPr>
        <p:txBody>
          <a:bodyPr wrap="square" rtlCol="0" anchor="t"/>
          <a:lstStyle/>
          <a:p>
            <a:pPr indent="0" marL="0">
              <a:spcAft>
                <a:spcPts val="1200"/>
              </a:spcAft>
              <a:buNone/>
            </a:pPr>
            <a:r>
              <a:rPr lang="en-US" sz="1500" dirty="0">
                <a:solidFill>
                  <a:srgbClr val="CCCCEE"/>
                </a:solidFill>
                <a:latin typeface="Calibri" pitchFamily="34" charset="0"/>
                <a:ea typeface="Calibri" pitchFamily="34" charset="-122"/>
                <a:cs typeface="Calibri" pitchFamily="34" charset="-120"/>
              </a:rPr>
              <a:t>1. Complete this training guide — review all sections and bookmark your role's sections</a:t>
            </a:r>
            <a:endParaRPr lang="en-US" sz="1500" dirty="0"/>
          </a:p>
          <a:p>
            <a:pPr indent="0" marL="0">
              <a:spcAft>
                <a:spcPts val="1200"/>
              </a:spcAft>
              <a:buNone/>
            </a:pPr>
            <a:r>
              <a:rPr lang="en-US" sz="1500" dirty="0">
                <a:solidFill>
                  <a:srgbClr val="CCCCEE"/>
                </a:solidFill>
                <a:latin typeface="Calibri" pitchFamily="34" charset="0"/>
                <a:ea typeface="Calibri" pitchFamily="34" charset="-122"/>
                <a:cs typeface="Calibri" pitchFamily="34" charset="-120"/>
              </a:rPr>
              <a:t>2. Shadow a demo call with an experienced BSG team member (Sales)</a:t>
            </a:r>
            <a:endParaRPr lang="en-US" sz="1500" dirty="0"/>
          </a:p>
          <a:p>
            <a:pPr indent="0" marL="0">
              <a:spcAft>
                <a:spcPts val="1200"/>
              </a:spcAft>
              <a:buNone/>
            </a:pPr>
            <a:r>
              <a:rPr lang="en-US" sz="1500" dirty="0">
                <a:solidFill>
                  <a:srgbClr val="CCCCEE"/>
                </a:solidFill>
                <a:latin typeface="Calibri" pitchFamily="34" charset="0"/>
                <a:ea typeface="Calibri" pitchFamily="34" charset="-122"/>
                <a:cs typeface="Calibri" pitchFamily="34" charset="-120"/>
              </a:rPr>
              <a:t>3. Shadow an onboarding call — see the full client setup process in action (Tech Support)</a:t>
            </a:r>
            <a:endParaRPr lang="en-US" sz="1500" dirty="0"/>
          </a:p>
          <a:p>
            <a:pPr indent="0" marL="0">
              <a:spcAft>
                <a:spcPts val="1200"/>
              </a:spcAft>
              <a:buNone/>
            </a:pPr>
            <a:r>
              <a:rPr lang="en-US" sz="1500" dirty="0">
                <a:solidFill>
                  <a:srgbClr val="CCCCEE"/>
                </a:solidFill>
                <a:latin typeface="Calibri" pitchFamily="34" charset="0"/>
                <a:ea typeface="Calibri" pitchFamily="34" charset="-122"/>
                <a:cs typeface="Calibri" pitchFamily="34" charset="-120"/>
              </a:rPr>
              <a:t>4. Complete your first solo call or task with BSG Admin backup available</a:t>
            </a:r>
            <a:endParaRPr lang="en-US" sz="1500" dirty="0"/>
          </a:p>
          <a:p>
            <a:pPr indent="0" marL="0">
              <a:spcAft>
                <a:spcPts val="1200"/>
              </a:spcAft>
              <a:buNone/>
            </a:pPr>
            <a:r>
              <a:rPr lang="en-US" sz="1500" dirty="0">
                <a:solidFill>
                  <a:srgbClr val="CCCCEE"/>
                </a:solidFill>
                <a:latin typeface="Calibri" pitchFamily="34" charset="0"/>
                <a:ea typeface="Calibri" pitchFamily="34" charset="-122"/>
                <a:cs typeface="Calibri" pitchFamily="34" charset="-120"/>
              </a:rPr>
              <a:t>5. Add your first KB article — document something you learned that wasn't in the guide</a:t>
            </a:r>
            <a:endParaRPr lang="en-US" sz="1500" dirty="0"/>
          </a:p>
        </p:txBody>
      </p:sp>
      <p:sp>
        <p:nvSpPr>
          <p:cNvPr id="6" name="Text 4"/>
          <p:cNvSpPr/>
          <p:nvPr/>
        </p:nvSpPr>
        <p:spPr>
          <a:xfrm>
            <a:off x="548640" y="4251960"/>
            <a:ext cx="8229600" cy="384048"/>
          </a:xfrm>
          <a:prstGeom prst="rect">
            <a:avLst/>
          </a:prstGeom>
          <a:noFill/>
          <a:ln/>
        </p:spPr>
        <p:txBody>
          <a:bodyPr wrap="square" rtlCol="0" anchor="ctr"/>
          <a:lstStyle/>
          <a:p>
            <a:pPr indent="0" marL="0">
              <a:buNone/>
            </a:pPr>
            <a:r>
              <a:rPr lang="en-US" sz="1500" i="1" dirty="0">
                <a:solidFill>
                  <a:srgbClr val="F7941D"/>
                </a:solidFill>
                <a:latin typeface="Calibri" pitchFamily="34" charset="0"/>
                <a:ea typeface="Calibri" pitchFamily="34" charset="-122"/>
                <a:cs typeface="Calibri" pitchFamily="34" charset="-120"/>
              </a:rPr>
              <a:t>"Smart Tools. Stronger Teams. Better Results."</a:t>
            </a:r>
            <a:endParaRPr lang="en-US" sz="1500" dirty="0"/>
          </a:p>
        </p:txBody>
      </p:sp>
      <p:sp>
        <p:nvSpPr>
          <p:cNvPr id="7" name="Shape 5"/>
          <p:cNvSpPr/>
          <p:nvPr/>
        </p:nvSpPr>
        <p:spPr>
          <a:xfrm>
            <a:off x="0" y="4887468"/>
            <a:ext cx="9144000" cy="256032"/>
          </a:xfrm>
          <a:prstGeom prst="rect">
            <a:avLst/>
          </a:prstGeom>
          <a:solidFill>
            <a:srgbClr val="F7941D"/>
          </a:solidFill>
          <a:ln w="12700">
            <a:solidFill>
              <a:srgbClr val="F7941D"/>
            </a:solidFill>
            <a:prstDash val="solid"/>
          </a:ln>
        </p:spPr>
      </p:sp>
      <p:sp>
        <p:nvSpPr>
          <p:cNvPr id="8" name="Text 6"/>
          <p:cNvSpPr/>
          <p:nvPr/>
        </p:nvSpPr>
        <p:spPr>
          <a:xfrm>
            <a:off x="0" y="4887468"/>
            <a:ext cx="9144000" cy="256032"/>
          </a:xfrm>
          <a:prstGeom prst="rect">
            <a:avLst/>
          </a:prstGeom>
          <a:noFill/>
          <a:ln/>
        </p:spPr>
        <p:txBody>
          <a:bodyPr wrap="square" rtlCol="0" anchor="ctr"/>
          <a:lstStyle/>
          <a:p>
            <a:pPr algn="ctr" indent="0" marL="0">
              <a:buNone/>
            </a:pPr>
            <a:r>
              <a:rPr lang="en-US" sz="900" dirty="0">
                <a:solidFill>
                  <a:srgbClr val="0F1F5C"/>
                </a:solidFill>
                <a:latin typeface="Calibri" pitchFamily="34" charset="0"/>
                <a:ea typeface="Calibri" pitchFamily="34" charset="-122"/>
                <a:cs typeface="Calibri" pitchFamily="34" charset="-120"/>
              </a:rPr>
              <a:t>Confidential — Boost Strategy Group         45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BSG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BOOST! My WorkForce Suite — BSG Staff Training Guide</dc:title>
  <dc:subject>PptxGenJS Presentation</dc:subject>
  <dc:creator>Boost Strategy Group</dc:creator>
  <cp:lastModifiedBy>Boost Strategy Group</cp:lastModifiedBy>
  <cp:revision>1</cp:revision>
  <dcterms:created xsi:type="dcterms:W3CDTF">2026-06-28T21:30:03Z</dcterms:created>
  <dcterms:modified xsi:type="dcterms:W3CDTF">2026-06-28T21:30:03Z</dcterms:modified>
</cp:coreProperties>
</file>